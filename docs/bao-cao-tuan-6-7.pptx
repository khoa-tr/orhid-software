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Mở đầu" id="{0b604361-b1fb-7be3-398e-ce8a054232ef}">
          <p14:sldIdLst>
            <p14:sldId id="256"/>
            <p14:sldId id="257"/>
          </p14:sldIdLst>
        </p14:section>
        <p14:section name="Mục tiêu" id="{307b4238-5973-cc21-c1ea-6437a0e421f8}">
          <p14:sldIdLst>
            <p14:sldId id="258"/>
            <p14:sldId id="259"/>
          </p14:sldIdLst>
        </p14:section>
        <p14:section name="Tuần 6" id="{8bc3c63a-8357-ec8d-abbe-a8d889db7d31}">
          <p14:sldIdLst>
            <p14:sldId id="260"/>
            <p14:sldId id="261"/>
            <p14:sldId id="262"/>
            <p14:sldId id="263"/>
          </p14:sldIdLst>
        </p14:section>
        <p14:section name="Tuần 7" id="{4ae15dff-9ff8-2bcb-1258-631db7e0f3a0}">
          <p14:sldIdLst>
            <p14:sldId id="264"/>
            <p14:sldId id="265"/>
            <p14:sldId id="266"/>
          </p14:sldIdLst>
        </p14:section>
        <p14:section name="Kết quả" id="{573450ce-5184-5df9-0e8a-4c8fa69644b0}">
          <p14:sldIdLst>
            <p14:sldId id="267"/>
            <p14:sldId id="268"/>
            <p14:sldId id="26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Mở đầu: nhóm báo cáo tuần 6 và tuần 7. Tuần 6 là tầng Application/Platform: dashboard giám sát, điều khiển từ xa có phản hồi ACK, đăng nhập và cảnh báo. Tuần 7 là business rules và tình huống bất thường. Mỗi người 6 giờ mỗi tuần; toàn bộ chạy trên mô phỏng.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Báo cáo gồm 5 phần: mục tiêu, phân công và kiến trúc; tuần 6 với dashboard, điều khiển, đăng nhập và cảnh báo; tuần 7 với các business rule; các tình huống bất thường đã kiểm thử; cuối cùng là những việc còn tồn tại.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Mục tiêu tuần 6 là có dashboard xem trạng thái, điều khiển từ xa có phản hồi và cảnh báo, chạy được trên mô phỏng. Tuần 7 cần ít nhất 2 automation rule và 1 tình huống bất thường có bằng chứng; bấm nút thủ công không tính là automation.
Cột trạng thái chỉ ghi theo bằng chứng đang có trong repo: phần Người 1 và Người 2 có ảnh dashboard và event log từ lượt chạy end-to-end; phần Telegram của Người 3 đã có flow nhưng cần token thật để gửi tin, video demo mới có kịch bản.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Kiến trúc gồm ba tầng. ESP32 trên Wokwi đọc cảm biến và giữ các khoá an toàn. Broker MQTT công khai trung chuyển: uplink gồm telemetry mỗi 2,5 giây, trạng thái relay, availability kèm Last Will và ACK; downlink là lệnh cmd/mist, cmd/fan, cmd/light có request_id, mode, state, ttl_s. Node-RED có gateway lệnh theo dõi ACK, các rule tuần 7, fault monitor và cảnh báo ra dashboard và Telegram.
Nguyên tắc: firmware giữ an toàn, Node-RED giữ quyền truy cập và rule theo giờ, mọi lệnh đều có TTL nên Node-RED dừng thì thiết bị tự về AUTO.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Phần của Người 1 tuần 6 là dashboard giám sát trên Node-RED Dashboard 2. Nhóm Live status hiển thị nhiệt độ, độ ẩm, ADC ánh sáng và mực nước, trạng thái ba relay, và trạng thái kết nối: ONLINE, OFFLINE khi broker phát Last Will, hoặc STALE khi quá 15 giây không có telemetry. Khi DHT lỗi, dashboard hiện DHT fault chứ không hiện số 0.
Phía dưới là hai biểu đồ lịch sử 1 giờ. Ảnh chụp từ lượt chạy mô phỏng: độ ẩm giảm từ 72 xuống 60 %, ADC ánh sáng tăng lên 2600 khi trời tối. Bàn giao gồm ảnh giao diện và log dữ liệu mô phỏng trong thư mục week6-7-e2e.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Lưu ý điều khiển của tuần 6: payload phải khớp firmware hiện tại. Mọi nút trên dashboard đều đi qua một gateway duy nhất, gửi tới đúng topic cmd/mist, cmd/fan hoặc cmd/light, với request_id, mode MANUAL kèm state ON/OFF và ttl_s, hoặc mode AUTO. QoS 1 và không retain.
Gateway theo dõi ACK theo request_id: APPLIED là firmware đã làm; REJECTED kèm lý do như WATER_LOCKOUT; quá 6 giây không có ACK thì báo NO_ACK; còn BLOCKED là lệnh bị chặn ngay ở Node-RED vì sai quyền, sai chế độ hoặc thiết bị offline. Bảng lịch sử bên phải là dữ liệu thật của lượt chạy mô phỏng: có cả APPLIED, REJECTED do cạn nước và NO_ACK.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Phần thứ hai của Người 2 là khoá nút và đăng nhập. Ở chế độ AUTO toàn bộ nút bị khoá; chỉ khi chọn MANUAL mới bấm được. Nút cũng bị khoá khi thiết bị offline hoặc dữ liệu cũ, khi relay đang chờ ACK, và riêng Mist ON khi firmware đang khoá nước, cooldown hoặc lỗi cảm biến. Gateway kiểm tra lại các điều kiện này phía server.
Đăng nhập dashboard được cấu hình riêng, không phụ thuộc editor: Basic auth cho trang dashboard và kết nối socket.io, mật khẩu băm scrypt, file tài khoản nằm ngoài repo. Có 3 vai trò admin, operator, viewer. Ảnh bên phải: tài khoản viewer bấm nút thì bị chặn FORBIDDEN và không đổi được chế độ.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Người 3 tuần 6 phụ trách cảnh báo và ghép luồng. Hệ thống cảnh báo khi nước thấp dưới 1200 ADC, khi board offline — nhận Last Will từ broker và báo khẩn nếu offline quá 5 phút — khi nhiệt độ từ 33 °C trở lên với cơ chế chống spam 5 phút, và khi DHT lỗi liên tiếp. Cảnh báo hiện trên dashboard và gửi Telegram.
Về bảo mật bot: token không ghi vào flow mà đọc từ biến môi trường TELEGRAM_BOT_TOKEN, và chỉ gửi tới chat ID của nhóm. Nếu chưa cấu hình token, flow chỉ ghi cảnh báo chứ không gửi. (Nói thật nếu được hỏi: bot hiện chỉ gửi tin đi, chưa nhận lệnh từ Telegram; cần token thật để quay video.)
Luồng end-to-end đã ghép: telemetry → MQTT → dashboard và cảnh báo → lệnh → ACK và trạng thái.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Tuần 7, Người 1 làm 2 automation rule; cả hai tự gửi lệnh khi dashboard ở AUTO, không phải bấm nút.
Rule 1 — đèn theo khung giờ: chỉ chiếu sáng trong 06:00 đến 20:00 khi trời tối, có giờ tắt 20:00 và tổng thời lượng bật tối đa 240 phút mỗi ngày. Ngoài khung giờ rule giữ đèn tắt, vì logic LDR của firmware sẽ bật đèn suốt đêm nếu không có rule.
Rule 2 — quạt hỗ trợ: sau mỗi chu kỳ phun, quạt bật 180 giây rồi firmware tự trả về AUTO khi hết TTL, nên không chạy cả đêm.
Thử bằng lịch rút ngắn 60 lần: bảng sự kiện bên trái là event log thật — đèn bật lúc 06:00, chạm giới hạn lúc 07:00 và tắt; quạt hỗ trợ hai lần sau hai chu kỳ phun. Bàn giao gồm flow export và event log.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Người 2 tuần 7: chính sách ban đêm và lỗi an toàn. Nhóm thống nhất khung giờ chăm sóc 06:00 đến 18:00. Mặc định ngoài khung này không phun theo lịch/AUTO — Node-RED giữ lệnh mist OFF có TTL — cho tới khi nhóm xác nhận ngưỡng và ngoại lệ phù hợp loại lan; cấu hình mở phun đêm bị từ chối nếu thiếu xác nhận và ghi chú.
Firmware vẫn giữ an toàn: DHT lỗi 3 lần liên tiếp thì vào SENSOR_FAULT, tắt phun và từ chối lệnh phun; nước thấp luôn ưu tiên cao nhất; mất kết nối thì xoá lệnh tay về AUTO; mỗi lần phun tay đều phải cooldown và gửi ON lặp lại không kéo dài được thời gian phun.
Ảnh bên phải chụp lúc DHT lỗi và nước thấp cùng lúc: mist ở WATER_LOCKOUT, nhiệt độ hiện DHT fault, ô Safety state ghi rõ trạng thái an toàn.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tình huống bất thường đã chạy thật trong lượt end-to-end: Node-RED và dashboard thật, thiết bị là bộ mô phỏng nói đúng giao thức MQTT của firmware. Các mốc thời gian lấy từ log.
Đang phun AUTO thì giả lập DHT lỗi; sau 3 lần đọc lỗi, khoảng 7,7 giây, hệ thống vào SENSOR_FAULT và tắt phun. Tiếp theo nước thấp: WATER_LOCKOUT được ưu tiên hơn lỗi cảm biến. Đổ nước lại nhưng DHT vẫn lỗi nên quay về SENSOR_FAULT. DHT hồi phục thì qua COOLDOWN rồi mới được phun. Sau đó ngắt kết nối 20 giây: broker phát Last Will, dashboard báo OFFLINE, thiết bị xoá lệnh tay. Khi online lại, rule đèn tự phát hiện lệnh giữ đã mất và gửi lại.
Ngoài ra có lệnh không ACK, lệnh bị firmware từ chối, và trong toàn bộ lượt chạy không có vi phạm an toàn nào. Lưu ý trung thực: đây là bộ mô phỏng giao thức; logic firmware tương ứng có scenario Wokwi riêng.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Kết quả có bằng chứng: bộ test Node-RED chạy PASS; lượt chạy end-to-end bằng Chrome trên Node-RED thật đạt, có 13 ảnh và 189 sự kiện trong event log; firmware build được cả 3 cấu hình. Người 3 lập ma trận kiểm thử 12 ca có phân định mô phỏng và board thật.
Nói rõ phần chưa xong: hai scenario Wokwi mới đã viết nhưng chưa chạy trên Wokwi CI; Telegram cần token thật để gửi và quay video; chưa chạy trên board ESP32 thật.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Những việc còn lại trước buổi demo. Thứ nhất, hai bộ rule đèn và quạt đang trùng nhau giữa tab Tuần 7 và tab Người 3, khác giờ tắt và thời lượng quạt; tab Người 3 gửi lệnh không qua gateway nên không dừng khi dashboard ở MANUAL — nhóm cần thống nhất giữ một bộ. Thứ hai, topic config đổi ngưỡng từ xa chưa kiểm tra phạm vi; trên broker công khai cần giới hạn hoặc tắt để không vô hiệu hoá khoá nước. Sau đó là chạy hai scenario Wokwi mới, cấu hình Telegram thật và quay video, và cuối cùng đưa các khoá an toàn lên firmware board thật.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Cảm ơn thầy/cô đã lắng nghe. Nhóm sẵn sàng trả lời câu hỏi và demo trực tiếp dashboard.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rgbClr val="1F4D36"/>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713232"/>
          </a:xfrm>
          <a:prstGeom prst="rect">
            <a:avLst/>
          </a:prstGeom>
          <a:noFill/>
          <a:ln/>
        </p:spPr>
        <p:txBody>
          <a:bodyPr wrap="square" rtlCol="0"/>
          <a:lstStyle>
            <a:lvl1pPr algn="l" indent="0" marL="0">
              <a:buNone/>
              <a:defRPr lang="en-US" sz="3400" b="1" dirty="0">
                <a:solidFill>
                  <a:schemeClr val="tx2"/>
                </a:solidFill>
                <a:latin typeface="Times New Roman" pitchFamily="34" charset="0"/>
                <a:ea typeface="Times New Roman" pitchFamily="34" charset="-122"/>
                <a:cs typeface="Times New Roman" pitchFamily="34" charset="-120"/>
              </a:defRPr>
            </a:lvl1pPr>
          </a:lstStyle>
          <a:p>
            <a:pPr algn="l" indent="0" marL="0">
              <a:buNone/>
            </a:pPr>
            <a:endParaRPr lang="en-US" sz="3400" dirty="0"/>
          </a:p>
        </p:txBody>
      </p:sp>
      <p:sp>
        <p:nvSpPr>
          <p:cNvPr id="3" name="Text 0"/>
          <p:cNvSpPr/>
          <p:nvPr>
            <p:ph idx="101" type="body" hasCustomPrompt="1"/>
          </p:nvPr>
        </p:nvSpPr>
        <p:spPr>
          <a:xfrm>
            <a:off x="548640" y="1097280"/>
            <a:ext cx="11091672" cy="384048"/>
          </a:xfrm>
          <a:prstGeom prst="rect">
            <a:avLst/>
          </a:prstGeom>
          <a:noFill/>
          <a:ln/>
        </p:spPr>
        <p:txBody>
          <a:bodyPr wrap="square" rtlCol="0"/>
          <a:lstStyle>
            <a:lvl1pPr algn="l" indent="0" marL="0">
              <a:buNone/>
              <a:defRPr lang="en-US" sz="1600" i="1" dirty="0">
                <a:solidFill>
                  <a:schemeClr val="accent6"/>
                </a:solidFill>
                <a:latin typeface="Times New Roman" pitchFamily="34" charset="0"/>
                <a:ea typeface="Times New Roman" pitchFamily="34" charset="-122"/>
                <a:cs typeface="Times New Roman" pitchFamily="34" charset="-120"/>
              </a:defRPr>
            </a:lvl1pPr>
          </a:lstStyle>
          <a:p>
            <a:pPr algn="l" indent="0" marL="0">
              <a:buNone/>
            </a:pPr>
            <a:endParaRPr lang="en-US" sz="1600" dirty="0"/>
          </a:p>
        </p:txBody>
      </p:sp>
      <p:sp>
        <p:nvSpPr>
          <p:cNvPr id="4" name="Text 0"/>
          <p:cNvSpPr/>
          <p:nvPr/>
        </p:nvSpPr>
        <p:spPr>
          <a:xfrm>
            <a:off x="548640" y="6382512"/>
            <a:ext cx="8229600" cy="274320"/>
          </a:xfrm>
          <a:prstGeom prst="rect">
            <a:avLst/>
          </a:prstGeom>
          <a:noFill/>
          <a:ln/>
        </p:spPr>
        <p:txBody>
          <a:bodyPr wrap="square" lIns="0" tIns="0" rIns="0" bIns="0" rtlCol="0" anchor="t"/>
          <a:lstStyle/>
          <a:p>
            <a:pPr indent="0" marL="0">
              <a:buNone/>
            </a:pPr>
            <a:r>
              <a:rPr lang="en-US" sz="900" dirty="0">
                <a:solidFill>
                  <a:schemeClr val="accent6"/>
                </a:solidFill>
                <a:latin typeface="Arial" pitchFamily="34" charset="0"/>
                <a:ea typeface="Arial" pitchFamily="34" charset="-122"/>
                <a:cs typeface="Arial" pitchFamily="34" charset="-120"/>
              </a:rPr>
              <a:t>VƯỜN ƯƠM LAN TỰ ĐỘNG · IoT ESP32  |  BÁO CÁO TIẾN ĐỘ TUẦN 6 &amp; 7</a:t>
            </a:r>
            <a:endParaRPr lang="en-US" sz="900" dirty="0"/>
          </a:p>
        </p:txBody>
      </p:sp>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6"/>
                </a:solidFill>
                <a:latin typeface="Arial"/>
                <a:ea typeface="Arial"/>
                <a:cs typeface="Aria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6"/>
                </a:solidFill>
                <a:latin typeface="Arial"/>
                <a:ea typeface="Arial"/>
                <a:cs typeface="Aria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2.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slideLayout" Target="../slideLayouts/slideLayout3.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image" Target="../media/image-5-2.jpg"/><Relationship Id="rId3" Type="http://schemas.openxmlformats.org/officeDocument/2006/relationships/slideLayout" Target="../slideLayouts/slideLayout3.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jpg"/><Relationship Id="rId7" Type="http://schemas.openxmlformats.org/officeDocument/2006/relationships/slideLayout" Target="../slideLayouts/slideLayout3.xml"/><Relationship Id="rId8"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jpg"/><Relationship Id="rId4" Type="http://schemas.openxmlformats.org/officeDocument/2006/relationships/slideLayout" Target="../slideLayouts/slideLayout3.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jpg"/><Relationship Id="rId3" Type="http://schemas.openxmlformats.org/officeDocument/2006/relationships/slideLayout" Target="../slideLayouts/slideLayout3.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slideLayout" Target="../slideLayouts/slideLayout3.xml"/><Relationship Id="rId7"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decor orchid" descr="preencoded.png">    </p:cNvPr>
          <p:cNvPicPr>
            <a:picLocks noChangeAspect="1"/>
          </p:cNvPicPr>
          <p:nvPr/>
        </p:nvPicPr>
        <p:blipFill>
          <a:blip r:embed="rId1">
            <a:alphaModFix amt="45000"/>
          </a:blip>
          <a:stretch>
            <a:fillRect/>
          </a:stretch>
        </p:blipFill>
        <p:spPr>
          <a:xfrm>
            <a:off x="9829800" y="411480"/>
            <a:ext cx="1783080" cy="1783080"/>
          </a:xfrm>
          <a:prstGeom prst="rect">
            <a:avLst/>
          </a:prstGeom>
        </p:spPr>
      </p:pic>
      <p:sp>
        <p:nvSpPr>
          <p:cNvPr id="3" name="kicker"/>
          <p:cNvSpPr txBox="1"/>
          <p:nvPr/>
        </p:nvSpPr>
        <p:spPr>
          <a:xfrm>
            <a:off x="822960" y="1417320"/>
            <a:ext cx="8686800" cy="365760"/>
          </a:xfrm>
          <a:prstGeom prst="rect">
            <a:avLst/>
          </a:prstGeom>
          <a:noFill/>
          <a:ln/>
        </p:spPr>
        <p:txBody>
          <a:bodyPr wrap="square" lIns="0" tIns="0" rIns="0" bIns="0" rtlCol="0" anchor="ctr"/>
          <a:lstStyle/>
          <a:p>
            <a:pPr indent="0" marL="0">
              <a:buNone/>
            </a:pPr>
            <a:r>
              <a:rPr lang="en-US" sz="1600" b="1" spc="300" kern="0" dirty="0">
                <a:solidFill>
                  <a:schemeClr val="accent1"/>
                </a:solidFill>
                <a:latin typeface="Times New Roman" pitchFamily="34" charset="0"/>
                <a:ea typeface="Times New Roman" pitchFamily="34" charset="-122"/>
                <a:cs typeface="Times New Roman" pitchFamily="34" charset="-120"/>
              </a:rPr>
              <a:t>BÁO CÁO TIẾN ĐỘ DỰ ÁN IoT — TUẦN 6 &amp; 7</a:t>
            </a:r>
            <a:endParaRPr lang="en-US" sz="1600" dirty="0"/>
          </a:p>
        </p:txBody>
      </p:sp>
      <p:sp>
        <p:nvSpPr>
          <p:cNvPr id="4" name="deck title"/>
          <p:cNvSpPr txBox="1"/>
          <p:nvPr/>
        </p:nvSpPr>
        <p:spPr>
          <a:xfrm>
            <a:off x="822960" y="1828800"/>
            <a:ext cx="9601200" cy="1463040"/>
          </a:xfrm>
          <a:prstGeom prst="rect">
            <a:avLst/>
          </a:prstGeom>
          <a:noFill/>
          <a:ln/>
        </p:spPr>
        <p:txBody>
          <a:bodyPr wrap="square" lIns="0" tIns="0" rIns="0" bIns="0" rtlCol="0" anchor="t"/>
          <a:lstStyle/>
          <a:p>
            <a:pPr indent="0" marL="0">
              <a:buNone/>
            </a:pPr>
            <a:r>
              <a:rPr lang="en-US" sz="4400" b="1" dirty="0">
                <a:solidFill>
                  <a:schemeClr val="bg1"/>
                </a:solidFill>
                <a:latin typeface="Times New Roman" pitchFamily="34" charset="0"/>
                <a:ea typeface="Times New Roman" pitchFamily="34" charset="-122"/>
                <a:cs typeface="Times New Roman" pitchFamily="34" charset="-120"/>
              </a:rPr>
              <a:t>Hệ Thống Giám Sát &amp; Điều Khiển</a:t>
            </a:r>
            <a:endParaRPr lang="en-US" sz="4400" dirty="0"/>
          </a:p>
          <a:p>
            <a:pPr indent="0" marL="0">
              <a:buNone/>
            </a:pPr>
            <a:r>
              <a:rPr lang="en-US" sz="4400" b="1" dirty="0">
                <a:solidFill>
                  <a:schemeClr val="bg1"/>
                </a:solidFill>
                <a:latin typeface="Times New Roman" pitchFamily="34" charset="0"/>
                <a:ea typeface="Times New Roman" pitchFamily="34" charset="-122"/>
                <a:cs typeface="Times New Roman" pitchFamily="34" charset="-120"/>
              </a:rPr>
              <a:t>Vườn Ươm Lan Tự Động</a:t>
            </a:r>
            <a:endParaRPr lang="en-US" sz="4400" dirty="0"/>
          </a:p>
        </p:txBody>
      </p:sp>
      <p:sp>
        <p:nvSpPr>
          <p:cNvPr id="5" name="deck subtitle"/>
          <p:cNvSpPr txBox="1"/>
          <p:nvPr/>
        </p:nvSpPr>
        <p:spPr>
          <a:xfrm>
            <a:off x="822960" y="3429000"/>
            <a:ext cx="9875520" cy="777240"/>
          </a:xfrm>
          <a:prstGeom prst="rect">
            <a:avLst/>
          </a:prstGeom>
          <a:noFill/>
          <a:ln/>
        </p:spPr>
        <p:txBody>
          <a:bodyPr wrap="square" lIns="0" tIns="0" rIns="0" bIns="0" rtlCol="0" anchor="ctr"/>
          <a:lstStyle/>
          <a:p>
            <a:pPr indent="0" marL="0">
              <a:buNone/>
            </a:pPr>
            <a:r>
              <a:rPr lang="en-US" sz="1800" i="1" dirty="0">
                <a:solidFill>
                  <a:schemeClr val="accent3"/>
                </a:solidFill>
                <a:latin typeface="Times New Roman" pitchFamily="34" charset="0"/>
                <a:ea typeface="Times New Roman" pitchFamily="34" charset="-122"/>
                <a:cs typeface="Times New Roman" pitchFamily="34" charset="-120"/>
              </a:rPr>
              <a:t>Tuần 6: dashboard, điều khiển từ xa có phản hồi và cảnh báo</a:t>
            </a:r>
            <a:endParaRPr lang="en-US" sz="1800" dirty="0"/>
          </a:p>
          <a:p>
            <a:pPr indent="0" marL="0">
              <a:buNone/>
            </a:pPr>
            <a:r>
              <a:rPr lang="en-US" sz="1800" i="1" dirty="0">
                <a:solidFill>
                  <a:schemeClr val="accent3"/>
                </a:solidFill>
                <a:latin typeface="Times New Roman" pitchFamily="34" charset="0"/>
                <a:ea typeface="Times New Roman" pitchFamily="34" charset="-122"/>
                <a:cs typeface="Times New Roman" pitchFamily="34" charset="-120"/>
              </a:rPr>
              <a:t>Tuần 7: business rules và tình huống bất thường — chạy trên mô phỏng</a:t>
            </a:r>
            <a:endParaRPr lang="en-US" sz="1800" dirty="0"/>
          </a:p>
        </p:txBody>
      </p:sp>
      <p:sp>
        <p:nvSpPr>
          <p:cNvPr id="6" name="team card 1"/>
          <p:cNvSpPr/>
          <p:nvPr/>
        </p:nvSpPr>
        <p:spPr>
          <a:xfrm>
            <a:off x="822960" y="4526280"/>
            <a:ext cx="3337560" cy="1280160"/>
          </a:xfrm>
          <a:prstGeom prst="roundRect">
            <a:avLst>
              <a:gd name="adj" fmla="val 5714"/>
            </a:avLst>
          </a:prstGeom>
          <a:solidFill>
            <a:schemeClr val="bg1">
              <a:alpha val="10000"/>
            </a:schemeClr>
          </a:solidFill>
          <a:ln w="9525">
            <a:solidFill>
              <a:schemeClr val="accent3"/>
            </a:solidFill>
            <a:prstDash val="solid"/>
          </a:ln>
        </p:spPr>
      </p:sp>
      <p:sp>
        <p:nvSpPr>
          <p:cNvPr id="7" name="team 1 circle"/>
          <p:cNvSpPr/>
          <p:nvPr/>
        </p:nvSpPr>
        <p:spPr>
          <a:xfrm>
            <a:off x="1051560" y="4873752"/>
            <a:ext cx="566928" cy="566928"/>
          </a:xfrm>
          <a:prstGeom prst="ellipse">
            <a:avLst/>
          </a:prstGeom>
          <a:solidFill>
            <a:schemeClr val="accent1"/>
          </a:solidFill>
          <a:ln w="12700">
            <a:solidFill>
              <a:schemeClr val="accent1"/>
            </a:solidFill>
            <a:prstDash val="solid"/>
          </a:ln>
        </p:spPr>
      </p:sp>
      <p:pic>
        <p:nvPicPr>
          <p:cNvPr id="8" name="team 1 icon" descr="preencoded.png">    </p:cNvPr>
          <p:cNvPicPr>
            <a:picLocks noChangeAspect="1"/>
          </p:cNvPicPr>
          <p:nvPr/>
        </p:nvPicPr>
        <p:blipFill>
          <a:blip r:embed="rId2"/>
          <a:stretch>
            <a:fillRect/>
          </a:stretch>
        </p:blipFill>
        <p:spPr>
          <a:xfrm>
            <a:off x="1164946" y="4987138"/>
            <a:ext cx="340157" cy="340157"/>
          </a:xfrm>
          <a:prstGeom prst="rect">
            <a:avLst/>
          </a:prstGeom>
        </p:spPr>
      </p:pic>
      <p:sp>
        <p:nvSpPr>
          <p:cNvPr id="9" name="team name 1"/>
          <p:cNvSpPr txBox="1"/>
          <p:nvPr/>
        </p:nvSpPr>
        <p:spPr>
          <a:xfrm>
            <a:off x="1783080" y="4645152"/>
            <a:ext cx="2286000" cy="365760"/>
          </a:xfrm>
          <a:prstGeom prst="rect">
            <a:avLst/>
          </a:prstGeom>
          <a:noFill/>
          <a:ln/>
        </p:spPr>
        <p:txBody>
          <a:bodyPr wrap="square" lIns="0" tIns="0" rIns="0" bIns="0" rtlCol="0" anchor="ctr"/>
          <a:lstStyle/>
          <a:p>
            <a:pPr indent="0" marL="0">
              <a:buNone/>
            </a:pPr>
            <a:r>
              <a:rPr lang="en-US" sz="1700" b="1" dirty="0">
                <a:solidFill>
                  <a:schemeClr val="bg1"/>
                </a:solidFill>
                <a:latin typeface="Times New Roman" pitchFamily="34" charset="0"/>
                <a:ea typeface="Times New Roman" pitchFamily="34" charset="-122"/>
                <a:cs typeface="Times New Roman" pitchFamily="34" charset="-120"/>
              </a:rPr>
              <a:t>Người 1</a:t>
            </a:r>
            <a:endParaRPr lang="en-US" sz="1700" dirty="0"/>
          </a:p>
        </p:txBody>
      </p:sp>
      <p:sp>
        <p:nvSpPr>
          <p:cNvPr id="10" name="team tasks 1"/>
          <p:cNvSpPr txBox="1"/>
          <p:nvPr/>
        </p:nvSpPr>
        <p:spPr>
          <a:xfrm>
            <a:off x="1783080" y="5029200"/>
            <a:ext cx="2331720" cy="640080"/>
          </a:xfrm>
          <a:prstGeom prst="rect">
            <a:avLst/>
          </a:prstGeom>
          <a:noFill/>
          <a:ln/>
        </p:spPr>
        <p:txBody>
          <a:bodyPr wrap="square" lIns="0" tIns="0" rIns="0" bIns="0" rtlCol="0" anchor="t"/>
          <a:lstStyle/>
          <a:p>
            <a:pPr indent="0" marL="0">
              <a:buNone/>
            </a:pPr>
            <a:r>
              <a:rPr lang="en-US" sz="1200" dirty="0">
                <a:solidFill>
                  <a:schemeClr val="accent3"/>
                </a:solidFill>
                <a:latin typeface="Arial" pitchFamily="34" charset="0"/>
                <a:ea typeface="Arial" pitchFamily="34" charset="-122"/>
                <a:cs typeface="Arial" pitchFamily="34" charset="-120"/>
              </a:rPr>
              <a:t>T6 · Dashboard giám sát</a:t>
            </a:r>
            <a:endParaRPr lang="en-US" sz="1200" dirty="0"/>
          </a:p>
          <a:p>
            <a:pPr indent="0" marL="0">
              <a:buNone/>
            </a:pPr>
            <a:r>
              <a:rPr lang="en-US" sz="1200" dirty="0">
                <a:solidFill>
                  <a:schemeClr val="accent3"/>
                </a:solidFill>
                <a:latin typeface="Arial" pitchFamily="34" charset="0"/>
                <a:ea typeface="Arial" pitchFamily="34" charset="-122"/>
                <a:cs typeface="Arial" pitchFamily="34" charset="-120"/>
              </a:rPr>
              <a:t>T7 · Automation &amp; lịch</a:t>
            </a:r>
            <a:endParaRPr lang="en-US" sz="1200" dirty="0"/>
          </a:p>
        </p:txBody>
      </p:sp>
      <p:sp>
        <p:nvSpPr>
          <p:cNvPr id="11" name="team card 2"/>
          <p:cNvSpPr/>
          <p:nvPr/>
        </p:nvSpPr>
        <p:spPr>
          <a:xfrm>
            <a:off x="4434840" y="4526280"/>
            <a:ext cx="3337560" cy="1280160"/>
          </a:xfrm>
          <a:prstGeom prst="roundRect">
            <a:avLst>
              <a:gd name="adj" fmla="val 5714"/>
            </a:avLst>
          </a:prstGeom>
          <a:solidFill>
            <a:schemeClr val="bg1">
              <a:alpha val="10000"/>
            </a:schemeClr>
          </a:solidFill>
          <a:ln w="9525">
            <a:solidFill>
              <a:schemeClr val="accent3"/>
            </a:solidFill>
            <a:prstDash val="solid"/>
          </a:ln>
        </p:spPr>
      </p:sp>
      <p:sp>
        <p:nvSpPr>
          <p:cNvPr id="12" name="team 2 circle"/>
          <p:cNvSpPr/>
          <p:nvPr/>
        </p:nvSpPr>
        <p:spPr>
          <a:xfrm>
            <a:off x="4663440" y="4873752"/>
            <a:ext cx="566928" cy="566928"/>
          </a:xfrm>
          <a:prstGeom prst="ellipse">
            <a:avLst/>
          </a:prstGeom>
          <a:solidFill>
            <a:schemeClr val="accent1"/>
          </a:solidFill>
          <a:ln w="12700">
            <a:solidFill>
              <a:schemeClr val="accent1"/>
            </a:solidFill>
            <a:prstDash val="solid"/>
          </a:ln>
        </p:spPr>
      </p:sp>
      <p:pic>
        <p:nvPicPr>
          <p:cNvPr id="13" name="team 2 icon" descr="preencoded.png">    </p:cNvPr>
          <p:cNvPicPr>
            <a:picLocks noChangeAspect="1"/>
          </p:cNvPicPr>
          <p:nvPr/>
        </p:nvPicPr>
        <p:blipFill>
          <a:blip r:embed="rId3"/>
          <a:stretch>
            <a:fillRect/>
          </a:stretch>
        </p:blipFill>
        <p:spPr>
          <a:xfrm>
            <a:off x="4776826" y="4987138"/>
            <a:ext cx="340157" cy="340157"/>
          </a:xfrm>
          <a:prstGeom prst="rect">
            <a:avLst/>
          </a:prstGeom>
        </p:spPr>
      </p:pic>
      <p:sp>
        <p:nvSpPr>
          <p:cNvPr id="14" name="team name 2"/>
          <p:cNvSpPr txBox="1"/>
          <p:nvPr/>
        </p:nvSpPr>
        <p:spPr>
          <a:xfrm>
            <a:off x="5394960" y="4645152"/>
            <a:ext cx="2286000" cy="365760"/>
          </a:xfrm>
          <a:prstGeom prst="rect">
            <a:avLst/>
          </a:prstGeom>
          <a:noFill/>
          <a:ln/>
        </p:spPr>
        <p:txBody>
          <a:bodyPr wrap="square" lIns="0" tIns="0" rIns="0" bIns="0" rtlCol="0" anchor="ctr"/>
          <a:lstStyle/>
          <a:p>
            <a:pPr indent="0" marL="0">
              <a:buNone/>
            </a:pPr>
            <a:r>
              <a:rPr lang="en-US" sz="1700" b="1" dirty="0">
                <a:solidFill>
                  <a:schemeClr val="bg1"/>
                </a:solidFill>
                <a:latin typeface="Times New Roman" pitchFamily="34" charset="0"/>
                <a:ea typeface="Times New Roman" pitchFamily="34" charset="-122"/>
                <a:cs typeface="Times New Roman" pitchFamily="34" charset="-120"/>
              </a:rPr>
              <a:t>Người 2</a:t>
            </a:r>
            <a:endParaRPr lang="en-US" sz="1700" dirty="0"/>
          </a:p>
        </p:txBody>
      </p:sp>
      <p:sp>
        <p:nvSpPr>
          <p:cNvPr id="15" name="team tasks 2"/>
          <p:cNvSpPr txBox="1"/>
          <p:nvPr/>
        </p:nvSpPr>
        <p:spPr>
          <a:xfrm>
            <a:off x="5394960" y="5029200"/>
            <a:ext cx="2331720" cy="640080"/>
          </a:xfrm>
          <a:prstGeom prst="rect">
            <a:avLst/>
          </a:prstGeom>
          <a:noFill/>
          <a:ln/>
        </p:spPr>
        <p:txBody>
          <a:bodyPr wrap="square" lIns="0" tIns="0" rIns="0" bIns="0" rtlCol="0" anchor="t"/>
          <a:lstStyle/>
          <a:p>
            <a:pPr indent="0" marL="0">
              <a:buNone/>
            </a:pPr>
            <a:r>
              <a:rPr lang="en-US" sz="1200" dirty="0">
                <a:solidFill>
                  <a:schemeClr val="accent3"/>
                </a:solidFill>
                <a:latin typeface="Arial" pitchFamily="34" charset="0"/>
                <a:ea typeface="Arial" pitchFamily="34" charset="-122"/>
                <a:cs typeface="Arial" pitchFamily="34" charset="-120"/>
              </a:rPr>
              <a:t>T6 · Điều khiển &amp; đăng nhập</a:t>
            </a:r>
            <a:endParaRPr lang="en-US" sz="1200" dirty="0"/>
          </a:p>
          <a:p>
            <a:pPr indent="0" marL="0">
              <a:buNone/>
            </a:pPr>
            <a:r>
              <a:rPr lang="en-US" sz="1200" dirty="0">
                <a:solidFill>
                  <a:schemeClr val="accent3"/>
                </a:solidFill>
                <a:latin typeface="Arial" pitchFamily="34" charset="0"/>
                <a:ea typeface="Arial" pitchFamily="34" charset="-122"/>
                <a:cs typeface="Arial" pitchFamily="34" charset="-120"/>
              </a:rPr>
              <a:t>T7 · Ban đêm &amp; lỗi an toàn</a:t>
            </a:r>
            <a:endParaRPr lang="en-US" sz="1200" dirty="0"/>
          </a:p>
        </p:txBody>
      </p:sp>
      <p:sp>
        <p:nvSpPr>
          <p:cNvPr id="16" name="team card 3"/>
          <p:cNvSpPr/>
          <p:nvPr/>
        </p:nvSpPr>
        <p:spPr>
          <a:xfrm>
            <a:off x="8046720" y="4526280"/>
            <a:ext cx="3337560" cy="1280160"/>
          </a:xfrm>
          <a:prstGeom prst="roundRect">
            <a:avLst>
              <a:gd name="adj" fmla="val 5714"/>
            </a:avLst>
          </a:prstGeom>
          <a:solidFill>
            <a:schemeClr val="bg1">
              <a:alpha val="10000"/>
            </a:schemeClr>
          </a:solidFill>
          <a:ln w="9525">
            <a:solidFill>
              <a:schemeClr val="accent3"/>
            </a:solidFill>
            <a:prstDash val="solid"/>
          </a:ln>
        </p:spPr>
      </p:sp>
      <p:sp>
        <p:nvSpPr>
          <p:cNvPr id="17" name="team 3 circle"/>
          <p:cNvSpPr/>
          <p:nvPr/>
        </p:nvSpPr>
        <p:spPr>
          <a:xfrm>
            <a:off x="8275320" y="4873752"/>
            <a:ext cx="566928" cy="566928"/>
          </a:xfrm>
          <a:prstGeom prst="ellipse">
            <a:avLst/>
          </a:prstGeom>
          <a:solidFill>
            <a:schemeClr val="accent1"/>
          </a:solidFill>
          <a:ln w="12700">
            <a:solidFill>
              <a:schemeClr val="accent1"/>
            </a:solidFill>
            <a:prstDash val="solid"/>
          </a:ln>
        </p:spPr>
      </p:sp>
      <p:pic>
        <p:nvPicPr>
          <p:cNvPr id="18" name="team 3 icon" descr="preencoded.png">    </p:cNvPr>
          <p:cNvPicPr>
            <a:picLocks noChangeAspect="1"/>
          </p:cNvPicPr>
          <p:nvPr/>
        </p:nvPicPr>
        <p:blipFill>
          <a:blip r:embed="rId4"/>
          <a:stretch>
            <a:fillRect/>
          </a:stretch>
        </p:blipFill>
        <p:spPr>
          <a:xfrm>
            <a:off x="8388706" y="4987138"/>
            <a:ext cx="340157" cy="340157"/>
          </a:xfrm>
          <a:prstGeom prst="rect">
            <a:avLst/>
          </a:prstGeom>
        </p:spPr>
      </p:pic>
      <p:sp>
        <p:nvSpPr>
          <p:cNvPr id="19" name="team name 3"/>
          <p:cNvSpPr txBox="1"/>
          <p:nvPr/>
        </p:nvSpPr>
        <p:spPr>
          <a:xfrm>
            <a:off x="9006840" y="4645152"/>
            <a:ext cx="2286000" cy="365760"/>
          </a:xfrm>
          <a:prstGeom prst="rect">
            <a:avLst/>
          </a:prstGeom>
          <a:noFill/>
          <a:ln/>
        </p:spPr>
        <p:txBody>
          <a:bodyPr wrap="square" lIns="0" tIns="0" rIns="0" bIns="0" rtlCol="0" anchor="ctr"/>
          <a:lstStyle/>
          <a:p>
            <a:pPr indent="0" marL="0">
              <a:buNone/>
            </a:pPr>
            <a:r>
              <a:rPr lang="en-US" sz="1700" b="1" dirty="0">
                <a:solidFill>
                  <a:schemeClr val="bg1"/>
                </a:solidFill>
                <a:latin typeface="Times New Roman" pitchFamily="34" charset="0"/>
                <a:ea typeface="Times New Roman" pitchFamily="34" charset="-122"/>
                <a:cs typeface="Times New Roman" pitchFamily="34" charset="-120"/>
              </a:rPr>
              <a:t>Người 3</a:t>
            </a:r>
            <a:endParaRPr lang="en-US" sz="1700" dirty="0"/>
          </a:p>
        </p:txBody>
      </p:sp>
      <p:sp>
        <p:nvSpPr>
          <p:cNvPr id="20" name="team tasks 3"/>
          <p:cNvSpPr txBox="1"/>
          <p:nvPr/>
        </p:nvSpPr>
        <p:spPr>
          <a:xfrm>
            <a:off x="9006840" y="5029200"/>
            <a:ext cx="2331720" cy="640080"/>
          </a:xfrm>
          <a:prstGeom prst="rect">
            <a:avLst/>
          </a:prstGeom>
          <a:noFill/>
          <a:ln/>
        </p:spPr>
        <p:txBody>
          <a:bodyPr wrap="square" lIns="0" tIns="0" rIns="0" bIns="0" rtlCol="0" anchor="t"/>
          <a:lstStyle/>
          <a:p>
            <a:pPr indent="0" marL="0">
              <a:buNone/>
            </a:pPr>
            <a:r>
              <a:rPr lang="en-US" sz="1200" dirty="0">
                <a:solidFill>
                  <a:schemeClr val="accent3"/>
                </a:solidFill>
                <a:latin typeface="Arial" pitchFamily="34" charset="0"/>
                <a:ea typeface="Arial" pitchFamily="34" charset="-122"/>
                <a:cs typeface="Arial" pitchFamily="34" charset="-120"/>
              </a:rPr>
              <a:t>T6 · Cảnh báo &amp; ghép luồng</a:t>
            </a:r>
            <a:endParaRPr lang="en-US" sz="1200" dirty="0"/>
          </a:p>
          <a:p>
            <a:pPr indent="0" marL="0">
              <a:buNone/>
            </a:pPr>
            <a:r>
              <a:rPr lang="en-US" sz="1200" dirty="0">
                <a:solidFill>
                  <a:schemeClr val="accent3"/>
                </a:solidFill>
                <a:latin typeface="Arial" pitchFamily="34" charset="0"/>
                <a:ea typeface="Arial" pitchFamily="34" charset="-122"/>
                <a:cs typeface="Arial" pitchFamily="34" charset="-120"/>
              </a:rPr>
              <a:t>T7 · Ma trận kiểm thử</a:t>
            </a:r>
            <a:endParaRPr lang="en-US" sz="1200" dirty="0"/>
          </a:p>
        </p:txBody>
      </p:sp>
      <p:sp>
        <p:nvSpPr>
          <p:cNvPr id="21" name="date"/>
          <p:cNvSpPr txBox="1"/>
          <p:nvPr/>
        </p:nvSpPr>
        <p:spPr>
          <a:xfrm>
            <a:off x="9509760" y="6263640"/>
            <a:ext cx="2130552" cy="274320"/>
          </a:xfrm>
          <a:prstGeom prst="rect">
            <a:avLst/>
          </a:prstGeom>
          <a:noFill/>
          <a:ln/>
        </p:spPr>
        <p:txBody>
          <a:bodyPr wrap="square" lIns="0" tIns="0" rIns="0" bIns="0" rtlCol="0" anchor="ctr"/>
          <a:lstStyle/>
          <a:p>
            <a:pPr algn="r" indent="0" marL="0">
              <a:buNone/>
            </a:pPr>
            <a:r>
              <a:rPr lang="en-US" sz="1100" dirty="0">
                <a:solidFill>
                  <a:schemeClr val="accent3"/>
                </a:solidFill>
                <a:latin typeface="Arial" pitchFamily="34" charset="0"/>
                <a:ea typeface="Arial" pitchFamily="34" charset="-122"/>
                <a:cs typeface="Arial" pitchFamily="34" charset="-120"/>
              </a:rPr>
              <a:t>Tuần 6–7 · 2026</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713232"/>
          </a:xfrm>
          <a:prstGeom prst="rect">
            <a:avLst/>
          </a:prstGeom>
          <a:noFill/>
          <a:ln/>
        </p:spPr>
        <p:txBody>
          <a:bodyPr wrap="square" lIns="0" tIns="0" rIns="0" bIns="0" rtlCol="0" anchor="b"/>
          <a:lstStyle/>
          <a:p>
            <a:pPr algn="l" indent="0" marL="0">
              <a:buNone/>
            </a:pPr>
            <a:r>
              <a:rPr lang="en-US" sz="3400" b="1" dirty="0">
                <a:solidFill>
                  <a:schemeClr val="tx2"/>
                </a:solidFill>
                <a:latin typeface="Times New Roman" pitchFamily="34" charset="0"/>
                <a:ea typeface="Times New Roman" pitchFamily="34" charset="-122"/>
                <a:cs typeface="Times New Roman" pitchFamily="34" charset="-120"/>
              </a:rPr>
              <a:t>Nội dung báo cáo</a:t>
            </a:r>
            <a:endParaRPr lang="en-US" sz="3400" dirty="0"/>
          </a:p>
        </p:txBody>
      </p:sp>
      <p:sp>
        <p:nvSpPr>
          <p:cNvPr id="3" name="Text 0"/>
          <p:cNvSpPr/>
          <p:nvPr>
            <p:ph idx="101" type="body" hasCustomPrompt="1"/>
          </p:nvPr>
        </p:nvSpPr>
        <p:spPr>
          <a:xfrm>
            <a:off x="548640" y="1097280"/>
            <a:ext cx="11091672" cy="384048"/>
          </a:xfrm>
          <a:prstGeom prst="rect">
            <a:avLst/>
          </a:prstGeom>
          <a:noFill/>
          <a:ln/>
        </p:spPr>
        <p:txBody>
          <a:bodyPr wrap="square" lIns="0" tIns="0" rIns="0" bIns="0" rtlCol="0" anchor="t"/>
          <a:lstStyle/>
          <a:p>
            <a:pPr algn="l" indent="0" marL="0">
              <a:buNone/>
            </a:pPr>
            <a:r>
              <a:rPr lang="en-US" sz="1600" i="1" dirty="0">
                <a:solidFill>
                  <a:schemeClr val="accent6"/>
                </a:solidFill>
                <a:latin typeface="Times New Roman" pitchFamily="34" charset="0"/>
                <a:ea typeface="Times New Roman" pitchFamily="34" charset="-122"/>
                <a:cs typeface="Times New Roman" pitchFamily="34" charset="-120"/>
              </a:rPr>
              <a:t>5 phần chính của báo cáo tuần 6 &amp; 7</a:t>
            </a:r>
            <a:endParaRPr lang="en-US" sz="1600" dirty="0"/>
          </a:p>
        </p:txBody>
      </p:sp>
      <p:sp>
        <p:nvSpPr>
          <p:cNvPr id="4" name="agenda badge 1"/>
          <p:cNvSpPr/>
          <p:nvPr/>
        </p:nvSpPr>
        <p:spPr>
          <a:xfrm>
            <a:off x="731520" y="1828800"/>
            <a:ext cx="566928" cy="566928"/>
          </a:xfrm>
          <a:prstGeom prst="ellipse">
            <a:avLst/>
          </a:prstGeom>
          <a:solidFill>
            <a:schemeClr val="tx2"/>
          </a:solidFill>
          <a:ln w="12700">
            <a:solidFill>
              <a:schemeClr val="bg1"/>
            </a:solidFill>
            <a:prstDash val="solid"/>
          </a:ln>
        </p:spPr>
      </p:sp>
      <p:sp>
        <p:nvSpPr>
          <p:cNvPr id="5" name="agenda number 1"/>
          <p:cNvSpPr txBox="1"/>
          <p:nvPr/>
        </p:nvSpPr>
        <p:spPr>
          <a:xfrm>
            <a:off x="731520" y="1828800"/>
            <a:ext cx="566928" cy="566928"/>
          </a:xfrm>
          <a:prstGeom prst="rect">
            <a:avLst/>
          </a:prstGeom>
          <a:noFill/>
          <a:ln/>
        </p:spPr>
        <p:txBody>
          <a:bodyPr wrap="square" lIns="0" tIns="0" rIns="0" bIns="0" rtlCol="0" anchor="ctr"/>
          <a:lstStyle/>
          <a:p>
            <a:pPr algn="ctr" indent="0" marL="0">
              <a:buNone/>
            </a:pPr>
            <a:r>
              <a:rPr lang="en-US" sz="2000" b="1" dirty="0">
                <a:solidFill>
                  <a:schemeClr val="bg1"/>
                </a:solidFill>
                <a:latin typeface="Times New Roman" pitchFamily="34" charset="0"/>
                <a:ea typeface="Times New Roman" pitchFamily="34" charset="-122"/>
                <a:cs typeface="Times New Roman" pitchFamily="34" charset="-120"/>
              </a:rPr>
              <a:t>1</a:t>
            </a:r>
            <a:endParaRPr lang="en-US" sz="2000" dirty="0"/>
          </a:p>
        </p:txBody>
      </p:sp>
      <p:sp>
        <p:nvSpPr>
          <p:cNvPr id="6" name="agenda title 1"/>
          <p:cNvSpPr txBox="1"/>
          <p:nvPr/>
        </p:nvSpPr>
        <p:spPr>
          <a:xfrm>
            <a:off x="1554480" y="1783080"/>
            <a:ext cx="9144000" cy="384048"/>
          </a:xfrm>
          <a:prstGeom prst="rect">
            <a:avLst/>
          </a:prstGeom>
          <a:noFill/>
          <a:ln/>
        </p:spPr>
        <p:txBody>
          <a:bodyPr wrap="square" lIns="0" tIns="0" rIns="0" bIns="0" rtlCol="0" anchor="ctr"/>
          <a:lstStyle/>
          <a:p>
            <a:pPr indent="0" marL="0">
              <a:buNone/>
            </a:pPr>
            <a:r>
              <a:rPr lang="en-US" sz="2100" b="1" dirty="0">
                <a:solidFill>
                  <a:schemeClr val="tx2"/>
                </a:solidFill>
                <a:latin typeface="Times New Roman" pitchFamily="34" charset="0"/>
                <a:ea typeface="Times New Roman" pitchFamily="34" charset="-122"/>
                <a:cs typeface="Times New Roman" pitchFamily="34" charset="-120"/>
              </a:rPr>
              <a:t>Mục tiêu, phân công &amp; kiến trúc</a:t>
            </a:r>
            <a:endParaRPr lang="en-US" sz="2100" dirty="0"/>
          </a:p>
        </p:txBody>
      </p:sp>
      <p:sp>
        <p:nvSpPr>
          <p:cNvPr id="7" name="agenda detail 1"/>
          <p:cNvSpPr txBox="1"/>
          <p:nvPr/>
        </p:nvSpPr>
        <p:spPr>
          <a:xfrm>
            <a:off x="1554480" y="2167128"/>
            <a:ext cx="9601200" cy="292608"/>
          </a:xfrm>
          <a:prstGeom prst="rect">
            <a:avLst/>
          </a:prstGeom>
          <a:noFill/>
          <a:ln/>
        </p:spPr>
        <p:txBody>
          <a:bodyPr wrap="square" lIns="0" tIns="0" rIns="0" bIns="0" rtlCol="0" anchor="ctr"/>
          <a:lstStyle/>
          <a:p>
            <a:pPr indent="0" marL="0">
              <a:buNone/>
            </a:pPr>
            <a:r>
              <a:rPr lang="en-US" sz="1400" dirty="0">
                <a:solidFill>
                  <a:schemeClr val="accent6"/>
                </a:solidFill>
                <a:latin typeface="Arial" pitchFamily="34" charset="0"/>
                <a:ea typeface="Arial" pitchFamily="34" charset="-122"/>
                <a:cs typeface="Arial" pitchFamily="34" charset="-120"/>
              </a:rPr>
              <a:t>Yêu cầu tuần 6–7 và luồng ESP32 ⇄ MQTT ⇄ Node-RED</a:t>
            </a:r>
            <a:endParaRPr lang="en-US" sz="1400" dirty="0"/>
          </a:p>
        </p:txBody>
      </p:sp>
      <p:sp>
        <p:nvSpPr>
          <p:cNvPr id="8" name="agenda divider 1"/>
          <p:cNvSpPr/>
          <p:nvPr/>
        </p:nvSpPr>
        <p:spPr>
          <a:xfrm>
            <a:off x="1554480" y="2560320"/>
            <a:ext cx="9601200" cy="0"/>
          </a:xfrm>
          <a:prstGeom prst="line">
            <a:avLst/>
          </a:prstGeom>
          <a:noFill/>
          <a:ln w="9525">
            <a:solidFill>
              <a:schemeClr val="accent5"/>
            </a:solidFill>
            <a:prstDash val="solid"/>
          </a:ln>
        </p:spPr>
      </p:sp>
      <p:sp>
        <p:nvSpPr>
          <p:cNvPr id="9" name="agenda badge 2"/>
          <p:cNvSpPr/>
          <p:nvPr/>
        </p:nvSpPr>
        <p:spPr>
          <a:xfrm>
            <a:off x="731520" y="2697480"/>
            <a:ext cx="566928" cy="566928"/>
          </a:xfrm>
          <a:prstGeom prst="ellipse">
            <a:avLst/>
          </a:prstGeom>
          <a:solidFill>
            <a:schemeClr val="accent2"/>
          </a:solidFill>
          <a:ln w="12700">
            <a:solidFill>
              <a:schemeClr val="bg1"/>
            </a:solidFill>
            <a:prstDash val="solid"/>
          </a:ln>
        </p:spPr>
      </p:sp>
      <p:sp>
        <p:nvSpPr>
          <p:cNvPr id="10" name="agenda number 2"/>
          <p:cNvSpPr txBox="1"/>
          <p:nvPr/>
        </p:nvSpPr>
        <p:spPr>
          <a:xfrm>
            <a:off x="731520" y="2697480"/>
            <a:ext cx="566928" cy="566928"/>
          </a:xfrm>
          <a:prstGeom prst="rect">
            <a:avLst/>
          </a:prstGeom>
          <a:noFill/>
          <a:ln/>
        </p:spPr>
        <p:txBody>
          <a:bodyPr wrap="square" lIns="0" tIns="0" rIns="0" bIns="0" rtlCol="0" anchor="ctr"/>
          <a:lstStyle/>
          <a:p>
            <a:pPr algn="ctr" indent="0" marL="0">
              <a:buNone/>
            </a:pPr>
            <a:r>
              <a:rPr lang="en-US" sz="2000" b="1" dirty="0">
                <a:solidFill>
                  <a:schemeClr val="bg1"/>
                </a:solidFill>
                <a:latin typeface="Times New Roman" pitchFamily="34" charset="0"/>
                <a:ea typeface="Times New Roman" pitchFamily="34" charset="-122"/>
                <a:cs typeface="Times New Roman" pitchFamily="34" charset="-120"/>
              </a:rPr>
              <a:t>2</a:t>
            </a:r>
            <a:endParaRPr lang="en-US" sz="2000" dirty="0"/>
          </a:p>
        </p:txBody>
      </p:sp>
      <p:sp>
        <p:nvSpPr>
          <p:cNvPr id="11" name="agenda title 2"/>
          <p:cNvSpPr txBox="1"/>
          <p:nvPr/>
        </p:nvSpPr>
        <p:spPr>
          <a:xfrm>
            <a:off x="1554480" y="2651760"/>
            <a:ext cx="9144000" cy="384048"/>
          </a:xfrm>
          <a:prstGeom prst="rect">
            <a:avLst/>
          </a:prstGeom>
          <a:noFill/>
          <a:ln/>
        </p:spPr>
        <p:txBody>
          <a:bodyPr wrap="square" lIns="0" tIns="0" rIns="0" bIns="0" rtlCol="0" anchor="ctr"/>
          <a:lstStyle/>
          <a:p>
            <a:pPr indent="0" marL="0">
              <a:buNone/>
            </a:pPr>
            <a:r>
              <a:rPr lang="en-US" sz="2100" b="1" dirty="0">
                <a:solidFill>
                  <a:schemeClr val="tx2"/>
                </a:solidFill>
                <a:latin typeface="Times New Roman" pitchFamily="34" charset="0"/>
                <a:ea typeface="Times New Roman" pitchFamily="34" charset="-122"/>
                <a:cs typeface="Times New Roman" pitchFamily="34" charset="-120"/>
              </a:rPr>
              <a:t>Tuần 6 — Application/Platform</a:t>
            </a:r>
            <a:endParaRPr lang="en-US" sz="2100" dirty="0"/>
          </a:p>
        </p:txBody>
      </p:sp>
      <p:sp>
        <p:nvSpPr>
          <p:cNvPr id="12" name="agenda detail 2"/>
          <p:cNvSpPr txBox="1"/>
          <p:nvPr/>
        </p:nvSpPr>
        <p:spPr>
          <a:xfrm>
            <a:off x="1554480" y="3035808"/>
            <a:ext cx="9601200" cy="292608"/>
          </a:xfrm>
          <a:prstGeom prst="rect">
            <a:avLst/>
          </a:prstGeom>
          <a:noFill/>
          <a:ln/>
        </p:spPr>
        <p:txBody>
          <a:bodyPr wrap="square" lIns="0" tIns="0" rIns="0" bIns="0" rtlCol="0" anchor="ctr"/>
          <a:lstStyle/>
          <a:p>
            <a:pPr indent="0" marL="0">
              <a:buNone/>
            </a:pPr>
            <a:r>
              <a:rPr lang="en-US" sz="1400" dirty="0">
                <a:solidFill>
                  <a:schemeClr val="accent6"/>
                </a:solidFill>
                <a:latin typeface="Arial" pitchFamily="34" charset="0"/>
                <a:ea typeface="Arial" pitchFamily="34" charset="-122"/>
                <a:cs typeface="Arial" pitchFamily="34" charset="-120"/>
              </a:rPr>
              <a:t>Dashboard giám sát · điều khiển có ACK · đăng nhập · cảnh báo Telegram</a:t>
            </a:r>
            <a:endParaRPr lang="en-US" sz="1400" dirty="0"/>
          </a:p>
        </p:txBody>
      </p:sp>
      <p:sp>
        <p:nvSpPr>
          <p:cNvPr id="13" name="agenda divider 2"/>
          <p:cNvSpPr/>
          <p:nvPr/>
        </p:nvSpPr>
        <p:spPr>
          <a:xfrm>
            <a:off x="1554480" y="3429000"/>
            <a:ext cx="9601200" cy="0"/>
          </a:xfrm>
          <a:prstGeom prst="line">
            <a:avLst/>
          </a:prstGeom>
          <a:noFill/>
          <a:ln w="9525">
            <a:solidFill>
              <a:schemeClr val="accent5"/>
            </a:solidFill>
            <a:prstDash val="solid"/>
          </a:ln>
        </p:spPr>
      </p:sp>
      <p:sp>
        <p:nvSpPr>
          <p:cNvPr id="14" name="agenda badge 3"/>
          <p:cNvSpPr/>
          <p:nvPr/>
        </p:nvSpPr>
        <p:spPr>
          <a:xfrm>
            <a:off x="731520" y="3566160"/>
            <a:ext cx="566928" cy="566928"/>
          </a:xfrm>
          <a:prstGeom prst="ellipse">
            <a:avLst/>
          </a:prstGeom>
          <a:solidFill>
            <a:schemeClr val="tx2"/>
          </a:solidFill>
          <a:ln w="12700">
            <a:solidFill>
              <a:schemeClr val="bg1"/>
            </a:solidFill>
            <a:prstDash val="solid"/>
          </a:ln>
        </p:spPr>
      </p:sp>
      <p:sp>
        <p:nvSpPr>
          <p:cNvPr id="15" name="agenda number 3"/>
          <p:cNvSpPr txBox="1"/>
          <p:nvPr/>
        </p:nvSpPr>
        <p:spPr>
          <a:xfrm>
            <a:off x="731520" y="3566160"/>
            <a:ext cx="566928" cy="566928"/>
          </a:xfrm>
          <a:prstGeom prst="rect">
            <a:avLst/>
          </a:prstGeom>
          <a:noFill/>
          <a:ln/>
        </p:spPr>
        <p:txBody>
          <a:bodyPr wrap="square" lIns="0" tIns="0" rIns="0" bIns="0" rtlCol="0" anchor="ctr"/>
          <a:lstStyle/>
          <a:p>
            <a:pPr algn="ctr" indent="0" marL="0">
              <a:buNone/>
            </a:pPr>
            <a:r>
              <a:rPr lang="en-US" sz="2000" b="1" dirty="0">
                <a:solidFill>
                  <a:schemeClr val="bg1"/>
                </a:solidFill>
                <a:latin typeface="Times New Roman" pitchFamily="34" charset="0"/>
                <a:ea typeface="Times New Roman" pitchFamily="34" charset="-122"/>
                <a:cs typeface="Times New Roman" pitchFamily="34" charset="-120"/>
              </a:rPr>
              <a:t>3</a:t>
            </a:r>
            <a:endParaRPr lang="en-US" sz="2000" dirty="0"/>
          </a:p>
        </p:txBody>
      </p:sp>
      <p:sp>
        <p:nvSpPr>
          <p:cNvPr id="16" name="agenda title 3"/>
          <p:cNvSpPr txBox="1"/>
          <p:nvPr/>
        </p:nvSpPr>
        <p:spPr>
          <a:xfrm>
            <a:off x="1554480" y="3520440"/>
            <a:ext cx="9144000" cy="384048"/>
          </a:xfrm>
          <a:prstGeom prst="rect">
            <a:avLst/>
          </a:prstGeom>
          <a:noFill/>
          <a:ln/>
        </p:spPr>
        <p:txBody>
          <a:bodyPr wrap="square" lIns="0" tIns="0" rIns="0" bIns="0" rtlCol="0" anchor="ctr"/>
          <a:lstStyle/>
          <a:p>
            <a:pPr indent="0" marL="0">
              <a:buNone/>
            </a:pPr>
            <a:r>
              <a:rPr lang="en-US" sz="2100" b="1" dirty="0">
                <a:solidFill>
                  <a:schemeClr val="tx2"/>
                </a:solidFill>
                <a:latin typeface="Times New Roman" pitchFamily="34" charset="0"/>
                <a:ea typeface="Times New Roman" pitchFamily="34" charset="-122"/>
                <a:cs typeface="Times New Roman" pitchFamily="34" charset="-120"/>
              </a:rPr>
              <a:t>Tuần 7 — Business rules</a:t>
            </a:r>
            <a:endParaRPr lang="en-US" sz="2100" dirty="0"/>
          </a:p>
        </p:txBody>
      </p:sp>
      <p:sp>
        <p:nvSpPr>
          <p:cNvPr id="17" name="agenda detail 3"/>
          <p:cNvSpPr txBox="1"/>
          <p:nvPr/>
        </p:nvSpPr>
        <p:spPr>
          <a:xfrm>
            <a:off x="1554480" y="3904488"/>
            <a:ext cx="9601200" cy="292608"/>
          </a:xfrm>
          <a:prstGeom prst="rect">
            <a:avLst/>
          </a:prstGeom>
          <a:noFill/>
          <a:ln/>
        </p:spPr>
        <p:txBody>
          <a:bodyPr wrap="square" lIns="0" tIns="0" rIns="0" bIns="0" rtlCol="0" anchor="ctr"/>
          <a:lstStyle/>
          <a:p>
            <a:pPr indent="0" marL="0">
              <a:buNone/>
            </a:pPr>
            <a:r>
              <a:rPr lang="en-US" sz="1400" dirty="0">
                <a:solidFill>
                  <a:schemeClr val="accent6"/>
                </a:solidFill>
                <a:latin typeface="Arial" pitchFamily="34" charset="0"/>
                <a:ea typeface="Arial" pitchFamily="34" charset="-122"/>
                <a:cs typeface="Arial" pitchFamily="34" charset="-120"/>
              </a:rPr>
              <a:t>Rule đèn theo lịch, rule quạt sau phun, chính sách chăm sóc ban đêm</a:t>
            </a:r>
            <a:endParaRPr lang="en-US" sz="1400" dirty="0"/>
          </a:p>
        </p:txBody>
      </p:sp>
      <p:sp>
        <p:nvSpPr>
          <p:cNvPr id="18" name="agenda divider 3"/>
          <p:cNvSpPr/>
          <p:nvPr/>
        </p:nvSpPr>
        <p:spPr>
          <a:xfrm>
            <a:off x="1554480" y="4297680"/>
            <a:ext cx="9601200" cy="0"/>
          </a:xfrm>
          <a:prstGeom prst="line">
            <a:avLst/>
          </a:prstGeom>
          <a:noFill/>
          <a:ln w="9525">
            <a:solidFill>
              <a:schemeClr val="accent5"/>
            </a:solidFill>
            <a:prstDash val="solid"/>
          </a:ln>
        </p:spPr>
      </p:sp>
      <p:sp>
        <p:nvSpPr>
          <p:cNvPr id="19" name="agenda badge 4"/>
          <p:cNvSpPr/>
          <p:nvPr/>
        </p:nvSpPr>
        <p:spPr>
          <a:xfrm>
            <a:off x="731520" y="4434840"/>
            <a:ext cx="566928" cy="566928"/>
          </a:xfrm>
          <a:prstGeom prst="ellipse">
            <a:avLst/>
          </a:prstGeom>
          <a:solidFill>
            <a:schemeClr val="accent2"/>
          </a:solidFill>
          <a:ln w="12700">
            <a:solidFill>
              <a:schemeClr val="bg1"/>
            </a:solidFill>
            <a:prstDash val="solid"/>
          </a:ln>
        </p:spPr>
      </p:sp>
      <p:sp>
        <p:nvSpPr>
          <p:cNvPr id="20" name="agenda number 4"/>
          <p:cNvSpPr txBox="1"/>
          <p:nvPr/>
        </p:nvSpPr>
        <p:spPr>
          <a:xfrm>
            <a:off x="731520" y="4434840"/>
            <a:ext cx="566928" cy="566928"/>
          </a:xfrm>
          <a:prstGeom prst="rect">
            <a:avLst/>
          </a:prstGeom>
          <a:noFill/>
          <a:ln/>
        </p:spPr>
        <p:txBody>
          <a:bodyPr wrap="square" lIns="0" tIns="0" rIns="0" bIns="0" rtlCol="0" anchor="ctr"/>
          <a:lstStyle/>
          <a:p>
            <a:pPr algn="ctr" indent="0" marL="0">
              <a:buNone/>
            </a:pPr>
            <a:r>
              <a:rPr lang="en-US" sz="2000" b="1" dirty="0">
                <a:solidFill>
                  <a:schemeClr val="bg1"/>
                </a:solidFill>
                <a:latin typeface="Times New Roman" pitchFamily="34" charset="0"/>
                <a:ea typeface="Times New Roman" pitchFamily="34" charset="-122"/>
                <a:cs typeface="Times New Roman" pitchFamily="34" charset="-120"/>
              </a:rPr>
              <a:t>4</a:t>
            </a:r>
            <a:endParaRPr lang="en-US" sz="2000" dirty="0"/>
          </a:p>
        </p:txBody>
      </p:sp>
      <p:sp>
        <p:nvSpPr>
          <p:cNvPr id="21" name="agenda title 4"/>
          <p:cNvSpPr txBox="1"/>
          <p:nvPr/>
        </p:nvSpPr>
        <p:spPr>
          <a:xfrm>
            <a:off x="1554480" y="4389120"/>
            <a:ext cx="9144000" cy="384048"/>
          </a:xfrm>
          <a:prstGeom prst="rect">
            <a:avLst/>
          </a:prstGeom>
          <a:noFill/>
          <a:ln/>
        </p:spPr>
        <p:txBody>
          <a:bodyPr wrap="square" lIns="0" tIns="0" rIns="0" bIns="0" rtlCol="0" anchor="ctr"/>
          <a:lstStyle/>
          <a:p>
            <a:pPr indent="0" marL="0">
              <a:buNone/>
            </a:pPr>
            <a:r>
              <a:rPr lang="en-US" sz="2100" b="1" dirty="0">
                <a:solidFill>
                  <a:schemeClr val="tx2"/>
                </a:solidFill>
                <a:latin typeface="Times New Roman" pitchFamily="34" charset="0"/>
                <a:ea typeface="Times New Roman" pitchFamily="34" charset="-122"/>
                <a:cs typeface="Times New Roman" pitchFamily="34" charset="-120"/>
              </a:rPr>
              <a:t>Tình huống bất thường &amp; kiểm thử</a:t>
            </a:r>
            <a:endParaRPr lang="en-US" sz="2100" dirty="0"/>
          </a:p>
        </p:txBody>
      </p:sp>
      <p:sp>
        <p:nvSpPr>
          <p:cNvPr id="22" name="agenda detail 4"/>
          <p:cNvSpPr txBox="1"/>
          <p:nvPr/>
        </p:nvSpPr>
        <p:spPr>
          <a:xfrm>
            <a:off x="1554480" y="4773168"/>
            <a:ext cx="9601200" cy="292608"/>
          </a:xfrm>
          <a:prstGeom prst="rect">
            <a:avLst/>
          </a:prstGeom>
          <a:noFill/>
          <a:ln/>
        </p:spPr>
        <p:txBody>
          <a:bodyPr wrap="square" lIns="0" tIns="0" rIns="0" bIns="0" rtlCol="0" anchor="ctr"/>
          <a:lstStyle/>
          <a:p>
            <a:pPr indent="0" marL="0">
              <a:buNone/>
            </a:pPr>
            <a:r>
              <a:rPr lang="en-US" sz="1400" dirty="0">
                <a:solidFill>
                  <a:schemeClr val="accent6"/>
                </a:solidFill>
                <a:latin typeface="Arial" pitchFamily="34" charset="0"/>
                <a:ea typeface="Arial" pitchFamily="34" charset="-122"/>
                <a:cs typeface="Arial" pitchFamily="34" charset="-120"/>
              </a:rPr>
              <a:t>DHT lỗi, nước thấp, mất kết nối, lệnh không ACK — có log và ảnh</a:t>
            </a:r>
            <a:endParaRPr lang="en-US" sz="1400" dirty="0"/>
          </a:p>
        </p:txBody>
      </p:sp>
      <p:sp>
        <p:nvSpPr>
          <p:cNvPr id="23" name="agenda divider 4"/>
          <p:cNvSpPr/>
          <p:nvPr/>
        </p:nvSpPr>
        <p:spPr>
          <a:xfrm>
            <a:off x="1554480" y="5166360"/>
            <a:ext cx="9601200" cy="0"/>
          </a:xfrm>
          <a:prstGeom prst="line">
            <a:avLst/>
          </a:prstGeom>
          <a:noFill/>
          <a:ln w="9525">
            <a:solidFill>
              <a:schemeClr val="accent5"/>
            </a:solidFill>
            <a:prstDash val="solid"/>
          </a:ln>
        </p:spPr>
      </p:sp>
      <p:sp>
        <p:nvSpPr>
          <p:cNvPr id="24" name="agenda badge 5"/>
          <p:cNvSpPr/>
          <p:nvPr/>
        </p:nvSpPr>
        <p:spPr>
          <a:xfrm>
            <a:off x="731520" y="5303520"/>
            <a:ext cx="566928" cy="566928"/>
          </a:xfrm>
          <a:prstGeom prst="ellipse">
            <a:avLst/>
          </a:prstGeom>
          <a:solidFill>
            <a:schemeClr val="tx2"/>
          </a:solidFill>
          <a:ln w="12700">
            <a:solidFill>
              <a:schemeClr val="bg1"/>
            </a:solidFill>
            <a:prstDash val="solid"/>
          </a:ln>
        </p:spPr>
      </p:sp>
      <p:sp>
        <p:nvSpPr>
          <p:cNvPr id="25" name="agenda number 5"/>
          <p:cNvSpPr txBox="1"/>
          <p:nvPr/>
        </p:nvSpPr>
        <p:spPr>
          <a:xfrm>
            <a:off x="731520" y="5303520"/>
            <a:ext cx="566928" cy="566928"/>
          </a:xfrm>
          <a:prstGeom prst="rect">
            <a:avLst/>
          </a:prstGeom>
          <a:noFill/>
          <a:ln/>
        </p:spPr>
        <p:txBody>
          <a:bodyPr wrap="square" lIns="0" tIns="0" rIns="0" bIns="0" rtlCol="0" anchor="ctr"/>
          <a:lstStyle/>
          <a:p>
            <a:pPr algn="ctr" indent="0" marL="0">
              <a:buNone/>
            </a:pPr>
            <a:r>
              <a:rPr lang="en-US" sz="2000" b="1" dirty="0">
                <a:solidFill>
                  <a:schemeClr val="bg1"/>
                </a:solidFill>
                <a:latin typeface="Times New Roman" pitchFamily="34" charset="0"/>
                <a:ea typeface="Times New Roman" pitchFamily="34" charset="-122"/>
                <a:cs typeface="Times New Roman" pitchFamily="34" charset="-120"/>
              </a:rPr>
              <a:t>5</a:t>
            </a:r>
            <a:endParaRPr lang="en-US" sz="2000" dirty="0"/>
          </a:p>
        </p:txBody>
      </p:sp>
      <p:sp>
        <p:nvSpPr>
          <p:cNvPr id="26" name="agenda title 5"/>
          <p:cNvSpPr txBox="1"/>
          <p:nvPr/>
        </p:nvSpPr>
        <p:spPr>
          <a:xfrm>
            <a:off x="1554480" y="5257800"/>
            <a:ext cx="9144000" cy="384048"/>
          </a:xfrm>
          <a:prstGeom prst="rect">
            <a:avLst/>
          </a:prstGeom>
          <a:noFill/>
          <a:ln/>
        </p:spPr>
        <p:txBody>
          <a:bodyPr wrap="square" lIns="0" tIns="0" rIns="0" bIns="0" rtlCol="0" anchor="ctr"/>
          <a:lstStyle/>
          <a:p>
            <a:pPr indent="0" marL="0">
              <a:buNone/>
            </a:pPr>
            <a:r>
              <a:rPr lang="en-US" sz="2100" b="1" dirty="0">
                <a:solidFill>
                  <a:schemeClr val="tx2"/>
                </a:solidFill>
                <a:latin typeface="Times New Roman" pitchFamily="34" charset="0"/>
                <a:ea typeface="Times New Roman" pitchFamily="34" charset="-122"/>
                <a:cs typeface="Times New Roman" pitchFamily="34" charset="-120"/>
              </a:rPr>
              <a:t>Tồn tại &amp; việc tiếp theo</a:t>
            </a:r>
            <a:endParaRPr lang="en-US" sz="2100" dirty="0"/>
          </a:p>
        </p:txBody>
      </p:sp>
      <p:sp>
        <p:nvSpPr>
          <p:cNvPr id="27" name="agenda detail 5"/>
          <p:cNvSpPr txBox="1"/>
          <p:nvPr/>
        </p:nvSpPr>
        <p:spPr>
          <a:xfrm>
            <a:off x="1554480" y="5641848"/>
            <a:ext cx="9601200" cy="292608"/>
          </a:xfrm>
          <a:prstGeom prst="rect">
            <a:avLst/>
          </a:prstGeom>
          <a:noFill/>
          <a:ln/>
        </p:spPr>
        <p:txBody>
          <a:bodyPr wrap="square" lIns="0" tIns="0" rIns="0" bIns="0" rtlCol="0" anchor="ctr"/>
          <a:lstStyle/>
          <a:p>
            <a:pPr indent="0" marL="0">
              <a:buNone/>
            </a:pPr>
            <a:r>
              <a:rPr lang="en-US" sz="1400" dirty="0">
                <a:solidFill>
                  <a:schemeClr val="accent6"/>
                </a:solidFill>
                <a:latin typeface="Arial" pitchFamily="34" charset="0"/>
                <a:ea typeface="Arial" pitchFamily="34" charset="-122"/>
                <a:cs typeface="Arial" pitchFamily="34" charset="-120"/>
              </a:rPr>
              <a:t>Các điểm cần xử lý trước buổi demo</a:t>
            </a:r>
            <a:endParaRPr lang="en-US" sz="1400" dirty="0"/>
          </a:p>
        </p:txBody>
      </p:sp>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6"/>
                </a:solidFill>
                <a:latin typeface="Arial"/>
                <a:ea typeface="Arial"/>
                <a:cs typeface="Aria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713232"/>
          </a:xfrm>
          <a:prstGeom prst="rect">
            <a:avLst/>
          </a:prstGeom>
          <a:noFill/>
          <a:ln/>
        </p:spPr>
        <p:txBody>
          <a:bodyPr wrap="square" lIns="0" tIns="0" rIns="0" bIns="0" rtlCol="0" anchor="b"/>
          <a:lstStyle/>
          <a:p>
            <a:pPr algn="l" indent="0" marL="0">
              <a:buNone/>
            </a:pPr>
            <a:r>
              <a:rPr lang="en-US" sz="3400" b="1" dirty="0">
                <a:solidFill>
                  <a:schemeClr val="tx2"/>
                </a:solidFill>
                <a:latin typeface="Times New Roman" pitchFamily="34" charset="0"/>
                <a:ea typeface="Times New Roman" pitchFamily="34" charset="-122"/>
                <a:cs typeface="Times New Roman" pitchFamily="34" charset="-120"/>
              </a:rPr>
              <a:t>Mục tiêu và phân công tuần 6–7</a:t>
            </a:r>
            <a:endParaRPr lang="en-US" sz="3400" dirty="0"/>
          </a:p>
        </p:txBody>
      </p:sp>
      <p:sp>
        <p:nvSpPr>
          <p:cNvPr id="3" name="Text 0"/>
          <p:cNvSpPr/>
          <p:nvPr>
            <p:ph idx="101" type="body" hasCustomPrompt="1"/>
          </p:nvPr>
        </p:nvSpPr>
        <p:spPr>
          <a:xfrm>
            <a:off x="548640" y="1097280"/>
            <a:ext cx="11091672" cy="384048"/>
          </a:xfrm>
          <a:prstGeom prst="rect">
            <a:avLst/>
          </a:prstGeom>
          <a:noFill/>
          <a:ln/>
        </p:spPr>
        <p:txBody>
          <a:bodyPr wrap="square" lIns="0" tIns="0" rIns="0" bIns="0" rtlCol="0" anchor="t"/>
          <a:lstStyle/>
          <a:p>
            <a:pPr algn="l" indent="0" marL="0">
              <a:buNone/>
            </a:pPr>
            <a:r>
              <a:rPr lang="en-US" sz="1600" i="1" dirty="0">
                <a:solidFill>
                  <a:schemeClr val="accent6"/>
                </a:solidFill>
                <a:latin typeface="Times New Roman" pitchFamily="34" charset="0"/>
                <a:ea typeface="Times New Roman" pitchFamily="34" charset="-122"/>
                <a:cs typeface="Times New Roman" pitchFamily="34" charset="-120"/>
              </a:rPr>
              <a:t>Mỗi người 6 giờ/tuần · trạng thái tính theo bằng chứng có trong repo</a:t>
            </a:r>
            <a:endParaRPr lang="en-US" sz="1600" dirty="0"/>
          </a:p>
        </p:txBody>
      </p:sp>
      <p:sp>
        <p:nvSpPr>
          <p:cNvPr id="4" name="week panel 6"/>
          <p:cNvSpPr/>
          <p:nvPr/>
        </p:nvSpPr>
        <p:spPr>
          <a:xfrm>
            <a:off x="548640" y="1691640"/>
            <a:ext cx="5449824" cy="4480560"/>
          </a:xfrm>
          <a:prstGeom prst="roundRect">
            <a:avLst>
              <a:gd name="adj" fmla="val 1633"/>
            </a:avLst>
          </a:prstGeom>
          <a:solidFill>
            <a:schemeClr val="bg2"/>
          </a:solidFill>
          <a:ln w="12700">
            <a:solidFill>
              <a:schemeClr val="accent5"/>
            </a:solidFill>
            <a:prstDash val="solid"/>
          </a:ln>
        </p:spPr>
      </p:sp>
      <p:sp>
        <p:nvSpPr>
          <p:cNvPr id="5" name="week title 6"/>
          <p:cNvSpPr txBox="1"/>
          <p:nvPr/>
        </p:nvSpPr>
        <p:spPr>
          <a:xfrm>
            <a:off x="822960" y="1856232"/>
            <a:ext cx="4937760" cy="320040"/>
          </a:xfrm>
          <a:prstGeom prst="rect">
            <a:avLst/>
          </a:prstGeom>
          <a:noFill/>
          <a:ln/>
        </p:spPr>
        <p:txBody>
          <a:bodyPr wrap="square" lIns="0" tIns="0" rIns="0" bIns="0" rtlCol="0" anchor="ctr"/>
          <a:lstStyle/>
          <a:p>
            <a:pPr indent="0" marL="0">
              <a:buNone/>
            </a:pPr>
            <a:r>
              <a:rPr lang="en-US" sz="1500" b="1" spc="100" kern="0" dirty="0">
                <a:solidFill>
                  <a:schemeClr val="tx2"/>
                </a:solidFill>
                <a:latin typeface="Times New Roman" pitchFamily="34" charset="0"/>
                <a:ea typeface="Times New Roman" pitchFamily="34" charset="-122"/>
                <a:cs typeface="Times New Roman" pitchFamily="34" charset="-120"/>
              </a:rPr>
              <a:t>TUẦN 6 — APPLICATION / PLATFORM</a:t>
            </a:r>
            <a:endParaRPr lang="en-US" sz="1500" dirty="0"/>
          </a:p>
        </p:txBody>
      </p:sp>
      <p:sp>
        <p:nvSpPr>
          <p:cNvPr id="6" name="week goal 6"/>
          <p:cNvSpPr txBox="1"/>
          <p:nvPr/>
        </p:nvSpPr>
        <p:spPr>
          <a:xfrm>
            <a:off x="822960" y="2194560"/>
            <a:ext cx="4937760" cy="457200"/>
          </a:xfrm>
          <a:prstGeom prst="rect">
            <a:avLst/>
          </a:prstGeom>
          <a:noFill/>
          <a:ln/>
        </p:spPr>
        <p:txBody>
          <a:bodyPr wrap="square" lIns="0" tIns="0" rIns="0" bIns="0" rtlCol="0" anchor="t"/>
          <a:lstStyle/>
          <a:p>
            <a:pPr indent="0" marL="0">
              <a:buNone/>
            </a:pPr>
            <a:r>
              <a:rPr lang="en-US" sz="1200" i="1" dirty="0">
                <a:solidFill>
                  <a:schemeClr val="accent6"/>
                </a:solidFill>
                <a:latin typeface="Arial" pitchFamily="34" charset="0"/>
                <a:ea typeface="Arial" pitchFamily="34" charset="-122"/>
                <a:cs typeface="Arial" pitchFamily="34" charset="-120"/>
              </a:rPr>
              <a:t>Dashboard xem trạng thái, điều khiển từ xa có phản hồi và cảnh báo</a:t>
            </a:r>
            <a:endParaRPr lang="en-US" sz="1200" dirty="0"/>
          </a:p>
        </p:txBody>
      </p:sp>
      <p:sp>
        <p:nvSpPr>
          <p:cNvPr id="7" name="assign who 0-0"/>
          <p:cNvSpPr txBox="1"/>
          <p:nvPr/>
        </p:nvSpPr>
        <p:spPr>
          <a:xfrm>
            <a:off x="822960" y="2788920"/>
            <a:ext cx="1188720" cy="292608"/>
          </a:xfrm>
          <a:prstGeom prst="rect">
            <a:avLst/>
          </a:prstGeom>
          <a:noFill/>
          <a:ln/>
        </p:spPr>
        <p:txBody>
          <a:bodyPr wrap="square" lIns="0" tIns="0" rIns="0" bIns="0" rtlCol="0" anchor="ctr"/>
          <a:lstStyle/>
          <a:p>
            <a:pPr indent="0" marL="0">
              <a:buNone/>
            </a:pPr>
            <a:r>
              <a:rPr lang="en-US" sz="1600" b="1" dirty="0">
                <a:solidFill>
                  <a:schemeClr val="tx2"/>
                </a:solidFill>
                <a:latin typeface="Times New Roman" pitchFamily="34" charset="0"/>
                <a:ea typeface="Times New Roman" pitchFamily="34" charset="-122"/>
                <a:cs typeface="Times New Roman" pitchFamily="34" charset="-120"/>
              </a:rPr>
              <a:t>Người 1</a:t>
            </a:r>
            <a:endParaRPr lang="en-US" sz="1600" dirty="0"/>
          </a:p>
        </p:txBody>
      </p:sp>
      <p:sp>
        <p:nvSpPr>
          <p:cNvPr id="8" name="chip Có ảnh + log"/>
          <p:cNvSpPr/>
          <p:nvPr/>
        </p:nvSpPr>
        <p:spPr>
          <a:xfrm>
            <a:off x="4206240" y="2788920"/>
            <a:ext cx="1508760" cy="292608"/>
          </a:xfrm>
          <a:prstGeom prst="roundRect">
            <a:avLst>
              <a:gd name="adj" fmla="val 50000"/>
            </a:avLst>
          </a:prstGeom>
          <a:solidFill>
            <a:schemeClr val="tx2"/>
          </a:solidFill>
          <a:ln w="12700">
            <a:solidFill>
              <a:schemeClr val="tx2"/>
            </a:solidFill>
            <a:prstDash val="solid"/>
          </a:ln>
        </p:spPr>
      </p:sp>
      <p:sp>
        <p:nvSpPr>
          <p:cNvPr id="9" name="chip text Có ảnh + log"/>
          <p:cNvSpPr txBox="1"/>
          <p:nvPr/>
        </p:nvSpPr>
        <p:spPr>
          <a:xfrm>
            <a:off x="4206240" y="2788920"/>
            <a:ext cx="1508760" cy="292608"/>
          </a:xfrm>
          <a:prstGeom prst="rect">
            <a:avLst/>
          </a:prstGeom>
          <a:noFill/>
          <a:ln/>
        </p:spPr>
        <p:txBody>
          <a:bodyPr wrap="square" lIns="0" tIns="0" rIns="0" bIns="0" rtlCol="0" anchor="ctr"/>
          <a:lstStyle/>
          <a:p>
            <a:pPr algn="ctr" indent="0" marL="0">
              <a:buNone/>
            </a:pPr>
            <a:r>
              <a:rPr lang="en-US" sz="1100" b="1" dirty="0">
                <a:solidFill>
                  <a:schemeClr val="bg1"/>
                </a:solidFill>
                <a:latin typeface="Arial" pitchFamily="34" charset="0"/>
                <a:ea typeface="Arial" pitchFamily="34" charset="-122"/>
                <a:cs typeface="Arial" pitchFamily="34" charset="-120"/>
              </a:rPr>
              <a:t>Có ảnh + log</a:t>
            </a:r>
            <a:endParaRPr lang="en-US" sz="1100" dirty="0"/>
          </a:p>
        </p:txBody>
      </p:sp>
      <p:sp>
        <p:nvSpPr>
          <p:cNvPr id="10" name="assign task 0-0"/>
          <p:cNvSpPr txBox="1"/>
          <p:nvPr/>
        </p:nvSpPr>
        <p:spPr>
          <a:xfrm>
            <a:off x="822960" y="3136392"/>
            <a:ext cx="4892040" cy="566928"/>
          </a:xfrm>
          <a:prstGeom prst="rect">
            <a:avLst/>
          </a:prstGeom>
          <a:noFill/>
          <a:ln/>
        </p:spPr>
        <p:txBody>
          <a:bodyPr wrap="square" lIns="0" tIns="0" rIns="0" bIns="0" rtlCol="0" anchor="t"/>
          <a:lstStyle/>
          <a:p>
            <a:pPr indent="0" marL="0">
              <a:buNone/>
            </a:pPr>
            <a:r>
              <a:rPr lang="en-US" sz="1300" dirty="0">
                <a:solidFill>
                  <a:schemeClr val="tx1"/>
                </a:solidFill>
                <a:latin typeface="Arial" pitchFamily="34" charset="0"/>
                <a:ea typeface="Arial" pitchFamily="34" charset="-122"/>
                <a:cs typeface="Arial" pitchFamily="34" charset="-120"/>
              </a:rPr>
              <a:t>Dashboard giám sát: cảm biến, relay, online/offline, dữ liệu cũ, biểu đồ</a:t>
            </a:r>
            <a:endParaRPr lang="en-US" sz="1300" dirty="0"/>
          </a:p>
        </p:txBody>
      </p:sp>
      <p:sp>
        <p:nvSpPr>
          <p:cNvPr id="11" name="assign who 0-1"/>
          <p:cNvSpPr txBox="1"/>
          <p:nvPr/>
        </p:nvSpPr>
        <p:spPr>
          <a:xfrm>
            <a:off x="822960" y="3886200"/>
            <a:ext cx="1188720" cy="292608"/>
          </a:xfrm>
          <a:prstGeom prst="rect">
            <a:avLst/>
          </a:prstGeom>
          <a:noFill/>
          <a:ln/>
        </p:spPr>
        <p:txBody>
          <a:bodyPr wrap="square" lIns="0" tIns="0" rIns="0" bIns="0" rtlCol="0" anchor="ctr"/>
          <a:lstStyle/>
          <a:p>
            <a:pPr indent="0" marL="0">
              <a:buNone/>
            </a:pPr>
            <a:r>
              <a:rPr lang="en-US" sz="1600" b="1" dirty="0">
                <a:solidFill>
                  <a:schemeClr val="tx2"/>
                </a:solidFill>
                <a:latin typeface="Times New Roman" pitchFamily="34" charset="0"/>
                <a:ea typeface="Times New Roman" pitchFamily="34" charset="-122"/>
                <a:cs typeface="Times New Roman" pitchFamily="34" charset="-120"/>
              </a:rPr>
              <a:t>Người 2</a:t>
            </a:r>
            <a:endParaRPr lang="en-US" sz="1600" dirty="0"/>
          </a:p>
        </p:txBody>
      </p:sp>
      <p:sp>
        <p:nvSpPr>
          <p:cNvPr id="12" name="chip Có ảnh + log"/>
          <p:cNvSpPr/>
          <p:nvPr/>
        </p:nvSpPr>
        <p:spPr>
          <a:xfrm>
            <a:off x="4206240" y="3886200"/>
            <a:ext cx="1508760" cy="292608"/>
          </a:xfrm>
          <a:prstGeom prst="roundRect">
            <a:avLst>
              <a:gd name="adj" fmla="val 50000"/>
            </a:avLst>
          </a:prstGeom>
          <a:solidFill>
            <a:schemeClr val="tx2"/>
          </a:solidFill>
          <a:ln w="12700">
            <a:solidFill>
              <a:schemeClr val="tx2"/>
            </a:solidFill>
            <a:prstDash val="solid"/>
          </a:ln>
        </p:spPr>
      </p:sp>
      <p:sp>
        <p:nvSpPr>
          <p:cNvPr id="13" name="chip text Có ảnh + log"/>
          <p:cNvSpPr txBox="1"/>
          <p:nvPr/>
        </p:nvSpPr>
        <p:spPr>
          <a:xfrm>
            <a:off x="4206240" y="3886200"/>
            <a:ext cx="1508760" cy="292608"/>
          </a:xfrm>
          <a:prstGeom prst="rect">
            <a:avLst/>
          </a:prstGeom>
          <a:noFill/>
          <a:ln/>
        </p:spPr>
        <p:txBody>
          <a:bodyPr wrap="square" lIns="0" tIns="0" rIns="0" bIns="0" rtlCol="0" anchor="ctr"/>
          <a:lstStyle/>
          <a:p>
            <a:pPr algn="ctr" indent="0" marL="0">
              <a:buNone/>
            </a:pPr>
            <a:r>
              <a:rPr lang="en-US" sz="1100" b="1" dirty="0">
                <a:solidFill>
                  <a:schemeClr val="bg1"/>
                </a:solidFill>
                <a:latin typeface="Arial" pitchFamily="34" charset="0"/>
                <a:ea typeface="Arial" pitchFamily="34" charset="-122"/>
                <a:cs typeface="Arial" pitchFamily="34" charset="-120"/>
              </a:rPr>
              <a:t>Có ảnh + log</a:t>
            </a:r>
            <a:endParaRPr lang="en-US" sz="1100" dirty="0"/>
          </a:p>
        </p:txBody>
      </p:sp>
      <p:sp>
        <p:nvSpPr>
          <p:cNvPr id="14" name="assign task 0-1"/>
          <p:cNvSpPr txBox="1"/>
          <p:nvPr/>
        </p:nvSpPr>
        <p:spPr>
          <a:xfrm>
            <a:off x="822960" y="4233672"/>
            <a:ext cx="4892040" cy="566928"/>
          </a:xfrm>
          <a:prstGeom prst="rect">
            <a:avLst/>
          </a:prstGeom>
          <a:noFill/>
          <a:ln/>
        </p:spPr>
        <p:txBody>
          <a:bodyPr wrap="square" lIns="0" tIns="0" rIns="0" bIns="0" rtlCol="0" anchor="t"/>
          <a:lstStyle/>
          <a:p>
            <a:pPr indent="0" marL="0">
              <a:buNone/>
            </a:pPr>
            <a:r>
              <a:rPr lang="en-US" sz="1300" dirty="0">
                <a:solidFill>
                  <a:schemeClr val="tx1"/>
                </a:solidFill>
                <a:latin typeface="Arial" pitchFamily="34" charset="0"/>
                <a:ea typeface="Arial" pitchFamily="34" charset="-122"/>
                <a:cs typeface="Arial" pitchFamily="34" charset="-120"/>
              </a:rPr>
              <a:t>Nút mist/fan/light, AUTO/MANUAL, ACK, khoá nút, đăng nhập dashboard</a:t>
            </a:r>
            <a:endParaRPr lang="en-US" sz="1300" dirty="0"/>
          </a:p>
        </p:txBody>
      </p:sp>
      <p:sp>
        <p:nvSpPr>
          <p:cNvPr id="15" name="assign who 0-2"/>
          <p:cNvSpPr txBox="1"/>
          <p:nvPr/>
        </p:nvSpPr>
        <p:spPr>
          <a:xfrm>
            <a:off x="822960" y="4983480"/>
            <a:ext cx="1188720" cy="292608"/>
          </a:xfrm>
          <a:prstGeom prst="rect">
            <a:avLst/>
          </a:prstGeom>
          <a:noFill/>
          <a:ln/>
        </p:spPr>
        <p:txBody>
          <a:bodyPr wrap="square" lIns="0" tIns="0" rIns="0" bIns="0" rtlCol="0" anchor="ctr"/>
          <a:lstStyle/>
          <a:p>
            <a:pPr indent="0" marL="0">
              <a:buNone/>
            </a:pPr>
            <a:r>
              <a:rPr lang="en-US" sz="1600" b="1" dirty="0">
                <a:solidFill>
                  <a:schemeClr val="tx2"/>
                </a:solidFill>
                <a:latin typeface="Times New Roman" pitchFamily="34" charset="0"/>
                <a:ea typeface="Times New Roman" pitchFamily="34" charset="-122"/>
                <a:cs typeface="Times New Roman" pitchFamily="34" charset="-120"/>
              </a:rPr>
              <a:t>Người 3</a:t>
            </a:r>
            <a:endParaRPr lang="en-US" sz="1600" dirty="0"/>
          </a:p>
        </p:txBody>
      </p:sp>
      <p:sp>
        <p:nvSpPr>
          <p:cNvPr id="16" name="chip Một phần"/>
          <p:cNvSpPr/>
          <p:nvPr/>
        </p:nvSpPr>
        <p:spPr>
          <a:xfrm>
            <a:off x="4206240" y="4983480"/>
            <a:ext cx="1508760" cy="292608"/>
          </a:xfrm>
          <a:prstGeom prst="roundRect">
            <a:avLst>
              <a:gd name="adj" fmla="val 50000"/>
            </a:avLst>
          </a:prstGeom>
          <a:solidFill>
            <a:schemeClr val="accent1"/>
          </a:solidFill>
          <a:ln w="12700">
            <a:solidFill>
              <a:schemeClr val="accent1"/>
            </a:solidFill>
            <a:prstDash val="solid"/>
          </a:ln>
        </p:spPr>
      </p:sp>
      <p:sp>
        <p:nvSpPr>
          <p:cNvPr id="17" name="chip text Một phần"/>
          <p:cNvSpPr txBox="1"/>
          <p:nvPr/>
        </p:nvSpPr>
        <p:spPr>
          <a:xfrm>
            <a:off x="4206240" y="4983480"/>
            <a:ext cx="1508760" cy="292608"/>
          </a:xfrm>
          <a:prstGeom prst="rect">
            <a:avLst/>
          </a:prstGeom>
          <a:noFill/>
          <a:ln/>
        </p:spPr>
        <p:txBody>
          <a:bodyPr wrap="square" lIns="0" tIns="0" rIns="0" bIns="0" rtlCol="0" anchor="ctr"/>
          <a:lstStyle/>
          <a:p>
            <a:pPr algn="ctr" indent="0" marL="0">
              <a:buNone/>
            </a:pPr>
            <a:r>
              <a:rPr lang="en-US" sz="1100" b="1" dirty="0">
                <a:solidFill>
                  <a:schemeClr val="tx1"/>
                </a:solidFill>
                <a:latin typeface="Arial" pitchFamily="34" charset="0"/>
                <a:ea typeface="Arial" pitchFamily="34" charset="-122"/>
                <a:cs typeface="Arial" pitchFamily="34" charset="-120"/>
              </a:rPr>
              <a:t>Một phần</a:t>
            </a:r>
            <a:endParaRPr lang="en-US" sz="1100" dirty="0"/>
          </a:p>
        </p:txBody>
      </p:sp>
      <p:sp>
        <p:nvSpPr>
          <p:cNvPr id="18" name="assign task 0-2"/>
          <p:cNvSpPr txBox="1"/>
          <p:nvPr/>
        </p:nvSpPr>
        <p:spPr>
          <a:xfrm>
            <a:off x="822960" y="5330952"/>
            <a:ext cx="4892040" cy="566928"/>
          </a:xfrm>
          <a:prstGeom prst="rect">
            <a:avLst/>
          </a:prstGeom>
          <a:noFill/>
          <a:ln/>
        </p:spPr>
        <p:txBody>
          <a:bodyPr wrap="square" lIns="0" tIns="0" rIns="0" bIns="0" rtlCol="0" anchor="t"/>
          <a:lstStyle/>
          <a:p>
            <a:pPr indent="0" marL="0">
              <a:buNone/>
            </a:pPr>
            <a:r>
              <a:rPr lang="en-US" sz="1300" dirty="0">
                <a:solidFill>
                  <a:schemeClr val="tx1"/>
                </a:solidFill>
                <a:latin typeface="Arial" pitchFamily="34" charset="0"/>
                <a:ea typeface="Arial" pitchFamily="34" charset="-122"/>
                <a:cs typeface="Arial" pitchFamily="34" charset="-120"/>
              </a:rPr>
              <a:t>Cảnh báo nước thấp / offline / nhiệt độ cao qua dashboard và Telegram</a:t>
            </a:r>
            <a:endParaRPr lang="en-US" sz="1300" dirty="0"/>
          </a:p>
        </p:txBody>
      </p:sp>
      <p:sp>
        <p:nvSpPr>
          <p:cNvPr id="19" name="week panel 7"/>
          <p:cNvSpPr/>
          <p:nvPr/>
        </p:nvSpPr>
        <p:spPr>
          <a:xfrm>
            <a:off x="6190488" y="1691640"/>
            <a:ext cx="5449824" cy="4480560"/>
          </a:xfrm>
          <a:prstGeom prst="roundRect">
            <a:avLst>
              <a:gd name="adj" fmla="val 1633"/>
            </a:avLst>
          </a:prstGeom>
          <a:solidFill>
            <a:schemeClr val="bg2"/>
          </a:solidFill>
          <a:ln w="12700">
            <a:solidFill>
              <a:schemeClr val="accent5"/>
            </a:solidFill>
            <a:prstDash val="solid"/>
          </a:ln>
        </p:spPr>
      </p:sp>
      <p:sp>
        <p:nvSpPr>
          <p:cNvPr id="20" name="week title 7"/>
          <p:cNvSpPr txBox="1"/>
          <p:nvPr/>
        </p:nvSpPr>
        <p:spPr>
          <a:xfrm>
            <a:off x="6464808" y="1856232"/>
            <a:ext cx="4937760" cy="320040"/>
          </a:xfrm>
          <a:prstGeom prst="rect">
            <a:avLst/>
          </a:prstGeom>
          <a:noFill/>
          <a:ln/>
        </p:spPr>
        <p:txBody>
          <a:bodyPr wrap="square" lIns="0" tIns="0" rIns="0" bIns="0" rtlCol="0" anchor="ctr"/>
          <a:lstStyle/>
          <a:p>
            <a:pPr indent="0" marL="0">
              <a:buNone/>
            </a:pPr>
            <a:r>
              <a:rPr lang="en-US" sz="1500" b="1" spc="100" kern="0" dirty="0">
                <a:solidFill>
                  <a:schemeClr val="tx2"/>
                </a:solidFill>
                <a:latin typeface="Times New Roman" pitchFamily="34" charset="0"/>
                <a:ea typeface="Times New Roman" pitchFamily="34" charset="-122"/>
                <a:cs typeface="Times New Roman" pitchFamily="34" charset="-120"/>
              </a:rPr>
              <a:t>TUẦN 7 — BUSINESS RULES</a:t>
            </a:r>
            <a:endParaRPr lang="en-US" sz="1500" dirty="0"/>
          </a:p>
        </p:txBody>
      </p:sp>
      <p:sp>
        <p:nvSpPr>
          <p:cNvPr id="21" name="week goal 7"/>
          <p:cNvSpPr txBox="1"/>
          <p:nvPr/>
        </p:nvSpPr>
        <p:spPr>
          <a:xfrm>
            <a:off x="6464808" y="2194560"/>
            <a:ext cx="4937760" cy="457200"/>
          </a:xfrm>
          <a:prstGeom prst="rect">
            <a:avLst/>
          </a:prstGeom>
          <a:noFill/>
          <a:ln/>
        </p:spPr>
        <p:txBody>
          <a:bodyPr wrap="square" lIns="0" tIns="0" rIns="0" bIns="0" rtlCol="0" anchor="t"/>
          <a:lstStyle/>
          <a:p>
            <a:pPr indent="0" marL="0">
              <a:buNone/>
            </a:pPr>
            <a:r>
              <a:rPr lang="en-US" sz="1200" i="1" dirty="0">
                <a:solidFill>
                  <a:schemeClr val="accent6"/>
                </a:solidFill>
                <a:latin typeface="Arial" pitchFamily="34" charset="0"/>
                <a:ea typeface="Arial" pitchFamily="34" charset="-122"/>
                <a:cs typeface="Arial" pitchFamily="34" charset="-120"/>
              </a:rPr>
              <a:t>≥ 2 automation rule và 1 tình huống bất thường có bằng chứng</a:t>
            </a:r>
            <a:endParaRPr lang="en-US" sz="1200" dirty="0"/>
          </a:p>
        </p:txBody>
      </p:sp>
      <p:sp>
        <p:nvSpPr>
          <p:cNvPr id="22" name="assign who 1-0"/>
          <p:cNvSpPr txBox="1"/>
          <p:nvPr/>
        </p:nvSpPr>
        <p:spPr>
          <a:xfrm>
            <a:off x="6464808" y="2788920"/>
            <a:ext cx="1188720" cy="292608"/>
          </a:xfrm>
          <a:prstGeom prst="rect">
            <a:avLst/>
          </a:prstGeom>
          <a:noFill/>
          <a:ln/>
        </p:spPr>
        <p:txBody>
          <a:bodyPr wrap="square" lIns="0" tIns="0" rIns="0" bIns="0" rtlCol="0" anchor="ctr"/>
          <a:lstStyle/>
          <a:p>
            <a:pPr indent="0" marL="0">
              <a:buNone/>
            </a:pPr>
            <a:r>
              <a:rPr lang="en-US" sz="1600" b="1" dirty="0">
                <a:solidFill>
                  <a:schemeClr val="tx2"/>
                </a:solidFill>
                <a:latin typeface="Times New Roman" pitchFamily="34" charset="0"/>
                <a:ea typeface="Times New Roman" pitchFamily="34" charset="-122"/>
                <a:cs typeface="Times New Roman" pitchFamily="34" charset="-120"/>
              </a:rPr>
              <a:t>Người 1</a:t>
            </a:r>
            <a:endParaRPr lang="en-US" sz="1600" dirty="0"/>
          </a:p>
        </p:txBody>
      </p:sp>
      <p:sp>
        <p:nvSpPr>
          <p:cNvPr id="23" name="chip Có event log"/>
          <p:cNvSpPr/>
          <p:nvPr/>
        </p:nvSpPr>
        <p:spPr>
          <a:xfrm>
            <a:off x="9848088" y="2788920"/>
            <a:ext cx="1508760" cy="292608"/>
          </a:xfrm>
          <a:prstGeom prst="roundRect">
            <a:avLst>
              <a:gd name="adj" fmla="val 50000"/>
            </a:avLst>
          </a:prstGeom>
          <a:solidFill>
            <a:schemeClr val="tx2"/>
          </a:solidFill>
          <a:ln w="12700">
            <a:solidFill>
              <a:schemeClr val="tx2"/>
            </a:solidFill>
            <a:prstDash val="solid"/>
          </a:ln>
        </p:spPr>
      </p:sp>
      <p:sp>
        <p:nvSpPr>
          <p:cNvPr id="24" name="chip text Có event log"/>
          <p:cNvSpPr txBox="1"/>
          <p:nvPr/>
        </p:nvSpPr>
        <p:spPr>
          <a:xfrm>
            <a:off x="9848088" y="2788920"/>
            <a:ext cx="1508760" cy="292608"/>
          </a:xfrm>
          <a:prstGeom prst="rect">
            <a:avLst/>
          </a:prstGeom>
          <a:noFill/>
          <a:ln/>
        </p:spPr>
        <p:txBody>
          <a:bodyPr wrap="square" lIns="0" tIns="0" rIns="0" bIns="0" rtlCol="0" anchor="ctr"/>
          <a:lstStyle/>
          <a:p>
            <a:pPr algn="ctr" indent="0" marL="0">
              <a:buNone/>
            </a:pPr>
            <a:r>
              <a:rPr lang="en-US" sz="1100" b="1" dirty="0">
                <a:solidFill>
                  <a:schemeClr val="bg1"/>
                </a:solidFill>
                <a:latin typeface="Arial" pitchFamily="34" charset="0"/>
                <a:ea typeface="Arial" pitchFamily="34" charset="-122"/>
                <a:cs typeface="Arial" pitchFamily="34" charset="-120"/>
              </a:rPr>
              <a:t>Có event log</a:t>
            </a:r>
            <a:endParaRPr lang="en-US" sz="1100" dirty="0"/>
          </a:p>
        </p:txBody>
      </p:sp>
      <p:sp>
        <p:nvSpPr>
          <p:cNvPr id="25" name="assign task 1-0"/>
          <p:cNvSpPr txBox="1"/>
          <p:nvPr/>
        </p:nvSpPr>
        <p:spPr>
          <a:xfrm>
            <a:off x="6464808" y="3136392"/>
            <a:ext cx="4892040" cy="566928"/>
          </a:xfrm>
          <a:prstGeom prst="rect">
            <a:avLst/>
          </a:prstGeom>
          <a:noFill/>
          <a:ln/>
        </p:spPr>
        <p:txBody>
          <a:bodyPr wrap="square" lIns="0" tIns="0" rIns="0" bIns="0" rtlCol="0" anchor="t"/>
          <a:lstStyle/>
          <a:p>
            <a:pPr indent="0" marL="0">
              <a:buNone/>
            </a:pPr>
            <a:r>
              <a:rPr lang="en-US" sz="1300" dirty="0">
                <a:solidFill>
                  <a:schemeClr val="tx1"/>
                </a:solidFill>
                <a:latin typeface="Arial" pitchFamily="34" charset="0"/>
                <a:ea typeface="Arial" pitchFamily="34" charset="-122"/>
                <a:cs typeface="Arial" pitchFamily="34" charset="-120"/>
              </a:rPr>
              <a:t>Rule đèn theo khung giờ + giới hạn/ngày; rule quạt sau chu kỳ phun</a:t>
            </a:r>
            <a:endParaRPr lang="en-US" sz="1300" dirty="0"/>
          </a:p>
        </p:txBody>
      </p:sp>
      <p:sp>
        <p:nvSpPr>
          <p:cNvPr id="26" name="assign who 1-1"/>
          <p:cNvSpPr txBox="1"/>
          <p:nvPr/>
        </p:nvSpPr>
        <p:spPr>
          <a:xfrm>
            <a:off x="6464808" y="3886200"/>
            <a:ext cx="1188720" cy="292608"/>
          </a:xfrm>
          <a:prstGeom prst="rect">
            <a:avLst/>
          </a:prstGeom>
          <a:noFill/>
          <a:ln/>
        </p:spPr>
        <p:txBody>
          <a:bodyPr wrap="square" lIns="0" tIns="0" rIns="0" bIns="0" rtlCol="0" anchor="ctr"/>
          <a:lstStyle/>
          <a:p>
            <a:pPr indent="0" marL="0">
              <a:buNone/>
            </a:pPr>
            <a:r>
              <a:rPr lang="en-US" sz="1600" b="1" dirty="0">
                <a:solidFill>
                  <a:schemeClr val="tx2"/>
                </a:solidFill>
                <a:latin typeface="Times New Roman" pitchFamily="34" charset="0"/>
                <a:ea typeface="Times New Roman" pitchFamily="34" charset="-122"/>
                <a:cs typeface="Times New Roman" pitchFamily="34" charset="-120"/>
              </a:rPr>
              <a:t>Người 2</a:t>
            </a:r>
            <a:endParaRPr lang="en-US" sz="1600" dirty="0"/>
          </a:p>
        </p:txBody>
      </p:sp>
      <p:sp>
        <p:nvSpPr>
          <p:cNvPr id="27" name="chip Có log + ảnh"/>
          <p:cNvSpPr/>
          <p:nvPr/>
        </p:nvSpPr>
        <p:spPr>
          <a:xfrm>
            <a:off x="9848088" y="3886200"/>
            <a:ext cx="1508760" cy="292608"/>
          </a:xfrm>
          <a:prstGeom prst="roundRect">
            <a:avLst>
              <a:gd name="adj" fmla="val 50000"/>
            </a:avLst>
          </a:prstGeom>
          <a:solidFill>
            <a:schemeClr val="tx2"/>
          </a:solidFill>
          <a:ln w="12700">
            <a:solidFill>
              <a:schemeClr val="tx2"/>
            </a:solidFill>
            <a:prstDash val="solid"/>
          </a:ln>
        </p:spPr>
      </p:sp>
      <p:sp>
        <p:nvSpPr>
          <p:cNvPr id="28" name="chip text Có log + ảnh"/>
          <p:cNvSpPr txBox="1"/>
          <p:nvPr/>
        </p:nvSpPr>
        <p:spPr>
          <a:xfrm>
            <a:off x="9848088" y="3886200"/>
            <a:ext cx="1508760" cy="292608"/>
          </a:xfrm>
          <a:prstGeom prst="rect">
            <a:avLst/>
          </a:prstGeom>
          <a:noFill/>
          <a:ln/>
        </p:spPr>
        <p:txBody>
          <a:bodyPr wrap="square" lIns="0" tIns="0" rIns="0" bIns="0" rtlCol="0" anchor="ctr"/>
          <a:lstStyle/>
          <a:p>
            <a:pPr algn="ctr" indent="0" marL="0">
              <a:buNone/>
            </a:pPr>
            <a:r>
              <a:rPr lang="en-US" sz="1100" b="1" dirty="0">
                <a:solidFill>
                  <a:schemeClr val="bg1"/>
                </a:solidFill>
                <a:latin typeface="Arial" pitchFamily="34" charset="0"/>
                <a:ea typeface="Arial" pitchFamily="34" charset="-122"/>
                <a:cs typeface="Arial" pitchFamily="34" charset="-120"/>
              </a:rPr>
              <a:t>Có log + ảnh</a:t>
            </a:r>
            <a:endParaRPr lang="en-US" sz="1100" dirty="0"/>
          </a:p>
        </p:txBody>
      </p:sp>
      <p:sp>
        <p:nvSpPr>
          <p:cNvPr id="29" name="assign task 1-1"/>
          <p:cNvSpPr txBox="1"/>
          <p:nvPr/>
        </p:nvSpPr>
        <p:spPr>
          <a:xfrm>
            <a:off x="6464808" y="4233672"/>
            <a:ext cx="4892040" cy="566928"/>
          </a:xfrm>
          <a:prstGeom prst="rect">
            <a:avLst/>
          </a:prstGeom>
          <a:noFill/>
          <a:ln/>
        </p:spPr>
        <p:txBody>
          <a:bodyPr wrap="square" lIns="0" tIns="0" rIns="0" bIns="0" rtlCol="0" anchor="t"/>
          <a:lstStyle/>
          <a:p>
            <a:pPr indent="0" marL="0">
              <a:buNone/>
            </a:pPr>
            <a:r>
              <a:rPr lang="en-US" sz="1300" dirty="0">
                <a:solidFill>
                  <a:schemeClr val="tx1"/>
                </a:solidFill>
                <a:latin typeface="Arial" pitchFamily="34" charset="0"/>
                <a:ea typeface="Arial" pitchFamily="34" charset="-122"/>
                <a:cs typeface="Arial" pitchFamily="34" charset="-120"/>
              </a:rPr>
              <a:t>Chính sách ban đêm; DHT lỗi, nước thấp, mất kết nối, lệnh không ACK</a:t>
            </a:r>
            <a:endParaRPr lang="en-US" sz="1300" dirty="0"/>
          </a:p>
        </p:txBody>
      </p:sp>
      <p:sp>
        <p:nvSpPr>
          <p:cNvPr id="30" name="assign who 1-2"/>
          <p:cNvSpPr txBox="1"/>
          <p:nvPr/>
        </p:nvSpPr>
        <p:spPr>
          <a:xfrm>
            <a:off x="6464808" y="4983480"/>
            <a:ext cx="1188720" cy="292608"/>
          </a:xfrm>
          <a:prstGeom prst="rect">
            <a:avLst/>
          </a:prstGeom>
          <a:noFill/>
          <a:ln/>
        </p:spPr>
        <p:txBody>
          <a:bodyPr wrap="square" lIns="0" tIns="0" rIns="0" bIns="0" rtlCol="0" anchor="ctr"/>
          <a:lstStyle/>
          <a:p>
            <a:pPr indent="0" marL="0">
              <a:buNone/>
            </a:pPr>
            <a:r>
              <a:rPr lang="en-US" sz="1600" b="1" dirty="0">
                <a:solidFill>
                  <a:schemeClr val="tx2"/>
                </a:solidFill>
                <a:latin typeface="Times New Roman" pitchFamily="34" charset="0"/>
                <a:ea typeface="Times New Roman" pitchFamily="34" charset="-122"/>
                <a:cs typeface="Times New Roman" pitchFamily="34" charset="-120"/>
              </a:rPr>
              <a:t>Người 3</a:t>
            </a:r>
            <a:endParaRPr lang="en-US" sz="1600" dirty="0"/>
          </a:p>
        </p:txBody>
      </p:sp>
      <p:sp>
        <p:nvSpPr>
          <p:cNvPr id="31" name="chip Có tài liệu"/>
          <p:cNvSpPr/>
          <p:nvPr/>
        </p:nvSpPr>
        <p:spPr>
          <a:xfrm>
            <a:off x="9848088" y="4983480"/>
            <a:ext cx="1508760" cy="292608"/>
          </a:xfrm>
          <a:prstGeom prst="roundRect">
            <a:avLst>
              <a:gd name="adj" fmla="val 50000"/>
            </a:avLst>
          </a:prstGeom>
          <a:solidFill>
            <a:schemeClr val="accent1"/>
          </a:solidFill>
          <a:ln w="12700">
            <a:solidFill>
              <a:schemeClr val="accent1"/>
            </a:solidFill>
            <a:prstDash val="solid"/>
          </a:ln>
        </p:spPr>
      </p:sp>
      <p:sp>
        <p:nvSpPr>
          <p:cNvPr id="32" name="chip text Có tài liệu"/>
          <p:cNvSpPr txBox="1"/>
          <p:nvPr/>
        </p:nvSpPr>
        <p:spPr>
          <a:xfrm>
            <a:off x="9848088" y="4983480"/>
            <a:ext cx="1508760" cy="292608"/>
          </a:xfrm>
          <a:prstGeom prst="rect">
            <a:avLst/>
          </a:prstGeom>
          <a:noFill/>
          <a:ln/>
        </p:spPr>
        <p:txBody>
          <a:bodyPr wrap="square" lIns="0" tIns="0" rIns="0" bIns="0" rtlCol="0" anchor="ctr"/>
          <a:lstStyle/>
          <a:p>
            <a:pPr algn="ctr" indent="0" marL="0">
              <a:buNone/>
            </a:pPr>
            <a:r>
              <a:rPr lang="en-US" sz="1100" b="1" dirty="0">
                <a:solidFill>
                  <a:schemeClr val="tx1"/>
                </a:solidFill>
                <a:latin typeface="Arial" pitchFamily="34" charset="0"/>
                <a:ea typeface="Arial" pitchFamily="34" charset="-122"/>
                <a:cs typeface="Arial" pitchFamily="34" charset="-120"/>
              </a:rPr>
              <a:t>Có tài liệu</a:t>
            </a:r>
            <a:endParaRPr lang="en-US" sz="1100" dirty="0"/>
          </a:p>
        </p:txBody>
      </p:sp>
      <p:sp>
        <p:nvSpPr>
          <p:cNvPr id="33" name="assign task 1-2"/>
          <p:cNvSpPr txBox="1"/>
          <p:nvPr/>
        </p:nvSpPr>
        <p:spPr>
          <a:xfrm>
            <a:off x="6464808" y="5330952"/>
            <a:ext cx="4892040" cy="566928"/>
          </a:xfrm>
          <a:prstGeom prst="rect">
            <a:avLst/>
          </a:prstGeom>
          <a:noFill/>
          <a:ln/>
        </p:spPr>
        <p:txBody>
          <a:bodyPr wrap="square" lIns="0" tIns="0" rIns="0" bIns="0" rtlCol="0" anchor="t"/>
          <a:lstStyle/>
          <a:p>
            <a:pPr indent="0" marL="0">
              <a:buNone/>
            </a:pPr>
            <a:r>
              <a:rPr lang="en-US" sz="1300" dirty="0">
                <a:solidFill>
                  <a:schemeClr val="tx1"/>
                </a:solidFill>
                <a:latin typeface="Arial" pitchFamily="34" charset="0"/>
                <a:ea typeface="Arial" pitchFamily="34" charset="-122"/>
                <a:cs typeface="Arial" pitchFamily="34" charset="-120"/>
              </a:rPr>
              <a:t>Ma trận kiểm thử, phân định mô phỏng / board thật</a:t>
            </a:r>
            <a:endParaRPr lang="en-US" sz="1300" dirty="0"/>
          </a:p>
        </p:txBody>
      </p:sp>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6"/>
                </a:solidFill>
                <a:latin typeface="Arial"/>
                <a:ea typeface="Arial"/>
                <a:cs typeface="Aria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713232"/>
          </a:xfrm>
          <a:prstGeom prst="rect">
            <a:avLst/>
          </a:prstGeom>
          <a:noFill/>
          <a:ln/>
        </p:spPr>
        <p:txBody>
          <a:bodyPr wrap="square" lIns="0" tIns="0" rIns="0" bIns="0" rtlCol="0" anchor="b"/>
          <a:lstStyle/>
          <a:p>
            <a:pPr algn="l" indent="0" marL="0">
              <a:buNone/>
            </a:pPr>
            <a:r>
              <a:rPr lang="en-US" sz="3400" b="1" dirty="0">
                <a:solidFill>
                  <a:schemeClr val="tx2"/>
                </a:solidFill>
                <a:latin typeface="Times New Roman" pitchFamily="34" charset="0"/>
                <a:ea typeface="Times New Roman" pitchFamily="34" charset="-122"/>
                <a:cs typeface="Times New Roman" pitchFamily="34" charset="-120"/>
              </a:rPr>
              <a:t>Kiến trúc và luồng dữ liệu</a:t>
            </a:r>
            <a:endParaRPr lang="en-US" sz="3400" dirty="0"/>
          </a:p>
        </p:txBody>
      </p:sp>
      <p:sp>
        <p:nvSpPr>
          <p:cNvPr id="3" name="Text 0"/>
          <p:cNvSpPr/>
          <p:nvPr>
            <p:ph idx="101" type="body" hasCustomPrompt="1"/>
          </p:nvPr>
        </p:nvSpPr>
        <p:spPr>
          <a:xfrm>
            <a:off x="548640" y="1097280"/>
            <a:ext cx="11091672" cy="384048"/>
          </a:xfrm>
          <a:prstGeom prst="rect">
            <a:avLst/>
          </a:prstGeom>
          <a:noFill/>
          <a:ln/>
        </p:spPr>
        <p:txBody>
          <a:bodyPr wrap="square" lIns="0" tIns="0" rIns="0" bIns="0" rtlCol="0" anchor="t"/>
          <a:lstStyle/>
          <a:p>
            <a:pPr algn="l" indent="0" marL="0">
              <a:buNone/>
            </a:pPr>
            <a:r>
              <a:rPr lang="en-US" sz="1600" i="1" dirty="0">
                <a:solidFill>
                  <a:schemeClr val="accent6"/>
                </a:solidFill>
                <a:latin typeface="Times New Roman" pitchFamily="34" charset="0"/>
                <a:ea typeface="Times New Roman" pitchFamily="34" charset="-122"/>
                <a:cs typeface="Times New Roman" pitchFamily="34" charset="-120"/>
              </a:rPr>
              <a:t>ESP32 (Wokwi) ⇄ MQTT broker ⇄ Node-RED — mỗi tầng giữ một trách nhiệm rõ ràng</a:t>
            </a:r>
            <a:endParaRPr lang="en-US" sz="1600" dirty="0"/>
          </a:p>
        </p:txBody>
      </p:sp>
      <p:sp>
        <p:nvSpPr>
          <p:cNvPr id="4" name="arch ESP32 · Wokwi"/>
          <p:cNvSpPr/>
          <p:nvPr/>
        </p:nvSpPr>
        <p:spPr>
          <a:xfrm>
            <a:off x="548640" y="1783080"/>
            <a:ext cx="3502152" cy="1508760"/>
          </a:xfrm>
          <a:prstGeom prst="roundRect">
            <a:avLst>
              <a:gd name="adj" fmla="val 4848"/>
            </a:avLst>
          </a:prstGeom>
          <a:solidFill>
            <a:schemeClr val="bg2"/>
          </a:solidFill>
          <a:ln w="12700">
            <a:solidFill>
              <a:schemeClr val="accent5"/>
            </a:solidFill>
            <a:prstDash val="solid"/>
          </a:ln>
        </p:spPr>
      </p:sp>
      <p:sp>
        <p:nvSpPr>
          <p:cNvPr id="5" name="arch ESP32 · Wokwi circle"/>
          <p:cNvSpPr/>
          <p:nvPr/>
        </p:nvSpPr>
        <p:spPr>
          <a:xfrm>
            <a:off x="777240" y="1993392"/>
            <a:ext cx="566928" cy="566928"/>
          </a:xfrm>
          <a:prstGeom prst="ellipse">
            <a:avLst/>
          </a:prstGeom>
          <a:solidFill>
            <a:schemeClr val="tx2"/>
          </a:solidFill>
          <a:ln w="12700">
            <a:solidFill>
              <a:schemeClr val="tx2"/>
            </a:solidFill>
            <a:prstDash val="solid"/>
          </a:ln>
        </p:spPr>
      </p:sp>
      <p:pic>
        <p:nvPicPr>
          <p:cNvPr id="6" name="arch ESP32 · Wokwi icon" descr="preencoded.png">    </p:cNvPr>
          <p:cNvPicPr>
            <a:picLocks noChangeAspect="1"/>
          </p:cNvPicPr>
          <p:nvPr/>
        </p:nvPicPr>
        <p:blipFill>
          <a:blip r:embed="rId1"/>
          <a:stretch>
            <a:fillRect/>
          </a:stretch>
        </p:blipFill>
        <p:spPr>
          <a:xfrm>
            <a:off x="890626" y="2106778"/>
            <a:ext cx="340157" cy="340157"/>
          </a:xfrm>
          <a:prstGeom prst="rect">
            <a:avLst/>
          </a:prstGeom>
        </p:spPr>
      </p:pic>
      <p:sp>
        <p:nvSpPr>
          <p:cNvPr id="7" name="arch title ESP32 · Wokwi"/>
          <p:cNvSpPr txBox="1"/>
          <p:nvPr/>
        </p:nvSpPr>
        <p:spPr>
          <a:xfrm>
            <a:off x="1508760" y="1965960"/>
            <a:ext cx="2423160" cy="365760"/>
          </a:xfrm>
          <a:prstGeom prst="rect">
            <a:avLst/>
          </a:prstGeom>
          <a:noFill/>
          <a:ln/>
        </p:spPr>
        <p:txBody>
          <a:bodyPr wrap="square" lIns="0" tIns="0" rIns="0" bIns="0" rtlCol="0" anchor="ctr"/>
          <a:lstStyle/>
          <a:p>
            <a:pPr indent="0" marL="0">
              <a:buNone/>
            </a:pPr>
            <a:r>
              <a:rPr lang="en-US" sz="1800" b="1" dirty="0">
                <a:solidFill>
                  <a:schemeClr val="tx2"/>
                </a:solidFill>
                <a:latin typeface="Times New Roman" pitchFamily="34" charset="0"/>
                <a:ea typeface="Times New Roman" pitchFamily="34" charset="-122"/>
                <a:cs typeface="Times New Roman" pitchFamily="34" charset="-120"/>
              </a:rPr>
              <a:t>ESP32 · Wokwi</a:t>
            </a:r>
            <a:endParaRPr lang="en-US" sz="1800" dirty="0"/>
          </a:p>
        </p:txBody>
      </p:sp>
      <p:sp>
        <p:nvSpPr>
          <p:cNvPr id="8" name="arch desc ESP32 · Wokwi"/>
          <p:cNvSpPr txBox="1"/>
          <p:nvPr/>
        </p:nvSpPr>
        <p:spPr>
          <a:xfrm>
            <a:off x="1508760" y="2359152"/>
            <a:ext cx="2423160" cy="822960"/>
          </a:xfrm>
          <a:prstGeom prst="rect">
            <a:avLst/>
          </a:prstGeom>
          <a:noFill/>
          <a:ln/>
        </p:spPr>
        <p:txBody>
          <a:bodyPr wrap="square" lIns="0" tIns="0" rIns="0" bIns="0" rtlCol="0" anchor="t"/>
          <a:lstStyle/>
          <a:p>
            <a:pPr indent="0" marL="0">
              <a:buNone/>
            </a:pPr>
            <a:r>
              <a:rPr lang="en-US" sz="1200" dirty="0">
                <a:solidFill>
                  <a:schemeClr val="tx1"/>
                </a:solidFill>
                <a:latin typeface="Arial" pitchFamily="34" charset="0"/>
                <a:ea typeface="Arial" pitchFamily="34" charset="-122"/>
                <a:cs typeface="Arial" pitchFamily="34" charset="-120"/>
              </a:rPr>
              <a:t>Đọc cảm biến, state machine, khoá an toàn, relay</a:t>
            </a:r>
            <a:endParaRPr lang="en-US" sz="1200" dirty="0"/>
          </a:p>
        </p:txBody>
      </p:sp>
      <p:sp>
        <p:nvSpPr>
          <p:cNvPr id="9" name="arch MQTT broker"/>
          <p:cNvSpPr/>
          <p:nvPr/>
        </p:nvSpPr>
        <p:spPr>
          <a:xfrm>
            <a:off x="4343400" y="1783080"/>
            <a:ext cx="3502152" cy="1508760"/>
          </a:xfrm>
          <a:prstGeom prst="roundRect">
            <a:avLst>
              <a:gd name="adj" fmla="val 4848"/>
            </a:avLst>
          </a:prstGeom>
          <a:solidFill>
            <a:schemeClr val="bg2"/>
          </a:solidFill>
          <a:ln w="12700">
            <a:solidFill>
              <a:schemeClr val="accent5"/>
            </a:solidFill>
            <a:prstDash val="solid"/>
          </a:ln>
        </p:spPr>
      </p:sp>
      <p:sp>
        <p:nvSpPr>
          <p:cNvPr id="10" name="arch MQTT broker circle"/>
          <p:cNvSpPr/>
          <p:nvPr/>
        </p:nvSpPr>
        <p:spPr>
          <a:xfrm>
            <a:off x="4572000" y="1993392"/>
            <a:ext cx="566928" cy="566928"/>
          </a:xfrm>
          <a:prstGeom prst="ellipse">
            <a:avLst/>
          </a:prstGeom>
          <a:solidFill>
            <a:schemeClr val="tx2"/>
          </a:solidFill>
          <a:ln w="12700">
            <a:solidFill>
              <a:schemeClr val="tx2"/>
            </a:solidFill>
            <a:prstDash val="solid"/>
          </a:ln>
        </p:spPr>
      </p:sp>
      <p:pic>
        <p:nvPicPr>
          <p:cNvPr id="11" name="arch MQTT broker icon" descr="preencoded.png">    </p:cNvPr>
          <p:cNvPicPr>
            <a:picLocks noChangeAspect="1"/>
          </p:cNvPicPr>
          <p:nvPr/>
        </p:nvPicPr>
        <p:blipFill>
          <a:blip r:embed="rId2"/>
          <a:stretch>
            <a:fillRect/>
          </a:stretch>
        </p:blipFill>
        <p:spPr>
          <a:xfrm>
            <a:off x="4685386" y="2106778"/>
            <a:ext cx="340157" cy="340157"/>
          </a:xfrm>
          <a:prstGeom prst="rect">
            <a:avLst/>
          </a:prstGeom>
        </p:spPr>
      </p:pic>
      <p:sp>
        <p:nvSpPr>
          <p:cNvPr id="12" name="arch title MQTT broker"/>
          <p:cNvSpPr txBox="1"/>
          <p:nvPr/>
        </p:nvSpPr>
        <p:spPr>
          <a:xfrm>
            <a:off x="5303520" y="1965960"/>
            <a:ext cx="2423160" cy="365760"/>
          </a:xfrm>
          <a:prstGeom prst="rect">
            <a:avLst/>
          </a:prstGeom>
          <a:noFill/>
          <a:ln/>
        </p:spPr>
        <p:txBody>
          <a:bodyPr wrap="square" lIns="0" tIns="0" rIns="0" bIns="0" rtlCol="0" anchor="ctr"/>
          <a:lstStyle/>
          <a:p>
            <a:pPr indent="0" marL="0">
              <a:buNone/>
            </a:pPr>
            <a:r>
              <a:rPr lang="en-US" sz="1800" b="1" dirty="0">
                <a:solidFill>
                  <a:schemeClr val="tx2"/>
                </a:solidFill>
                <a:latin typeface="Times New Roman" pitchFamily="34" charset="0"/>
                <a:ea typeface="Times New Roman" pitchFamily="34" charset="-122"/>
                <a:cs typeface="Times New Roman" pitchFamily="34" charset="-120"/>
              </a:rPr>
              <a:t>MQTT broker</a:t>
            </a:r>
            <a:endParaRPr lang="en-US" sz="1800" dirty="0"/>
          </a:p>
        </p:txBody>
      </p:sp>
      <p:sp>
        <p:nvSpPr>
          <p:cNvPr id="13" name="arch desc MQTT broker"/>
          <p:cNvSpPr txBox="1"/>
          <p:nvPr/>
        </p:nvSpPr>
        <p:spPr>
          <a:xfrm>
            <a:off x="5303520" y="2359152"/>
            <a:ext cx="2423160" cy="822960"/>
          </a:xfrm>
          <a:prstGeom prst="rect">
            <a:avLst/>
          </a:prstGeom>
          <a:noFill/>
          <a:ln/>
        </p:spPr>
        <p:txBody>
          <a:bodyPr wrap="square" lIns="0" tIns="0" rIns="0" bIns="0" rtlCol="0" anchor="t"/>
          <a:lstStyle/>
          <a:p>
            <a:pPr indent="0" marL="0">
              <a:buNone/>
            </a:pPr>
            <a:r>
              <a:rPr lang="en-US" sz="1200" dirty="0">
                <a:solidFill>
                  <a:schemeClr val="tx1"/>
                </a:solidFill>
                <a:latin typeface="Arial" pitchFamily="34" charset="0"/>
                <a:ea typeface="Arial" pitchFamily="34" charset="-122"/>
                <a:cs typeface="Arial" pitchFamily="34" charset="-120"/>
              </a:rPr>
              <a:t>broker.emqx.io:1883 · topic garden/orchid/orchid-01/…</a:t>
            </a:r>
            <a:endParaRPr lang="en-US" sz="1200" dirty="0"/>
          </a:p>
        </p:txBody>
      </p:sp>
      <p:sp>
        <p:nvSpPr>
          <p:cNvPr id="14" name="arch Node-RED"/>
          <p:cNvSpPr/>
          <p:nvPr/>
        </p:nvSpPr>
        <p:spPr>
          <a:xfrm>
            <a:off x="8138160" y="1783080"/>
            <a:ext cx="3502152" cy="1508760"/>
          </a:xfrm>
          <a:prstGeom prst="roundRect">
            <a:avLst>
              <a:gd name="adj" fmla="val 4848"/>
            </a:avLst>
          </a:prstGeom>
          <a:solidFill>
            <a:schemeClr val="bg2"/>
          </a:solidFill>
          <a:ln w="12700">
            <a:solidFill>
              <a:schemeClr val="accent5"/>
            </a:solidFill>
            <a:prstDash val="solid"/>
          </a:ln>
        </p:spPr>
      </p:sp>
      <p:sp>
        <p:nvSpPr>
          <p:cNvPr id="15" name="arch Node-RED circle"/>
          <p:cNvSpPr/>
          <p:nvPr/>
        </p:nvSpPr>
        <p:spPr>
          <a:xfrm>
            <a:off x="8366760" y="1993392"/>
            <a:ext cx="566928" cy="566928"/>
          </a:xfrm>
          <a:prstGeom prst="ellipse">
            <a:avLst/>
          </a:prstGeom>
          <a:solidFill>
            <a:schemeClr val="tx2"/>
          </a:solidFill>
          <a:ln w="12700">
            <a:solidFill>
              <a:schemeClr val="tx2"/>
            </a:solidFill>
            <a:prstDash val="solid"/>
          </a:ln>
        </p:spPr>
      </p:sp>
      <p:pic>
        <p:nvPicPr>
          <p:cNvPr id="16" name="arch Node-RED icon" descr="preencoded.png">    </p:cNvPr>
          <p:cNvPicPr>
            <a:picLocks noChangeAspect="1"/>
          </p:cNvPicPr>
          <p:nvPr/>
        </p:nvPicPr>
        <p:blipFill>
          <a:blip r:embed="rId3"/>
          <a:stretch>
            <a:fillRect/>
          </a:stretch>
        </p:blipFill>
        <p:spPr>
          <a:xfrm>
            <a:off x="8480146" y="2106778"/>
            <a:ext cx="340157" cy="340157"/>
          </a:xfrm>
          <a:prstGeom prst="rect">
            <a:avLst/>
          </a:prstGeom>
        </p:spPr>
      </p:pic>
      <p:sp>
        <p:nvSpPr>
          <p:cNvPr id="17" name="arch title Node-RED"/>
          <p:cNvSpPr txBox="1"/>
          <p:nvPr/>
        </p:nvSpPr>
        <p:spPr>
          <a:xfrm>
            <a:off x="9098280" y="1965960"/>
            <a:ext cx="2423160" cy="365760"/>
          </a:xfrm>
          <a:prstGeom prst="rect">
            <a:avLst/>
          </a:prstGeom>
          <a:noFill/>
          <a:ln/>
        </p:spPr>
        <p:txBody>
          <a:bodyPr wrap="square" lIns="0" tIns="0" rIns="0" bIns="0" rtlCol="0" anchor="ctr"/>
          <a:lstStyle/>
          <a:p>
            <a:pPr indent="0" marL="0">
              <a:buNone/>
            </a:pPr>
            <a:r>
              <a:rPr lang="en-US" sz="1800" b="1" dirty="0">
                <a:solidFill>
                  <a:schemeClr val="tx2"/>
                </a:solidFill>
                <a:latin typeface="Times New Roman" pitchFamily="34" charset="0"/>
                <a:ea typeface="Times New Roman" pitchFamily="34" charset="-122"/>
                <a:cs typeface="Times New Roman" pitchFamily="34" charset="-120"/>
              </a:rPr>
              <a:t>Node-RED</a:t>
            </a:r>
            <a:endParaRPr lang="en-US" sz="1800" dirty="0"/>
          </a:p>
        </p:txBody>
      </p:sp>
      <p:sp>
        <p:nvSpPr>
          <p:cNvPr id="18" name="arch desc Node-RED"/>
          <p:cNvSpPr txBox="1"/>
          <p:nvPr/>
        </p:nvSpPr>
        <p:spPr>
          <a:xfrm>
            <a:off x="9098280" y="2359152"/>
            <a:ext cx="2423160" cy="822960"/>
          </a:xfrm>
          <a:prstGeom prst="rect">
            <a:avLst/>
          </a:prstGeom>
          <a:noFill/>
          <a:ln/>
        </p:spPr>
        <p:txBody>
          <a:bodyPr wrap="square" lIns="0" tIns="0" rIns="0" bIns="0" rtlCol="0" anchor="t"/>
          <a:lstStyle/>
          <a:p>
            <a:pPr indent="0" marL="0">
              <a:buNone/>
            </a:pPr>
            <a:r>
              <a:rPr lang="en-US" sz="1200" dirty="0">
                <a:solidFill>
                  <a:schemeClr val="tx1"/>
                </a:solidFill>
                <a:latin typeface="Arial" pitchFamily="34" charset="0"/>
                <a:ea typeface="Arial" pitchFamily="34" charset="-122"/>
                <a:cs typeface="Arial" pitchFamily="34" charset="-120"/>
              </a:rPr>
              <a:t>Gateway lệnh + ACK, rule tuần 7, fault monitor → dashboard có đăng nhập và Telegram nhóm</a:t>
            </a:r>
            <a:endParaRPr lang="en-US" sz="1200" dirty="0"/>
          </a:p>
        </p:txBody>
      </p:sp>
      <p:sp>
        <p:nvSpPr>
          <p:cNvPr id="19" name="uplink 1"/>
          <p:cNvSpPr/>
          <p:nvPr/>
        </p:nvSpPr>
        <p:spPr>
          <a:xfrm>
            <a:off x="4069080" y="2212848"/>
            <a:ext cx="256032" cy="0"/>
          </a:xfrm>
          <a:prstGeom prst="line">
            <a:avLst/>
          </a:prstGeom>
          <a:noFill/>
          <a:ln w="25400">
            <a:solidFill>
              <a:schemeClr val="accent1"/>
            </a:solidFill>
            <a:prstDash val="solid"/>
            <a:tailEnd type="triangle"/>
          </a:ln>
        </p:spPr>
      </p:sp>
      <p:sp>
        <p:nvSpPr>
          <p:cNvPr id="20" name="downlink 1"/>
          <p:cNvSpPr/>
          <p:nvPr/>
        </p:nvSpPr>
        <p:spPr>
          <a:xfrm flipH="1">
            <a:off x="4069080" y="2852928"/>
            <a:ext cx="256032" cy="0"/>
          </a:xfrm>
          <a:prstGeom prst="line">
            <a:avLst/>
          </a:prstGeom>
          <a:noFill/>
          <a:ln w="25400">
            <a:solidFill>
              <a:schemeClr val="tx2"/>
            </a:solidFill>
            <a:prstDash val="solid"/>
            <a:tailEnd type="triangle"/>
          </a:ln>
        </p:spPr>
      </p:sp>
      <p:sp>
        <p:nvSpPr>
          <p:cNvPr id="21" name="uplink 2"/>
          <p:cNvSpPr/>
          <p:nvPr/>
        </p:nvSpPr>
        <p:spPr>
          <a:xfrm>
            <a:off x="7863840" y="2212848"/>
            <a:ext cx="256032" cy="0"/>
          </a:xfrm>
          <a:prstGeom prst="line">
            <a:avLst/>
          </a:prstGeom>
          <a:noFill/>
          <a:ln w="25400">
            <a:solidFill>
              <a:schemeClr val="accent1"/>
            </a:solidFill>
            <a:prstDash val="solid"/>
            <a:tailEnd type="triangle"/>
          </a:ln>
        </p:spPr>
      </p:sp>
      <p:sp>
        <p:nvSpPr>
          <p:cNvPr id="22" name="downlink 2"/>
          <p:cNvSpPr/>
          <p:nvPr/>
        </p:nvSpPr>
        <p:spPr>
          <a:xfrm flipH="1">
            <a:off x="7863840" y="2852928"/>
            <a:ext cx="256032" cy="0"/>
          </a:xfrm>
          <a:prstGeom prst="line">
            <a:avLst/>
          </a:prstGeom>
          <a:noFill/>
          <a:ln w="25400">
            <a:solidFill>
              <a:schemeClr val="tx2"/>
            </a:solidFill>
            <a:prstDash val="solid"/>
            <a:tailEnd type="triangle"/>
          </a:ln>
        </p:spPr>
      </p:sp>
      <p:sp>
        <p:nvSpPr>
          <p:cNvPr id="23" name="legend line Uplink"/>
          <p:cNvSpPr/>
          <p:nvPr/>
        </p:nvSpPr>
        <p:spPr>
          <a:xfrm>
            <a:off x="548640" y="3621024"/>
            <a:ext cx="457200" cy="0"/>
          </a:xfrm>
          <a:prstGeom prst="line">
            <a:avLst/>
          </a:prstGeom>
          <a:noFill/>
          <a:ln w="31750">
            <a:solidFill>
              <a:schemeClr val="accent1"/>
            </a:solidFill>
            <a:prstDash val="solid"/>
            <a:tailEnd type="triangle"/>
          </a:ln>
        </p:spPr>
      </p:sp>
      <p:sp>
        <p:nvSpPr>
          <p:cNvPr id="24" name="legend Uplink"/>
          <p:cNvSpPr txBox="1"/>
          <p:nvPr/>
        </p:nvSpPr>
        <p:spPr>
          <a:xfrm>
            <a:off x="1143000" y="3474720"/>
            <a:ext cx="10424160" cy="292608"/>
          </a:xfrm>
          <a:prstGeom prst="rect">
            <a:avLst/>
          </a:prstGeom>
          <a:noFill/>
          <a:ln/>
        </p:spPr>
        <p:txBody>
          <a:bodyPr wrap="square" lIns="0" tIns="0" rIns="0" bIns="0" rtlCol="0" anchor="ctr"/>
          <a:lstStyle/>
          <a:p>
            <a:pPr indent="0" marL="0">
              <a:buNone/>
            </a:pPr>
            <a:r>
              <a:rPr lang="en-US" sz="1300" b="1" dirty="0">
                <a:solidFill>
                  <a:schemeClr val="accent1"/>
                </a:solidFill>
                <a:latin typeface="Arial" pitchFamily="34" charset="0"/>
                <a:ea typeface="Arial" pitchFamily="34" charset="-122"/>
                <a:cs typeface="Arial" pitchFamily="34" charset="-120"/>
              </a:rPr>
              <a:t>Uplink: </a:t>
            </a:r>
            <a:pPr indent="0" marL="0">
              <a:buNone/>
            </a:pPr>
            <a:r>
              <a:rPr lang="en-US" sz="1300" dirty="0">
                <a:solidFill>
                  <a:schemeClr val="tx1"/>
                </a:solidFill>
                <a:latin typeface="Arial" pitchFamily="34" charset="0"/>
                <a:ea typeface="Arial" pitchFamily="34" charset="-122"/>
                <a:cs typeface="Arial" pitchFamily="34" charset="-120"/>
              </a:rPr>
              <a:t>telemetry mỗi 2,5 s · state (retain) · availability + LWT · ack</a:t>
            </a:r>
            <a:endParaRPr lang="en-US" sz="1300" dirty="0"/>
          </a:p>
        </p:txBody>
      </p:sp>
      <p:sp>
        <p:nvSpPr>
          <p:cNvPr id="25" name="legend line Downlink"/>
          <p:cNvSpPr/>
          <p:nvPr/>
        </p:nvSpPr>
        <p:spPr>
          <a:xfrm>
            <a:off x="548640" y="4005072"/>
            <a:ext cx="457200" cy="0"/>
          </a:xfrm>
          <a:prstGeom prst="line">
            <a:avLst/>
          </a:prstGeom>
          <a:noFill/>
          <a:ln w="31750">
            <a:solidFill>
              <a:schemeClr val="tx2"/>
            </a:solidFill>
            <a:prstDash val="solid"/>
            <a:tailEnd type="triangle"/>
          </a:ln>
        </p:spPr>
      </p:sp>
      <p:sp>
        <p:nvSpPr>
          <p:cNvPr id="26" name="legend Downlink"/>
          <p:cNvSpPr txBox="1"/>
          <p:nvPr/>
        </p:nvSpPr>
        <p:spPr>
          <a:xfrm>
            <a:off x="1143000" y="3858768"/>
            <a:ext cx="10424160" cy="292608"/>
          </a:xfrm>
          <a:prstGeom prst="rect">
            <a:avLst/>
          </a:prstGeom>
          <a:noFill/>
          <a:ln/>
        </p:spPr>
        <p:txBody>
          <a:bodyPr wrap="square" lIns="0" tIns="0" rIns="0" bIns="0" rtlCol="0" anchor="ctr"/>
          <a:lstStyle/>
          <a:p>
            <a:pPr indent="0" marL="0">
              <a:buNone/>
            </a:pPr>
            <a:r>
              <a:rPr lang="en-US" sz="1300" b="1" dirty="0">
                <a:solidFill>
                  <a:schemeClr val="tx2"/>
                </a:solidFill>
                <a:latin typeface="Arial" pitchFamily="34" charset="0"/>
                <a:ea typeface="Arial" pitchFamily="34" charset="-122"/>
                <a:cs typeface="Arial" pitchFamily="34" charset="-120"/>
              </a:rPr>
              <a:t>Downlink: </a:t>
            </a:r>
            <a:pPr indent="0" marL="0">
              <a:buNone/>
            </a:pPr>
            <a:r>
              <a:rPr lang="en-US" sz="1300" dirty="0">
                <a:solidFill>
                  <a:schemeClr val="tx1"/>
                </a:solidFill>
                <a:latin typeface="Arial" pitchFamily="34" charset="0"/>
                <a:ea typeface="Arial" pitchFamily="34" charset="-122"/>
                <a:cs typeface="Arial" pitchFamily="34" charset="-120"/>
              </a:rPr>
              <a:t>cmd/{mist|fan|light}: request_id, mode, state, ttl_s — QoS 1, không retain</a:t>
            </a:r>
            <a:endParaRPr lang="en-US" sz="1300" dirty="0"/>
          </a:p>
        </p:txBody>
      </p:sp>
      <p:sp>
        <p:nvSpPr>
          <p:cNvPr id="27" name="principle 1"/>
          <p:cNvSpPr/>
          <p:nvPr/>
        </p:nvSpPr>
        <p:spPr>
          <a:xfrm>
            <a:off x="548640" y="4434840"/>
            <a:ext cx="3575304" cy="1737360"/>
          </a:xfrm>
          <a:prstGeom prst="roundRect">
            <a:avLst>
              <a:gd name="adj" fmla="val 4211"/>
            </a:avLst>
          </a:prstGeom>
          <a:solidFill>
            <a:schemeClr val="bg1"/>
          </a:solidFill>
          <a:ln w="12700">
            <a:solidFill>
              <a:schemeClr val="accent5"/>
            </a:solidFill>
            <a:prstDash val="solid"/>
          </a:ln>
        </p:spPr>
      </p:sp>
      <p:sp>
        <p:nvSpPr>
          <p:cNvPr id="28" name="principle 1 circle"/>
          <p:cNvSpPr/>
          <p:nvPr/>
        </p:nvSpPr>
        <p:spPr>
          <a:xfrm>
            <a:off x="777240" y="4617720"/>
            <a:ext cx="502920" cy="502920"/>
          </a:xfrm>
          <a:prstGeom prst="ellipse">
            <a:avLst/>
          </a:prstGeom>
          <a:solidFill>
            <a:schemeClr val="accent1"/>
          </a:solidFill>
          <a:ln w="12700">
            <a:solidFill>
              <a:schemeClr val="accent1"/>
            </a:solidFill>
            <a:prstDash val="solid"/>
          </a:ln>
        </p:spPr>
      </p:sp>
      <p:pic>
        <p:nvPicPr>
          <p:cNvPr id="29" name="principle 1 icon" descr="preencoded.png">    </p:cNvPr>
          <p:cNvPicPr>
            <a:picLocks noChangeAspect="1"/>
          </p:cNvPicPr>
          <p:nvPr/>
        </p:nvPicPr>
        <p:blipFill>
          <a:blip r:embed="rId4"/>
          <a:stretch>
            <a:fillRect/>
          </a:stretch>
        </p:blipFill>
        <p:spPr>
          <a:xfrm>
            <a:off x="877824" y="4718304"/>
            <a:ext cx="301752" cy="301752"/>
          </a:xfrm>
          <a:prstGeom prst="rect">
            <a:avLst/>
          </a:prstGeom>
        </p:spPr>
      </p:pic>
      <p:sp>
        <p:nvSpPr>
          <p:cNvPr id="30" name="principle title 1"/>
          <p:cNvSpPr txBox="1"/>
          <p:nvPr/>
        </p:nvSpPr>
        <p:spPr>
          <a:xfrm>
            <a:off x="1417320" y="4645152"/>
            <a:ext cx="2560320" cy="457200"/>
          </a:xfrm>
          <a:prstGeom prst="rect">
            <a:avLst/>
          </a:prstGeom>
          <a:noFill/>
          <a:ln/>
        </p:spPr>
        <p:txBody>
          <a:bodyPr wrap="square" lIns="0" tIns="0" rIns="0" bIns="0" rtlCol="0" anchor="ctr"/>
          <a:lstStyle/>
          <a:p>
            <a:pPr indent="0" marL="0">
              <a:buNone/>
            </a:pPr>
            <a:r>
              <a:rPr lang="en-US" sz="1600" b="1" dirty="0">
                <a:solidFill>
                  <a:schemeClr val="tx2"/>
                </a:solidFill>
                <a:latin typeface="Times New Roman" pitchFamily="34" charset="0"/>
                <a:ea typeface="Times New Roman" pitchFamily="34" charset="-122"/>
                <a:cs typeface="Times New Roman" pitchFamily="34" charset="-120"/>
              </a:rPr>
              <a:t>Firmware giữ an toàn</a:t>
            </a:r>
            <a:endParaRPr lang="en-US" sz="1600" dirty="0"/>
          </a:p>
        </p:txBody>
      </p:sp>
      <p:sp>
        <p:nvSpPr>
          <p:cNvPr id="31" name="principle desc 1"/>
          <p:cNvSpPr txBox="1"/>
          <p:nvPr/>
        </p:nvSpPr>
        <p:spPr>
          <a:xfrm>
            <a:off x="777240" y="5230368"/>
            <a:ext cx="3154680" cy="868680"/>
          </a:xfrm>
          <a:prstGeom prst="rect">
            <a:avLst/>
          </a:prstGeom>
          <a:noFill/>
          <a:ln/>
        </p:spPr>
        <p:txBody>
          <a:bodyPr wrap="square" lIns="0" tIns="0" rIns="0" bIns="0" rtlCol="0" anchor="t"/>
          <a:lstStyle/>
          <a:p>
            <a:pPr indent="0" marL="0">
              <a:buNone/>
            </a:pPr>
            <a:r>
              <a:rPr lang="en-US" sz="1200" dirty="0">
                <a:solidFill>
                  <a:schemeClr val="tx1"/>
                </a:solidFill>
                <a:latin typeface="Arial" pitchFamily="34" charset="0"/>
                <a:ea typeface="Arial" pitchFamily="34" charset="-122"/>
                <a:cs typeface="Arial" pitchFamily="34" charset="-120"/>
              </a:rPr>
              <a:t>Khoá nước, giới hạn thời gian phun, cooldown, lỗi cảm biến — vẫn đúng khi Node-RED hay broker không chạy.</a:t>
            </a:r>
            <a:endParaRPr lang="en-US" sz="1200" dirty="0"/>
          </a:p>
        </p:txBody>
      </p:sp>
      <p:sp>
        <p:nvSpPr>
          <p:cNvPr id="32" name="principle 2"/>
          <p:cNvSpPr/>
          <p:nvPr/>
        </p:nvSpPr>
        <p:spPr>
          <a:xfrm>
            <a:off x="4306824" y="4434840"/>
            <a:ext cx="3575304" cy="1737360"/>
          </a:xfrm>
          <a:prstGeom prst="roundRect">
            <a:avLst>
              <a:gd name="adj" fmla="val 4211"/>
            </a:avLst>
          </a:prstGeom>
          <a:solidFill>
            <a:schemeClr val="bg1"/>
          </a:solidFill>
          <a:ln w="12700">
            <a:solidFill>
              <a:schemeClr val="accent5"/>
            </a:solidFill>
            <a:prstDash val="solid"/>
          </a:ln>
        </p:spPr>
      </p:sp>
      <p:sp>
        <p:nvSpPr>
          <p:cNvPr id="33" name="principle 2 circle"/>
          <p:cNvSpPr/>
          <p:nvPr/>
        </p:nvSpPr>
        <p:spPr>
          <a:xfrm>
            <a:off x="4535424" y="4617720"/>
            <a:ext cx="502920" cy="502920"/>
          </a:xfrm>
          <a:prstGeom prst="ellipse">
            <a:avLst/>
          </a:prstGeom>
          <a:solidFill>
            <a:schemeClr val="accent1"/>
          </a:solidFill>
          <a:ln w="12700">
            <a:solidFill>
              <a:schemeClr val="accent1"/>
            </a:solidFill>
            <a:prstDash val="solid"/>
          </a:ln>
        </p:spPr>
      </p:sp>
      <p:pic>
        <p:nvPicPr>
          <p:cNvPr id="34" name="principle 2 icon" descr="preencoded.png">    </p:cNvPr>
          <p:cNvPicPr>
            <a:picLocks noChangeAspect="1"/>
          </p:cNvPicPr>
          <p:nvPr/>
        </p:nvPicPr>
        <p:blipFill>
          <a:blip r:embed="rId5"/>
          <a:stretch>
            <a:fillRect/>
          </a:stretch>
        </p:blipFill>
        <p:spPr>
          <a:xfrm>
            <a:off x="4636008" y="4718304"/>
            <a:ext cx="301752" cy="301752"/>
          </a:xfrm>
          <a:prstGeom prst="rect">
            <a:avLst/>
          </a:prstGeom>
        </p:spPr>
      </p:pic>
      <p:sp>
        <p:nvSpPr>
          <p:cNvPr id="35" name="principle title 2"/>
          <p:cNvSpPr txBox="1"/>
          <p:nvPr/>
        </p:nvSpPr>
        <p:spPr>
          <a:xfrm>
            <a:off x="5175504" y="4645152"/>
            <a:ext cx="2560320" cy="457200"/>
          </a:xfrm>
          <a:prstGeom prst="rect">
            <a:avLst/>
          </a:prstGeom>
          <a:noFill/>
          <a:ln/>
        </p:spPr>
        <p:txBody>
          <a:bodyPr wrap="square" lIns="0" tIns="0" rIns="0" bIns="0" rtlCol="0" anchor="ctr"/>
          <a:lstStyle/>
          <a:p>
            <a:pPr indent="0" marL="0">
              <a:buNone/>
            </a:pPr>
            <a:r>
              <a:rPr lang="en-US" sz="1600" b="1" dirty="0">
                <a:solidFill>
                  <a:schemeClr val="tx2"/>
                </a:solidFill>
                <a:latin typeface="Times New Roman" pitchFamily="34" charset="0"/>
                <a:ea typeface="Times New Roman" pitchFamily="34" charset="-122"/>
                <a:cs typeface="Times New Roman" pitchFamily="34" charset="-120"/>
              </a:rPr>
              <a:t>Node-RED giữ quyền và rule</a:t>
            </a:r>
            <a:endParaRPr lang="en-US" sz="1600" dirty="0"/>
          </a:p>
        </p:txBody>
      </p:sp>
      <p:sp>
        <p:nvSpPr>
          <p:cNvPr id="36" name="principle desc 2"/>
          <p:cNvSpPr txBox="1"/>
          <p:nvPr/>
        </p:nvSpPr>
        <p:spPr>
          <a:xfrm>
            <a:off x="4535424" y="5230368"/>
            <a:ext cx="3154680" cy="868680"/>
          </a:xfrm>
          <a:prstGeom prst="rect">
            <a:avLst/>
          </a:prstGeom>
          <a:noFill/>
          <a:ln/>
        </p:spPr>
        <p:txBody>
          <a:bodyPr wrap="square" lIns="0" tIns="0" rIns="0" bIns="0" rtlCol="0" anchor="t"/>
          <a:lstStyle/>
          <a:p>
            <a:pPr indent="0" marL="0">
              <a:buNone/>
            </a:pPr>
            <a:r>
              <a:rPr lang="en-US" sz="1200" dirty="0">
                <a:solidFill>
                  <a:schemeClr val="tx1"/>
                </a:solidFill>
                <a:latin typeface="Arial" pitchFamily="34" charset="0"/>
                <a:ea typeface="Arial" pitchFamily="34" charset="-122"/>
                <a:cs typeface="Arial" pitchFamily="34" charset="-120"/>
              </a:rPr>
              <a:t>Đăng nhập, AUTO/MANUAL, thiết bị online, một lệnh chờ ACK mỗi relay; rule theo giờ.</a:t>
            </a:r>
            <a:endParaRPr lang="en-US" sz="1200" dirty="0"/>
          </a:p>
        </p:txBody>
      </p:sp>
      <p:sp>
        <p:nvSpPr>
          <p:cNvPr id="37" name="principle 3"/>
          <p:cNvSpPr/>
          <p:nvPr/>
        </p:nvSpPr>
        <p:spPr>
          <a:xfrm>
            <a:off x="8065008" y="4434840"/>
            <a:ext cx="3575304" cy="1737360"/>
          </a:xfrm>
          <a:prstGeom prst="roundRect">
            <a:avLst>
              <a:gd name="adj" fmla="val 4211"/>
            </a:avLst>
          </a:prstGeom>
          <a:solidFill>
            <a:schemeClr val="bg1"/>
          </a:solidFill>
          <a:ln w="12700">
            <a:solidFill>
              <a:schemeClr val="accent5"/>
            </a:solidFill>
            <a:prstDash val="solid"/>
          </a:ln>
        </p:spPr>
      </p:sp>
      <p:sp>
        <p:nvSpPr>
          <p:cNvPr id="38" name="principle 3 circle"/>
          <p:cNvSpPr/>
          <p:nvPr/>
        </p:nvSpPr>
        <p:spPr>
          <a:xfrm>
            <a:off x="8293608" y="4617720"/>
            <a:ext cx="502920" cy="502920"/>
          </a:xfrm>
          <a:prstGeom prst="ellipse">
            <a:avLst/>
          </a:prstGeom>
          <a:solidFill>
            <a:schemeClr val="accent1"/>
          </a:solidFill>
          <a:ln w="12700">
            <a:solidFill>
              <a:schemeClr val="accent1"/>
            </a:solidFill>
            <a:prstDash val="solid"/>
          </a:ln>
        </p:spPr>
      </p:sp>
      <p:pic>
        <p:nvPicPr>
          <p:cNvPr id="39" name="principle 3 icon" descr="preencoded.png">    </p:cNvPr>
          <p:cNvPicPr>
            <a:picLocks noChangeAspect="1"/>
          </p:cNvPicPr>
          <p:nvPr/>
        </p:nvPicPr>
        <p:blipFill>
          <a:blip r:embed="rId6"/>
          <a:stretch>
            <a:fillRect/>
          </a:stretch>
        </p:blipFill>
        <p:spPr>
          <a:xfrm>
            <a:off x="8394192" y="4718304"/>
            <a:ext cx="301752" cy="301752"/>
          </a:xfrm>
          <a:prstGeom prst="rect">
            <a:avLst/>
          </a:prstGeom>
        </p:spPr>
      </p:pic>
      <p:sp>
        <p:nvSpPr>
          <p:cNvPr id="40" name="principle title 3"/>
          <p:cNvSpPr txBox="1"/>
          <p:nvPr/>
        </p:nvSpPr>
        <p:spPr>
          <a:xfrm>
            <a:off x="8933688" y="4645152"/>
            <a:ext cx="2560320" cy="457200"/>
          </a:xfrm>
          <a:prstGeom prst="rect">
            <a:avLst/>
          </a:prstGeom>
          <a:noFill/>
          <a:ln/>
        </p:spPr>
        <p:txBody>
          <a:bodyPr wrap="square" lIns="0" tIns="0" rIns="0" bIns="0" rtlCol="0" anchor="ctr"/>
          <a:lstStyle/>
          <a:p>
            <a:pPr indent="0" marL="0">
              <a:buNone/>
            </a:pPr>
            <a:r>
              <a:rPr lang="en-US" sz="1600" b="1" dirty="0">
                <a:solidFill>
                  <a:schemeClr val="tx2"/>
                </a:solidFill>
                <a:latin typeface="Times New Roman" pitchFamily="34" charset="0"/>
                <a:ea typeface="Times New Roman" pitchFamily="34" charset="-122"/>
                <a:cs typeface="Times New Roman" pitchFamily="34" charset="-120"/>
              </a:rPr>
              <a:t>Mọi lệnh đều có TTL</a:t>
            </a:r>
            <a:endParaRPr lang="en-US" sz="1600" dirty="0"/>
          </a:p>
        </p:txBody>
      </p:sp>
      <p:sp>
        <p:nvSpPr>
          <p:cNvPr id="41" name="principle desc 3"/>
          <p:cNvSpPr txBox="1"/>
          <p:nvPr/>
        </p:nvSpPr>
        <p:spPr>
          <a:xfrm>
            <a:off x="8293608" y="5230368"/>
            <a:ext cx="3154680" cy="868680"/>
          </a:xfrm>
          <a:prstGeom prst="rect">
            <a:avLst/>
          </a:prstGeom>
          <a:noFill/>
          <a:ln/>
        </p:spPr>
        <p:txBody>
          <a:bodyPr wrap="square" lIns="0" tIns="0" rIns="0" bIns="0" rtlCol="0" anchor="t"/>
          <a:lstStyle/>
          <a:p>
            <a:pPr indent="0" marL="0">
              <a:buNone/>
            </a:pPr>
            <a:r>
              <a:rPr lang="en-US" sz="1200" dirty="0">
                <a:solidFill>
                  <a:schemeClr val="tx1"/>
                </a:solidFill>
                <a:latin typeface="Arial" pitchFamily="34" charset="0"/>
                <a:ea typeface="Arial" pitchFamily="34" charset="-122"/>
                <a:cs typeface="Arial" pitchFamily="34" charset="-120"/>
              </a:rPr>
              <a:t>Node-RED dừng thì firmware tự hết hạn lệnh và quay về AUTO cục bộ.</a:t>
            </a:r>
            <a:endParaRPr lang="en-US" sz="1200" dirty="0"/>
          </a:p>
        </p:txBody>
      </p:sp>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6"/>
                </a:solidFill>
                <a:latin typeface="Arial"/>
                <a:ea typeface="Arial"/>
                <a:cs typeface="Aria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713232"/>
          </a:xfrm>
          <a:prstGeom prst="rect">
            <a:avLst/>
          </a:prstGeom>
          <a:noFill/>
          <a:ln/>
        </p:spPr>
        <p:txBody>
          <a:bodyPr wrap="square" lIns="0" tIns="0" rIns="0" bIns="0" rtlCol="0" anchor="b"/>
          <a:lstStyle/>
          <a:p>
            <a:pPr algn="l" indent="0" marL="0">
              <a:buNone/>
            </a:pPr>
            <a:r>
              <a:rPr lang="en-US" sz="3400" b="1" dirty="0">
                <a:solidFill>
                  <a:schemeClr val="tx2"/>
                </a:solidFill>
                <a:latin typeface="Times New Roman" pitchFamily="34" charset="0"/>
                <a:ea typeface="Times New Roman" pitchFamily="34" charset="-122"/>
                <a:cs typeface="Times New Roman" pitchFamily="34" charset="-120"/>
              </a:rPr>
              <a:t>Tuần 6 · Người 1 — Dashboard giám sát</a:t>
            </a:r>
            <a:endParaRPr lang="en-US" sz="3400" dirty="0"/>
          </a:p>
        </p:txBody>
      </p:sp>
      <p:sp>
        <p:nvSpPr>
          <p:cNvPr id="3" name="Text 0"/>
          <p:cNvSpPr/>
          <p:nvPr>
            <p:ph idx="101" type="body" hasCustomPrompt="1"/>
          </p:nvPr>
        </p:nvSpPr>
        <p:spPr>
          <a:xfrm>
            <a:off x="548640" y="1097280"/>
            <a:ext cx="11091672" cy="384048"/>
          </a:xfrm>
          <a:prstGeom prst="rect">
            <a:avLst/>
          </a:prstGeom>
          <a:noFill/>
          <a:ln/>
        </p:spPr>
        <p:txBody>
          <a:bodyPr wrap="square" lIns="0" tIns="0" rIns="0" bIns="0" rtlCol="0" anchor="t"/>
          <a:lstStyle/>
          <a:p>
            <a:pPr algn="l" indent="0" marL="0">
              <a:buNone/>
            </a:pPr>
            <a:r>
              <a:rPr lang="en-US" sz="1600" i="1" dirty="0">
                <a:solidFill>
                  <a:schemeClr val="accent6"/>
                </a:solidFill>
                <a:latin typeface="Times New Roman" pitchFamily="34" charset="0"/>
                <a:ea typeface="Times New Roman" pitchFamily="34" charset="-122"/>
                <a:cs typeface="Times New Roman" pitchFamily="34" charset="-120"/>
              </a:rPr>
              <a:t>FlowFuse Dashboard 2 trên Node-RED · ảnh chụp từ lượt chạy mô phỏng</a:t>
            </a:r>
            <a:endParaRPr lang="en-US" sz="1600" dirty="0"/>
          </a:p>
        </p:txBody>
      </p:sp>
      <p:sp>
        <p:nvSpPr>
          <p:cNvPr id="4" name="heading Hiển thị"/>
          <p:cNvSpPr txBox="1"/>
          <p:nvPr/>
        </p:nvSpPr>
        <p:spPr>
          <a:xfrm>
            <a:off x="548640" y="1691640"/>
            <a:ext cx="4480560" cy="347472"/>
          </a:xfrm>
          <a:prstGeom prst="rect">
            <a:avLst/>
          </a:prstGeom>
          <a:noFill/>
          <a:ln/>
        </p:spPr>
        <p:txBody>
          <a:bodyPr wrap="square" lIns="0" tIns="0" rIns="0" bIns="0" rtlCol="0" anchor="ctr"/>
          <a:lstStyle/>
          <a:p>
            <a:pPr indent="0" marL="0">
              <a:buNone/>
            </a:pPr>
            <a:r>
              <a:rPr lang="en-US" sz="1900" b="1" dirty="0">
                <a:solidFill>
                  <a:schemeClr val="tx2"/>
                </a:solidFill>
                <a:latin typeface="Times New Roman" pitchFamily="34" charset="0"/>
                <a:ea typeface="Times New Roman" pitchFamily="34" charset="-122"/>
                <a:cs typeface="Times New Roman" pitchFamily="34" charset="-120"/>
              </a:rPr>
              <a:t>Hiển thị</a:t>
            </a:r>
            <a:endParaRPr lang="en-US" sz="1900" dirty="0"/>
          </a:p>
        </p:txBody>
      </p:sp>
      <p:sp>
        <p:nvSpPr>
          <p:cNvPr id="5" name="dashboard bullets"/>
          <p:cNvSpPr txBox="1"/>
          <p:nvPr/>
        </p:nvSpPr>
        <p:spPr>
          <a:xfrm>
            <a:off x="548640" y="2075688"/>
            <a:ext cx="4480560" cy="2468880"/>
          </a:xfrm>
          <a:prstGeom prst="rect">
            <a:avLst/>
          </a:prstGeom>
          <a:noFill/>
          <a:ln/>
        </p:spPr>
        <p:txBody>
          <a:bodyPr wrap="square" lIns="0" tIns="0" rIns="0" bIns="0" rtlCol="0" anchor="t"/>
          <a:lstStyle/>
          <a:p>
            <a:pPr marL="203200" indent="-203200">
              <a:spcAft>
                <a:spcPts val="600"/>
              </a:spcAft>
              <a:buSzPct val="100000"/>
              <a:buChar char="•"/>
            </a:pPr>
            <a:r>
              <a:rPr lang="en-US" sz="1400" dirty="0">
                <a:solidFill>
                  <a:schemeClr val="tx1"/>
                </a:solidFill>
                <a:latin typeface="Arial" pitchFamily="34" charset="0"/>
                <a:ea typeface="Arial" pitchFamily="34" charset="-122"/>
                <a:cs typeface="Arial" pitchFamily="34" charset="-120"/>
              </a:rPr>
              <a:t>Nhiệt độ, độ ẩm, ADC ánh sáng và mực nước; trạng thái phun / quạt / đèn</a:t>
            </a:r>
            <a:endParaRPr lang="en-US" sz="1400" dirty="0"/>
          </a:p>
          <a:p>
            <a:pPr marL="203200" indent="-203200">
              <a:spcAft>
                <a:spcPts val="600"/>
              </a:spcAft>
              <a:buSzPct val="100000"/>
              <a:buChar char="•"/>
            </a:pPr>
            <a:r>
              <a:rPr lang="en-US" sz="1400" dirty="0">
                <a:solidFill>
                  <a:schemeClr val="tx1"/>
                </a:solidFill>
                <a:latin typeface="Arial" pitchFamily="34" charset="0"/>
                <a:ea typeface="Arial" pitchFamily="34" charset="-122"/>
                <a:cs typeface="Arial" pitchFamily="34" charset="-120"/>
              </a:rPr>
              <a:t>Kết nối ONLINE / OFFLINE (Last Will) / STALE khi quá 15 s không có telemetry</a:t>
            </a:r>
            <a:endParaRPr lang="en-US" sz="1400" dirty="0"/>
          </a:p>
          <a:p>
            <a:pPr marL="203200" indent="-203200">
              <a:spcAft>
                <a:spcPts val="600"/>
              </a:spcAft>
              <a:buSzPct val="100000"/>
              <a:buChar char="•"/>
            </a:pPr>
            <a:r>
              <a:rPr lang="en-US" sz="1400" dirty="0">
                <a:solidFill>
                  <a:schemeClr val="tx1"/>
                </a:solidFill>
                <a:latin typeface="Arial" pitchFamily="34" charset="0"/>
                <a:ea typeface="Arial" pitchFamily="34" charset="-122"/>
                <a:cs typeface="Arial" pitchFamily="34" charset="-120"/>
              </a:rPr>
              <a:t>DHT lỗi hiện "DHT fault", không hiện số 0 giả</a:t>
            </a:r>
            <a:endParaRPr lang="en-US" sz="1400" dirty="0"/>
          </a:p>
          <a:p>
            <a:pPr marL="203200" indent="-203200">
              <a:spcAft>
                <a:spcPts val="600"/>
              </a:spcAft>
              <a:buSzPct val="100000"/>
              <a:buChar char="•"/>
            </a:pPr>
            <a:r>
              <a:rPr lang="en-US" sz="1400" dirty="0">
                <a:solidFill>
                  <a:schemeClr val="tx1"/>
                </a:solidFill>
                <a:latin typeface="Arial" pitchFamily="34" charset="0"/>
                <a:ea typeface="Arial" pitchFamily="34" charset="-122"/>
                <a:cs typeface="Arial" pitchFamily="34" charset="-120"/>
              </a:rPr>
              <a:t>2 biểu đồ lịch sử 1 giờ: nhiệt độ – độ ẩm, ADC ánh sáng – nước</a:t>
            </a:r>
            <a:endParaRPr lang="en-US" sz="1400" dirty="0"/>
          </a:p>
        </p:txBody>
      </p:sp>
      <p:sp>
        <p:nvSpPr>
          <p:cNvPr id="6" name="heading Bàn giao"/>
          <p:cNvSpPr txBox="1"/>
          <p:nvPr/>
        </p:nvSpPr>
        <p:spPr>
          <a:xfrm>
            <a:off x="548640" y="4572000"/>
            <a:ext cx="4480560" cy="347472"/>
          </a:xfrm>
          <a:prstGeom prst="rect">
            <a:avLst/>
          </a:prstGeom>
          <a:noFill/>
          <a:ln/>
        </p:spPr>
        <p:txBody>
          <a:bodyPr wrap="square" lIns="0" tIns="0" rIns="0" bIns="0" rtlCol="0" anchor="ctr"/>
          <a:lstStyle/>
          <a:p>
            <a:pPr indent="0" marL="0">
              <a:buNone/>
            </a:pPr>
            <a:r>
              <a:rPr lang="en-US" sz="1900" b="1" dirty="0">
                <a:solidFill>
                  <a:schemeClr val="tx2"/>
                </a:solidFill>
                <a:latin typeface="Times New Roman" pitchFamily="34" charset="0"/>
                <a:ea typeface="Times New Roman" pitchFamily="34" charset="-122"/>
                <a:cs typeface="Times New Roman" pitchFamily="34" charset="-120"/>
              </a:rPr>
              <a:t>Bàn giao</a:t>
            </a:r>
            <a:endParaRPr lang="en-US" sz="1900" dirty="0"/>
          </a:p>
        </p:txBody>
      </p:sp>
      <p:sp>
        <p:nvSpPr>
          <p:cNvPr id="7" name="dashboard deliverable"/>
          <p:cNvSpPr txBox="1"/>
          <p:nvPr/>
        </p:nvSpPr>
        <p:spPr>
          <a:xfrm>
            <a:off x="548640" y="4956048"/>
            <a:ext cx="4480560" cy="320040"/>
          </a:xfrm>
          <a:prstGeom prst="rect">
            <a:avLst/>
          </a:prstGeom>
          <a:noFill/>
          <a:ln/>
        </p:spPr>
        <p:txBody>
          <a:bodyPr wrap="square" lIns="0" tIns="0" rIns="0" bIns="0" rtlCol="0" anchor="t"/>
          <a:lstStyle/>
          <a:p>
            <a:pPr marL="203200" indent="-203200">
              <a:spcAft>
                <a:spcPts val="600"/>
              </a:spcAft>
              <a:buSzPct val="100000"/>
              <a:buChar char="•"/>
            </a:pPr>
            <a:r>
              <a:rPr lang="en-US" sz="1300" dirty="0">
                <a:solidFill>
                  <a:schemeClr val="tx1"/>
                </a:solidFill>
                <a:latin typeface="Arial" pitchFamily="34" charset="0"/>
                <a:ea typeface="Arial" pitchFamily="34" charset="-122"/>
                <a:cs typeface="Arial" pitchFamily="34" charset="-120"/>
              </a:rPr>
              <a:t>13 ảnh giao diện + log dữ liệu mô phỏng trong thư mục:</a:t>
            </a:r>
            <a:endParaRPr lang="en-US" sz="1300" dirty="0"/>
          </a:p>
        </p:txBody>
      </p:sp>
      <p:sp>
        <p:nvSpPr>
          <p:cNvPr id="8" name="dashboard deliverable path"/>
          <p:cNvSpPr txBox="1"/>
          <p:nvPr/>
        </p:nvSpPr>
        <p:spPr>
          <a:xfrm>
            <a:off x="777240" y="5303520"/>
            <a:ext cx="4297680" cy="274320"/>
          </a:xfrm>
          <a:prstGeom prst="rect">
            <a:avLst/>
          </a:prstGeom>
          <a:noFill/>
          <a:ln/>
        </p:spPr>
        <p:txBody>
          <a:bodyPr wrap="square" lIns="0" tIns="0" rIns="0" bIns="0" rtlCol="0" anchor="ctr"/>
          <a:lstStyle/>
          <a:p>
            <a:pPr indent="0" marL="0">
              <a:buNone/>
            </a:pPr>
            <a:r>
              <a:rPr lang="en-US" sz="1200" dirty="0">
                <a:solidFill>
                  <a:schemeClr val="tx2"/>
                </a:solidFill>
                <a:latin typeface="Courier New" pitchFamily="34" charset="0"/>
                <a:ea typeface="Courier New" pitchFamily="34" charset="-122"/>
                <a:cs typeface="Courier New" pitchFamily="34" charset="-120"/>
              </a:rPr>
              <a:t>nodered/test-results/week6-7-e2e/</a:t>
            </a:r>
            <a:endParaRPr lang="en-US" sz="1200" dirty="0"/>
          </a:p>
        </p:txBody>
      </p:sp>
      <p:pic>
        <p:nvPicPr>
          <p:cNvPr id="9" name="screenshot live.jpg" descr="Dashboard: nhóm Live status">    </p:cNvPr>
          <p:cNvPicPr>
            <a:picLocks noChangeAspect="1"/>
          </p:cNvPicPr>
          <p:nvPr/>
        </p:nvPicPr>
        <p:blipFill>
          <a:blip r:embed="rId1"/>
          <a:stretch>
            <a:fillRect/>
          </a:stretch>
        </p:blipFill>
        <p:spPr>
          <a:xfrm>
            <a:off x="5349240" y="1691640"/>
            <a:ext cx="6291072" cy="1396712"/>
          </a:xfrm>
          <a:prstGeom prst="rect">
            <a:avLst/>
          </a:prstGeom>
        </p:spPr>
      </p:pic>
      <p:sp>
        <p:nvSpPr>
          <p:cNvPr id="10" name="frame live.jpg"/>
          <p:cNvSpPr/>
          <p:nvPr/>
        </p:nvSpPr>
        <p:spPr>
          <a:xfrm>
            <a:off x="5349240" y="1691640"/>
            <a:ext cx="6291072" cy="1396712"/>
          </a:xfrm>
          <a:prstGeom prst="rect">
            <a:avLst/>
          </a:prstGeom>
          <a:solidFill>
            <a:schemeClr val="bg1">
              <a:alpha val="0"/>
            </a:schemeClr>
          </a:solidFill>
          <a:ln w="12700">
            <a:solidFill>
              <a:schemeClr val="accent5"/>
            </a:solidFill>
            <a:prstDash val="solid"/>
          </a:ln>
        </p:spPr>
      </p:sp>
      <p:pic>
        <p:nvPicPr>
          <p:cNvPr id="11" name="screenshot charts.jpg" descr="Dashboard: biểu đồ lịch sử cảm biến">    </p:cNvPr>
          <p:cNvPicPr>
            <a:picLocks noChangeAspect="1"/>
          </p:cNvPicPr>
          <p:nvPr/>
        </p:nvPicPr>
        <p:blipFill>
          <a:blip r:embed="rId2"/>
          <a:stretch>
            <a:fillRect/>
          </a:stretch>
        </p:blipFill>
        <p:spPr>
          <a:xfrm>
            <a:off x="5349240" y="3271232"/>
            <a:ext cx="6291072" cy="2447180"/>
          </a:xfrm>
          <a:prstGeom prst="rect">
            <a:avLst/>
          </a:prstGeom>
        </p:spPr>
      </p:pic>
      <p:sp>
        <p:nvSpPr>
          <p:cNvPr id="12" name="frame charts.jpg"/>
          <p:cNvSpPr/>
          <p:nvPr/>
        </p:nvSpPr>
        <p:spPr>
          <a:xfrm>
            <a:off x="5349240" y="3271232"/>
            <a:ext cx="6291072" cy="2447180"/>
          </a:xfrm>
          <a:prstGeom prst="rect">
            <a:avLst/>
          </a:prstGeom>
          <a:solidFill>
            <a:schemeClr val="bg1">
              <a:alpha val="0"/>
            </a:schemeClr>
          </a:solidFill>
          <a:ln w="12700">
            <a:solidFill>
              <a:schemeClr val="accent5"/>
            </a:solidFill>
            <a:prstDash val="solid"/>
          </a:ln>
        </p:spPr>
      </p:sp>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6"/>
                </a:solidFill>
                <a:latin typeface="Arial"/>
                <a:ea typeface="Arial"/>
                <a:cs typeface="Aria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713232"/>
          </a:xfrm>
          <a:prstGeom prst="rect">
            <a:avLst/>
          </a:prstGeom>
          <a:noFill/>
          <a:ln/>
        </p:spPr>
        <p:txBody>
          <a:bodyPr wrap="square" lIns="0" tIns="0" rIns="0" bIns="0" rtlCol="0" anchor="b"/>
          <a:lstStyle/>
          <a:p>
            <a:pPr algn="l" indent="0" marL="0">
              <a:buNone/>
            </a:pPr>
            <a:r>
              <a:rPr lang="en-US" sz="3400" b="1" dirty="0">
                <a:solidFill>
                  <a:schemeClr val="tx2"/>
                </a:solidFill>
                <a:latin typeface="Times New Roman" pitchFamily="34" charset="0"/>
                <a:ea typeface="Times New Roman" pitchFamily="34" charset="-122"/>
                <a:cs typeface="Times New Roman" pitchFamily="34" charset="-120"/>
              </a:rPr>
              <a:t>Tuần 6 · Người 2 — Lệnh đúng firmware và ACK</a:t>
            </a:r>
            <a:endParaRPr lang="en-US" sz="3400" dirty="0"/>
          </a:p>
        </p:txBody>
      </p:sp>
      <p:sp>
        <p:nvSpPr>
          <p:cNvPr id="3" name="Text 0"/>
          <p:cNvSpPr/>
          <p:nvPr>
            <p:ph idx="101" type="body" hasCustomPrompt="1"/>
          </p:nvPr>
        </p:nvSpPr>
        <p:spPr>
          <a:xfrm>
            <a:off x="548640" y="1097280"/>
            <a:ext cx="11091672" cy="384048"/>
          </a:xfrm>
          <a:prstGeom prst="rect">
            <a:avLst/>
          </a:prstGeom>
          <a:noFill/>
          <a:ln/>
        </p:spPr>
        <p:txBody>
          <a:bodyPr wrap="square" lIns="0" tIns="0" rIns="0" bIns="0" rtlCol="0" anchor="t"/>
          <a:lstStyle/>
          <a:p>
            <a:pPr algn="l" indent="0" marL="0">
              <a:buNone/>
            </a:pPr>
            <a:r>
              <a:rPr lang="en-US" sz="1600" i="1" dirty="0">
                <a:solidFill>
                  <a:schemeClr val="accent6"/>
                </a:solidFill>
                <a:latin typeface="Times New Roman" pitchFamily="34" charset="0"/>
                <a:ea typeface="Times New Roman" pitchFamily="34" charset="-122"/>
                <a:cs typeface="Times New Roman" pitchFamily="34" charset="-120"/>
              </a:rPr>
              <a:t>Mọi lệnh đi qua một gateway: đúng topic, đúng payload, theo dõi ACK theo request_id</a:t>
            </a:r>
            <a:endParaRPr lang="en-US" sz="1600" dirty="0"/>
          </a:p>
        </p:txBody>
      </p:sp>
      <p:sp>
        <p:nvSpPr>
          <p:cNvPr id="4" name="heading Topic &amp;amp; payload"/>
          <p:cNvSpPr txBox="1"/>
          <p:nvPr/>
        </p:nvSpPr>
        <p:spPr>
          <a:xfrm>
            <a:off x="548640" y="1691640"/>
            <a:ext cx="4937760" cy="347472"/>
          </a:xfrm>
          <a:prstGeom prst="rect">
            <a:avLst/>
          </a:prstGeom>
          <a:noFill/>
          <a:ln/>
        </p:spPr>
        <p:txBody>
          <a:bodyPr wrap="square" lIns="0" tIns="0" rIns="0" bIns="0" rtlCol="0" anchor="ctr"/>
          <a:lstStyle/>
          <a:p>
            <a:pPr indent="0" marL="0">
              <a:buNone/>
            </a:pPr>
            <a:r>
              <a:rPr lang="en-US" sz="1900" b="1" dirty="0">
                <a:solidFill>
                  <a:schemeClr val="tx2"/>
                </a:solidFill>
                <a:latin typeface="Times New Roman" pitchFamily="34" charset="0"/>
                <a:ea typeface="Times New Roman" pitchFamily="34" charset="-122"/>
                <a:cs typeface="Times New Roman" pitchFamily="34" charset="-120"/>
              </a:rPr>
              <a:t>Topic &amp; payload</a:t>
            </a:r>
            <a:endParaRPr lang="en-US" sz="1900" dirty="0"/>
          </a:p>
        </p:txBody>
      </p:sp>
      <p:sp>
        <p:nvSpPr>
          <p:cNvPr id="5" name="code panel"/>
          <p:cNvSpPr/>
          <p:nvPr/>
        </p:nvSpPr>
        <p:spPr>
          <a:xfrm>
            <a:off x="548640" y="2084832"/>
            <a:ext cx="4937760" cy="1691640"/>
          </a:xfrm>
          <a:prstGeom prst="roundRect">
            <a:avLst>
              <a:gd name="adj" fmla="val 4324"/>
            </a:avLst>
          </a:prstGeom>
          <a:solidFill>
            <a:schemeClr val="bg2"/>
          </a:solidFill>
          <a:ln w="12700">
            <a:solidFill>
              <a:schemeClr val="accent5"/>
            </a:solidFill>
            <a:prstDash val="solid"/>
          </a:ln>
        </p:spPr>
      </p:sp>
      <p:sp>
        <p:nvSpPr>
          <p:cNvPr id="6" name="payload code"/>
          <p:cNvSpPr txBox="1"/>
          <p:nvPr/>
        </p:nvSpPr>
        <p:spPr>
          <a:xfrm>
            <a:off x="731520" y="2212848"/>
            <a:ext cx="4617720" cy="1645920"/>
          </a:xfrm>
          <a:prstGeom prst="rect">
            <a:avLst/>
          </a:prstGeom>
          <a:noFill/>
          <a:ln/>
        </p:spPr>
        <p:txBody>
          <a:bodyPr wrap="square" lIns="0" tIns="0" rIns="0" bIns="0" rtlCol="0" anchor="t"/>
          <a:lstStyle/>
          <a:p>
            <a:pPr indent="0" marL="0">
              <a:buNone/>
            </a:pPr>
            <a:r>
              <a:rPr lang="en-US" sz="1200" b="1" dirty="0">
                <a:solidFill>
                  <a:schemeClr val="tx2"/>
                </a:solidFill>
                <a:latin typeface="Courier New" pitchFamily="34" charset="0"/>
                <a:ea typeface="Courier New" pitchFamily="34" charset="-122"/>
                <a:cs typeface="Courier New" pitchFamily="34" charset="-120"/>
              </a:rPr>
              <a:t>cmd/mist · cmd/fan · cmd/light</a:t>
            </a:r>
            <a:endParaRPr lang="en-US" sz="1200" dirty="0"/>
          </a:p>
          <a:p>
            <a:pPr indent="0" marL="0">
              <a:buNone/>
            </a:pPr>
            <a:r>
              <a:rPr lang="en-US" sz="1200" dirty="0">
                <a:solidFill>
                  <a:schemeClr val="tx1"/>
                </a:solidFill>
                <a:latin typeface="Courier New" pitchFamily="34" charset="0"/>
                <a:ea typeface="Courier New" pitchFamily="34" charset="-122"/>
                <a:cs typeface="Courier New" pitchFamily="34" charset="-120"/>
              </a:rPr>
              <a:t>{"request_id":"dash-…","mode":"MANUAL",</a:t>
            </a:r>
            <a:endParaRPr lang="en-US" sz="1200" dirty="0"/>
          </a:p>
          <a:p>
            <a:pPr indent="0" marL="0">
              <a:buNone/>
            </a:pPr>
            <a:r>
              <a:rPr lang="en-US" sz="1200" dirty="0">
                <a:solidFill>
                  <a:schemeClr val="tx1"/>
                </a:solidFill>
                <a:latin typeface="Courier New" pitchFamily="34" charset="0"/>
                <a:ea typeface="Courier New" pitchFamily="34" charset="-122"/>
                <a:cs typeface="Courier New" pitchFamily="34" charset="-120"/>
              </a:rPr>
              <a:t> "state":"ON","ttl_s":300}</a:t>
            </a:r>
            <a:endParaRPr lang="en-US" sz="1200" dirty="0"/>
          </a:p>
          <a:p>
            <a:pPr indent="0" marL="0">
              <a:buNone/>
            </a:pPr>
            <a:r>
              <a:rPr lang="en-US" sz="1200" dirty="0">
                <a:solidFill>
                  <a:schemeClr val="tx1"/>
                </a:solidFill>
                <a:latin typeface="Courier New" pitchFamily="34" charset="0"/>
                <a:ea typeface="Courier New" pitchFamily="34" charset="-122"/>
                <a:cs typeface="Courier New" pitchFamily="34" charset="-120"/>
              </a:rPr>
              <a:t>{"request_id":"dash-…","mode":"AUTO"}</a:t>
            </a:r>
            <a:endParaRPr lang="en-US" sz="1200" dirty="0"/>
          </a:p>
          <a:p>
            <a:pPr indent="0" marL="0">
              <a:buNone/>
            </a:pPr>
            <a:r>
              <a:rPr lang="en-US" sz="1200" dirty="0">
                <a:solidFill>
                  <a:schemeClr val="accent6"/>
                </a:solidFill>
                <a:latin typeface="Courier New" pitchFamily="34" charset="0"/>
                <a:ea typeface="Courier New" pitchFamily="34" charset="-122"/>
                <a:cs typeface="Courier New" pitchFamily="34" charset="-120"/>
              </a:rPr>
              <a:t>ack → {"request_id":"…","result":"REJECTED",</a:t>
            </a:r>
            <a:endParaRPr lang="en-US" sz="1200" dirty="0"/>
          </a:p>
          <a:p>
            <a:pPr indent="0" marL="0">
              <a:buNone/>
            </a:pPr>
            <a:r>
              <a:rPr lang="en-US" sz="1200" dirty="0">
                <a:solidFill>
                  <a:schemeClr val="accent6"/>
                </a:solidFill>
                <a:latin typeface="Courier New" pitchFamily="34" charset="0"/>
                <a:ea typeface="Courier New" pitchFamily="34" charset="-122"/>
                <a:cs typeface="Courier New" pitchFamily="34" charset="-120"/>
              </a:rPr>
              <a:t>       "reason":"WATER_LOCKOUT"}</a:t>
            </a:r>
            <a:endParaRPr lang="en-US" sz="1200" dirty="0"/>
          </a:p>
        </p:txBody>
      </p:sp>
      <p:sp>
        <p:nvSpPr>
          <p:cNvPr id="7" name="heading Kết quả hiển thị cho người bấm"/>
          <p:cNvSpPr txBox="1"/>
          <p:nvPr/>
        </p:nvSpPr>
        <p:spPr>
          <a:xfrm>
            <a:off x="548640" y="4023360"/>
            <a:ext cx="4937760" cy="347472"/>
          </a:xfrm>
          <a:prstGeom prst="rect">
            <a:avLst/>
          </a:prstGeom>
          <a:noFill/>
          <a:ln/>
        </p:spPr>
        <p:txBody>
          <a:bodyPr wrap="square" lIns="0" tIns="0" rIns="0" bIns="0" rtlCol="0" anchor="ctr"/>
          <a:lstStyle/>
          <a:p>
            <a:pPr indent="0" marL="0">
              <a:buNone/>
            </a:pPr>
            <a:r>
              <a:rPr lang="en-US" sz="1700" b="1" dirty="0">
                <a:solidFill>
                  <a:schemeClr val="tx2"/>
                </a:solidFill>
                <a:latin typeface="Times New Roman" pitchFamily="34" charset="0"/>
                <a:ea typeface="Times New Roman" pitchFamily="34" charset="-122"/>
                <a:cs typeface="Times New Roman" pitchFamily="34" charset="-120"/>
              </a:rPr>
              <a:t>Kết quả hiển thị cho người bấm</a:t>
            </a:r>
            <a:endParaRPr lang="en-US" sz="1700" dirty="0"/>
          </a:p>
        </p:txBody>
      </p:sp>
      <p:sp>
        <p:nvSpPr>
          <p:cNvPr id="8" name="chip APPLIED"/>
          <p:cNvSpPr/>
          <p:nvPr/>
        </p:nvSpPr>
        <p:spPr>
          <a:xfrm>
            <a:off x="548640" y="4526280"/>
            <a:ext cx="1188720" cy="292608"/>
          </a:xfrm>
          <a:prstGeom prst="roundRect">
            <a:avLst>
              <a:gd name="adj" fmla="val 50000"/>
            </a:avLst>
          </a:prstGeom>
          <a:solidFill>
            <a:schemeClr val="tx2"/>
          </a:solidFill>
          <a:ln w="12700">
            <a:solidFill>
              <a:schemeClr val="tx2"/>
            </a:solidFill>
            <a:prstDash val="solid"/>
          </a:ln>
        </p:spPr>
      </p:sp>
      <p:sp>
        <p:nvSpPr>
          <p:cNvPr id="9" name="chip text APPLIED"/>
          <p:cNvSpPr txBox="1"/>
          <p:nvPr/>
        </p:nvSpPr>
        <p:spPr>
          <a:xfrm>
            <a:off x="548640" y="4526280"/>
            <a:ext cx="1188720" cy="292608"/>
          </a:xfrm>
          <a:prstGeom prst="rect">
            <a:avLst/>
          </a:prstGeom>
          <a:noFill/>
          <a:ln/>
        </p:spPr>
        <p:txBody>
          <a:bodyPr wrap="square" lIns="0" tIns="0" rIns="0" bIns="0" rtlCol="0" anchor="ctr"/>
          <a:lstStyle/>
          <a:p>
            <a:pPr algn="ctr" indent="0" marL="0">
              <a:buNone/>
            </a:pPr>
            <a:r>
              <a:rPr lang="en-US" sz="1100" b="1" dirty="0">
                <a:solidFill>
                  <a:schemeClr val="bg1"/>
                </a:solidFill>
                <a:latin typeface="Arial" pitchFamily="34" charset="0"/>
                <a:ea typeface="Arial" pitchFamily="34" charset="-122"/>
                <a:cs typeface="Arial" pitchFamily="34" charset="-120"/>
              </a:rPr>
              <a:t>APPLIED</a:t>
            </a:r>
            <a:endParaRPr lang="en-US" sz="1100" dirty="0"/>
          </a:p>
        </p:txBody>
      </p:sp>
      <p:sp>
        <p:nvSpPr>
          <p:cNvPr id="10" name="result APPLIED"/>
          <p:cNvSpPr txBox="1"/>
          <p:nvPr/>
        </p:nvSpPr>
        <p:spPr>
          <a:xfrm>
            <a:off x="1874520" y="4526280"/>
            <a:ext cx="3657600" cy="292608"/>
          </a:xfrm>
          <a:prstGeom prst="rect">
            <a:avLst/>
          </a:prstGeom>
          <a:noFill/>
          <a:ln/>
        </p:spPr>
        <p:txBody>
          <a:bodyPr wrap="square" lIns="0" tIns="0" rIns="0" bIns="0" rtlCol="0" anchor="ctr"/>
          <a:lstStyle/>
          <a:p>
            <a:pPr indent="0" marL="0">
              <a:buNone/>
            </a:pPr>
            <a:r>
              <a:rPr lang="en-US" sz="1300" dirty="0">
                <a:solidFill>
                  <a:schemeClr val="tx1"/>
                </a:solidFill>
                <a:latin typeface="Arial" pitchFamily="34" charset="0"/>
                <a:ea typeface="Arial" pitchFamily="34" charset="-122"/>
                <a:cs typeface="Arial" pitchFamily="34" charset="-120"/>
              </a:rPr>
              <a:t>firmware đã thực hiện</a:t>
            </a:r>
            <a:endParaRPr lang="en-US" sz="1300" dirty="0"/>
          </a:p>
        </p:txBody>
      </p:sp>
      <p:sp>
        <p:nvSpPr>
          <p:cNvPr id="11" name="chip REJECTED"/>
          <p:cNvSpPr/>
          <p:nvPr/>
        </p:nvSpPr>
        <p:spPr>
          <a:xfrm>
            <a:off x="548640" y="4937760"/>
            <a:ext cx="1188720" cy="292608"/>
          </a:xfrm>
          <a:prstGeom prst="roundRect">
            <a:avLst>
              <a:gd name="adj" fmla="val 50000"/>
            </a:avLst>
          </a:prstGeom>
          <a:solidFill>
            <a:schemeClr val="accent4"/>
          </a:solidFill>
          <a:ln w="12700">
            <a:solidFill>
              <a:schemeClr val="accent4"/>
            </a:solidFill>
            <a:prstDash val="solid"/>
          </a:ln>
        </p:spPr>
      </p:sp>
      <p:sp>
        <p:nvSpPr>
          <p:cNvPr id="12" name="chip text REJECTED"/>
          <p:cNvSpPr txBox="1"/>
          <p:nvPr/>
        </p:nvSpPr>
        <p:spPr>
          <a:xfrm>
            <a:off x="548640" y="4937760"/>
            <a:ext cx="1188720" cy="292608"/>
          </a:xfrm>
          <a:prstGeom prst="rect">
            <a:avLst/>
          </a:prstGeom>
          <a:noFill/>
          <a:ln/>
        </p:spPr>
        <p:txBody>
          <a:bodyPr wrap="square" lIns="0" tIns="0" rIns="0" bIns="0" rtlCol="0" anchor="ctr"/>
          <a:lstStyle/>
          <a:p>
            <a:pPr algn="ctr" indent="0" marL="0">
              <a:buNone/>
            </a:pPr>
            <a:r>
              <a:rPr lang="en-US" sz="1100" b="1" dirty="0">
                <a:solidFill>
                  <a:schemeClr val="bg1"/>
                </a:solidFill>
                <a:latin typeface="Arial" pitchFamily="34" charset="0"/>
                <a:ea typeface="Arial" pitchFamily="34" charset="-122"/>
                <a:cs typeface="Arial" pitchFamily="34" charset="-120"/>
              </a:rPr>
              <a:t>REJECTED</a:t>
            </a:r>
            <a:endParaRPr lang="en-US" sz="1100" dirty="0"/>
          </a:p>
        </p:txBody>
      </p:sp>
      <p:sp>
        <p:nvSpPr>
          <p:cNvPr id="13" name="result REJECTED"/>
          <p:cNvSpPr txBox="1"/>
          <p:nvPr/>
        </p:nvSpPr>
        <p:spPr>
          <a:xfrm>
            <a:off x="1874520" y="4937760"/>
            <a:ext cx="3657600" cy="292608"/>
          </a:xfrm>
          <a:prstGeom prst="rect">
            <a:avLst/>
          </a:prstGeom>
          <a:noFill/>
          <a:ln/>
        </p:spPr>
        <p:txBody>
          <a:bodyPr wrap="square" lIns="0" tIns="0" rIns="0" bIns="0" rtlCol="0" anchor="ctr"/>
          <a:lstStyle/>
          <a:p>
            <a:pPr indent="0" marL="0">
              <a:buNone/>
            </a:pPr>
            <a:r>
              <a:rPr lang="en-US" sz="1300" dirty="0">
                <a:solidFill>
                  <a:schemeClr val="tx1"/>
                </a:solidFill>
                <a:latin typeface="Arial" pitchFamily="34" charset="0"/>
                <a:ea typeface="Arial" pitchFamily="34" charset="-122"/>
                <a:cs typeface="Arial" pitchFamily="34" charset="-120"/>
              </a:rPr>
              <a:t>firmware từ chối, kèm lý do</a:t>
            </a:r>
            <a:endParaRPr lang="en-US" sz="1300" dirty="0"/>
          </a:p>
        </p:txBody>
      </p:sp>
      <p:sp>
        <p:nvSpPr>
          <p:cNvPr id="14" name="chip NO_ACK"/>
          <p:cNvSpPr/>
          <p:nvPr/>
        </p:nvSpPr>
        <p:spPr>
          <a:xfrm>
            <a:off x="548640" y="5349240"/>
            <a:ext cx="1188720" cy="292608"/>
          </a:xfrm>
          <a:prstGeom prst="roundRect">
            <a:avLst>
              <a:gd name="adj" fmla="val 50000"/>
            </a:avLst>
          </a:prstGeom>
          <a:solidFill>
            <a:schemeClr val="accent1"/>
          </a:solidFill>
          <a:ln w="12700">
            <a:solidFill>
              <a:schemeClr val="accent1"/>
            </a:solidFill>
            <a:prstDash val="solid"/>
          </a:ln>
        </p:spPr>
      </p:sp>
      <p:sp>
        <p:nvSpPr>
          <p:cNvPr id="15" name="chip text NO_ACK"/>
          <p:cNvSpPr txBox="1"/>
          <p:nvPr/>
        </p:nvSpPr>
        <p:spPr>
          <a:xfrm>
            <a:off x="548640" y="5349240"/>
            <a:ext cx="1188720" cy="292608"/>
          </a:xfrm>
          <a:prstGeom prst="rect">
            <a:avLst/>
          </a:prstGeom>
          <a:noFill/>
          <a:ln/>
        </p:spPr>
        <p:txBody>
          <a:bodyPr wrap="square" lIns="0" tIns="0" rIns="0" bIns="0" rtlCol="0" anchor="ctr"/>
          <a:lstStyle/>
          <a:p>
            <a:pPr algn="ctr" indent="0" marL="0">
              <a:buNone/>
            </a:pPr>
            <a:r>
              <a:rPr lang="en-US" sz="1100" b="1" dirty="0">
                <a:solidFill>
                  <a:schemeClr val="tx1"/>
                </a:solidFill>
                <a:latin typeface="Arial" pitchFamily="34" charset="0"/>
                <a:ea typeface="Arial" pitchFamily="34" charset="-122"/>
                <a:cs typeface="Arial" pitchFamily="34" charset="-120"/>
              </a:rPr>
              <a:t>NO_ACK</a:t>
            </a:r>
            <a:endParaRPr lang="en-US" sz="1100" dirty="0"/>
          </a:p>
        </p:txBody>
      </p:sp>
      <p:sp>
        <p:nvSpPr>
          <p:cNvPr id="16" name="result NO_ACK"/>
          <p:cNvSpPr txBox="1"/>
          <p:nvPr/>
        </p:nvSpPr>
        <p:spPr>
          <a:xfrm>
            <a:off x="1874520" y="5349240"/>
            <a:ext cx="3657600" cy="292608"/>
          </a:xfrm>
          <a:prstGeom prst="rect">
            <a:avLst/>
          </a:prstGeom>
          <a:noFill/>
          <a:ln/>
        </p:spPr>
        <p:txBody>
          <a:bodyPr wrap="square" lIns="0" tIns="0" rIns="0" bIns="0" rtlCol="0" anchor="ctr"/>
          <a:lstStyle/>
          <a:p>
            <a:pPr indent="0" marL="0">
              <a:buNone/>
            </a:pPr>
            <a:r>
              <a:rPr lang="en-US" sz="1300" dirty="0">
                <a:solidFill>
                  <a:schemeClr val="tx1"/>
                </a:solidFill>
                <a:latin typeface="Arial" pitchFamily="34" charset="0"/>
                <a:ea typeface="Arial" pitchFamily="34" charset="-122"/>
                <a:cs typeface="Arial" pitchFamily="34" charset="-120"/>
              </a:rPr>
              <a:t>quá 6 s không có phản hồi</a:t>
            </a:r>
            <a:endParaRPr lang="en-US" sz="1300" dirty="0"/>
          </a:p>
        </p:txBody>
      </p:sp>
      <p:sp>
        <p:nvSpPr>
          <p:cNvPr id="17" name="chip BLOCKED"/>
          <p:cNvSpPr/>
          <p:nvPr/>
        </p:nvSpPr>
        <p:spPr>
          <a:xfrm>
            <a:off x="548640" y="5760720"/>
            <a:ext cx="1188720" cy="292608"/>
          </a:xfrm>
          <a:prstGeom prst="roundRect">
            <a:avLst>
              <a:gd name="adj" fmla="val 50000"/>
            </a:avLst>
          </a:prstGeom>
          <a:solidFill>
            <a:schemeClr val="accent6"/>
          </a:solidFill>
          <a:ln w="12700">
            <a:solidFill>
              <a:schemeClr val="accent6"/>
            </a:solidFill>
            <a:prstDash val="solid"/>
          </a:ln>
        </p:spPr>
      </p:sp>
      <p:sp>
        <p:nvSpPr>
          <p:cNvPr id="18" name="chip text BLOCKED"/>
          <p:cNvSpPr txBox="1"/>
          <p:nvPr/>
        </p:nvSpPr>
        <p:spPr>
          <a:xfrm>
            <a:off x="548640" y="5760720"/>
            <a:ext cx="1188720" cy="292608"/>
          </a:xfrm>
          <a:prstGeom prst="rect">
            <a:avLst/>
          </a:prstGeom>
          <a:noFill/>
          <a:ln/>
        </p:spPr>
        <p:txBody>
          <a:bodyPr wrap="square" lIns="0" tIns="0" rIns="0" bIns="0" rtlCol="0" anchor="ctr"/>
          <a:lstStyle/>
          <a:p>
            <a:pPr algn="ctr" indent="0" marL="0">
              <a:buNone/>
            </a:pPr>
            <a:r>
              <a:rPr lang="en-US" sz="1100" b="1" dirty="0">
                <a:solidFill>
                  <a:schemeClr val="bg1"/>
                </a:solidFill>
                <a:latin typeface="Arial" pitchFamily="34" charset="0"/>
                <a:ea typeface="Arial" pitchFamily="34" charset="-122"/>
                <a:cs typeface="Arial" pitchFamily="34" charset="-120"/>
              </a:rPr>
              <a:t>BLOCKED</a:t>
            </a:r>
            <a:endParaRPr lang="en-US" sz="1100" dirty="0"/>
          </a:p>
        </p:txBody>
      </p:sp>
      <p:sp>
        <p:nvSpPr>
          <p:cNvPr id="19" name="result BLOCKED"/>
          <p:cNvSpPr txBox="1"/>
          <p:nvPr/>
        </p:nvSpPr>
        <p:spPr>
          <a:xfrm>
            <a:off x="1874520" y="5760720"/>
            <a:ext cx="3657600" cy="292608"/>
          </a:xfrm>
          <a:prstGeom prst="rect">
            <a:avLst/>
          </a:prstGeom>
          <a:noFill/>
          <a:ln/>
        </p:spPr>
        <p:txBody>
          <a:bodyPr wrap="square" lIns="0" tIns="0" rIns="0" bIns="0" rtlCol="0" anchor="ctr"/>
          <a:lstStyle/>
          <a:p>
            <a:pPr indent="0" marL="0">
              <a:buNone/>
            </a:pPr>
            <a:r>
              <a:rPr lang="en-US" sz="1300" dirty="0">
                <a:solidFill>
                  <a:schemeClr val="tx1"/>
                </a:solidFill>
                <a:latin typeface="Arial" pitchFamily="34" charset="0"/>
                <a:ea typeface="Arial" pitchFamily="34" charset="-122"/>
                <a:cs typeface="Arial" pitchFamily="34" charset="-120"/>
              </a:rPr>
              <a:t>chặn ở Node-RED: quyền, chế độ, offline</a:t>
            </a:r>
            <a:endParaRPr lang="en-US" sz="1300" dirty="0"/>
          </a:p>
        </p:txBody>
      </p:sp>
      <p:pic>
        <p:nvPicPr>
          <p:cNvPr id="20" name="screenshot history.jpg" descr="Bảng lịch sử lệnh với APPLIED, REJECTED và NO_ACK">    </p:cNvPr>
          <p:cNvPicPr>
            <a:picLocks noChangeAspect="1"/>
          </p:cNvPicPr>
          <p:nvPr/>
        </p:nvPicPr>
        <p:blipFill>
          <a:blip r:embed="rId1"/>
          <a:stretch>
            <a:fillRect/>
          </a:stretch>
        </p:blipFill>
        <p:spPr>
          <a:xfrm>
            <a:off x="5806440" y="1691640"/>
            <a:ext cx="5833872" cy="2786327"/>
          </a:xfrm>
          <a:prstGeom prst="rect">
            <a:avLst/>
          </a:prstGeom>
        </p:spPr>
      </p:pic>
      <p:sp>
        <p:nvSpPr>
          <p:cNvPr id="21" name="frame history.jpg"/>
          <p:cNvSpPr/>
          <p:nvPr/>
        </p:nvSpPr>
        <p:spPr>
          <a:xfrm>
            <a:off x="5806440" y="1691640"/>
            <a:ext cx="5833872" cy="2786327"/>
          </a:xfrm>
          <a:prstGeom prst="rect">
            <a:avLst/>
          </a:prstGeom>
          <a:solidFill>
            <a:schemeClr val="bg1">
              <a:alpha val="0"/>
            </a:schemeClr>
          </a:solidFill>
          <a:ln w="12700">
            <a:solidFill>
              <a:schemeClr val="accent5"/>
            </a:solidFill>
            <a:prstDash val="solid"/>
          </a:ln>
        </p:spPr>
      </p:sp>
      <p:sp>
        <p:nvSpPr>
          <p:cNvPr id="22" name="history caption"/>
          <p:cNvSpPr txBox="1"/>
          <p:nvPr/>
        </p:nvSpPr>
        <p:spPr>
          <a:xfrm>
            <a:off x="5806440" y="4587695"/>
            <a:ext cx="5833872" cy="457200"/>
          </a:xfrm>
          <a:prstGeom prst="rect">
            <a:avLst/>
          </a:prstGeom>
          <a:noFill/>
          <a:ln/>
        </p:spPr>
        <p:txBody>
          <a:bodyPr wrap="square" lIns="0" tIns="0" rIns="0" bIns="0" rtlCol="0" anchor="t"/>
          <a:lstStyle/>
          <a:p>
            <a:pPr indent="0" marL="0">
              <a:buNone/>
            </a:pPr>
            <a:r>
              <a:rPr lang="en-US" sz="1100" i="1" dirty="0">
                <a:solidFill>
                  <a:schemeClr val="accent6"/>
                </a:solidFill>
                <a:latin typeface="Arial" pitchFamily="34" charset="0"/>
                <a:ea typeface="Arial" pitchFamily="34" charset="-122"/>
                <a:cs typeface="Arial" pitchFamily="34" charset="-120"/>
              </a:rPr>
              <a:t>Bảng Command history: nguồn lệnh, người bấm, kết quả và độ trễ ACK (lượt chạy mô phỏng).</a:t>
            </a:r>
            <a:endParaRPr lang="en-US" sz="1100" dirty="0"/>
          </a:p>
        </p:txBody>
      </p:sp>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6"/>
                </a:solidFill>
                <a:latin typeface="Arial"/>
                <a:ea typeface="Arial"/>
                <a:cs typeface="Aria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713232"/>
          </a:xfrm>
          <a:prstGeom prst="rect">
            <a:avLst/>
          </a:prstGeom>
          <a:noFill/>
          <a:ln/>
        </p:spPr>
        <p:txBody>
          <a:bodyPr wrap="square" lIns="0" tIns="0" rIns="0" bIns="0" rtlCol="0" anchor="b"/>
          <a:lstStyle/>
          <a:p>
            <a:pPr algn="l" indent="0" marL="0">
              <a:buNone/>
            </a:pPr>
            <a:r>
              <a:rPr lang="en-US" sz="3400" b="1" dirty="0">
                <a:solidFill>
                  <a:schemeClr val="tx2"/>
                </a:solidFill>
                <a:latin typeface="Times New Roman" pitchFamily="34" charset="0"/>
                <a:ea typeface="Times New Roman" pitchFamily="34" charset="-122"/>
                <a:cs typeface="Times New Roman" pitchFamily="34" charset="-120"/>
              </a:rPr>
              <a:t>Tuần 6 · Người 2 — Khoá nút và đăng nhập</a:t>
            </a:r>
            <a:endParaRPr lang="en-US" sz="3400" dirty="0"/>
          </a:p>
        </p:txBody>
      </p:sp>
      <p:sp>
        <p:nvSpPr>
          <p:cNvPr id="3" name="Text 0"/>
          <p:cNvSpPr/>
          <p:nvPr>
            <p:ph idx="101" type="body" hasCustomPrompt="1"/>
          </p:nvPr>
        </p:nvSpPr>
        <p:spPr>
          <a:xfrm>
            <a:off x="548640" y="1097280"/>
            <a:ext cx="11091672" cy="384048"/>
          </a:xfrm>
          <a:prstGeom prst="rect">
            <a:avLst/>
          </a:prstGeom>
          <a:noFill/>
          <a:ln/>
        </p:spPr>
        <p:txBody>
          <a:bodyPr wrap="square" lIns="0" tIns="0" rIns="0" bIns="0" rtlCol="0" anchor="t"/>
          <a:lstStyle/>
          <a:p>
            <a:pPr algn="l" indent="0" marL="0">
              <a:buNone/>
            </a:pPr>
            <a:r>
              <a:rPr lang="en-US" sz="1600" i="1" dirty="0">
                <a:solidFill>
                  <a:schemeClr val="accent6"/>
                </a:solidFill>
                <a:latin typeface="Times New Roman" pitchFamily="34" charset="0"/>
                <a:ea typeface="Times New Roman" pitchFamily="34" charset="-122"/>
                <a:cs typeface="Times New Roman" pitchFamily="34" charset="-120"/>
              </a:rPr>
              <a:t>Mở được editor không có nghĩa dashboard đã được bảo vệ: dashboard có đăng nhập riêng</a:t>
            </a:r>
            <a:endParaRPr lang="en-US" sz="1600" dirty="0"/>
          </a:p>
        </p:txBody>
      </p:sp>
      <p:sp>
        <p:nvSpPr>
          <p:cNvPr id="4" name="heading Nút bị khoá khi"/>
          <p:cNvSpPr txBox="1"/>
          <p:nvPr/>
        </p:nvSpPr>
        <p:spPr>
          <a:xfrm>
            <a:off x="548640" y="1691640"/>
            <a:ext cx="5029200" cy="347472"/>
          </a:xfrm>
          <a:prstGeom prst="rect">
            <a:avLst/>
          </a:prstGeom>
          <a:noFill/>
          <a:ln/>
        </p:spPr>
        <p:txBody>
          <a:bodyPr wrap="square" lIns="0" tIns="0" rIns="0" bIns="0" rtlCol="0" anchor="ctr"/>
          <a:lstStyle/>
          <a:p>
            <a:pPr indent="0" marL="0">
              <a:buNone/>
            </a:pPr>
            <a:r>
              <a:rPr lang="en-US" sz="1900" b="1" dirty="0">
                <a:solidFill>
                  <a:schemeClr val="tx2"/>
                </a:solidFill>
                <a:latin typeface="Times New Roman" pitchFamily="34" charset="0"/>
                <a:ea typeface="Times New Roman" pitchFamily="34" charset="-122"/>
                <a:cs typeface="Times New Roman" pitchFamily="34" charset="-120"/>
              </a:rPr>
              <a:t>Nút bị khoá khi</a:t>
            </a:r>
            <a:endParaRPr lang="en-US" sz="1900" dirty="0"/>
          </a:p>
        </p:txBody>
      </p:sp>
      <p:sp>
        <p:nvSpPr>
          <p:cNvPr id="5" name="lock bullets"/>
          <p:cNvSpPr txBox="1"/>
          <p:nvPr/>
        </p:nvSpPr>
        <p:spPr>
          <a:xfrm>
            <a:off x="548640" y="2075688"/>
            <a:ext cx="5029200" cy="1783080"/>
          </a:xfrm>
          <a:prstGeom prst="rect">
            <a:avLst/>
          </a:prstGeom>
          <a:noFill/>
          <a:ln/>
        </p:spPr>
        <p:txBody>
          <a:bodyPr wrap="square" lIns="0" tIns="0" rIns="0" bIns="0" rtlCol="0" anchor="t"/>
          <a:lstStyle/>
          <a:p>
            <a:pPr marL="203200" indent="-203200">
              <a:spcAft>
                <a:spcPts val="600"/>
              </a:spcAft>
              <a:buSzPct val="100000"/>
              <a:buChar char="•"/>
            </a:pPr>
            <a:r>
              <a:rPr lang="en-US" sz="1400" dirty="0">
                <a:solidFill>
                  <a:schemeClr val="tx1"/>
                </a:solidFill>
                <a:latin typeface="Arial" pitchFamily="34" charset="0"/>
                <a:ea typeface="Arial" pitchFamily="34" charset="-122"/>
                <a:cs typeface="Arial" pitchFamily="34" charset="-120"/>
              </a:rPr>
              <a:t>Dashboard đang ở AUTO (chỉ MANUAL mới bấm được)</a:t>
            </a:r>
            <a:endParaRPr lang="en-US" sz="1400" dirty="0"/>
          </a:p>
          <a:p>
            <a:pPr marL="203200" indent="-203200">
              <a:spcAft>
                <a:spcPts val="600"/>
              </a:spcAft>
              <a:buSzPct val="100000"/>
              <a:buChar char="•"/>
            </a:pPr>
            <a:r>
              <a:rPr lang="en-US" sz="1400" dirty="0">
                <a:solidFill>
                  <a:schemeClr val="tx1"/>
                </a:solidFill>
                <a:latin typeface="Arial" pitchFamily="34" charset="0"/>
                <a:ea typeface="Arial" pitchFamily="34" charset="-122"/>
                <a:cs typeface="Arial" pitchFamily="34" charset="-120"/>
              </a:rPr>
              <a:t>Thiết bị OFFLINE hoặc STALE</a:t>
            </a:r>
            <a:endParaRPr lang="en-US" sz="1400" dirty="0"/>
          </a:p>
          <a:p>
            <a:pPr marL="203200" indent="-203200">
              <a:spcAft>
                <a:spcPts val="600"/>
              </a:spcAft>
              <a:buSzPct val="100000"/>
              <a:buChar char="•"/>
            </a:pPr>
            <a:r>
              <a:rPr lang="en-US" sz="1400" dirty="0">
                <a:solidFill>
                  <a:schemeClr val="tx1"/>
                </a:solidFill>
                <a:latin typeface="Arial" pitchFamily="34" charset="0"/>
                <a:ea typeface="Arial" pitchFamily="34" charset="-122"/>
                <a:cs typeface="Arial" pitchFamily="34" charset="-120"/>
              </a:rPr>
              <a:t>Relay đó đang chờ ACK của lệnh trước</a:t>
            </a:r>
            <a:endParaRPr lang="en-US" sz="1400" dirty="0"/>
          </a:p>
          <a:p>
            <a:pPr marL="203200" indent="-203200">
              <a:spcAft>
                <a:spcPts val="600"/>
              </a:spcAft>
              <a:buSzPct val="100000"/>
              <a:buChar char="•"/>
            </a:pPr>
            <a:r>
              <a:rPr lang="en-US" sz="1400" dirty="0">
                <a:solidFill>
                  <a:schemeClr val="tx1"/>
                </a:solidFill>
                <a:latin typeface="Arial" pitchFamily="34" charset="0"/>
                <a:ea typeface="Arial" pitchFamily="34" charset="-122"/>
                <a:cs typeface="Arial" pitchFamily="34" charset="-120"/>
              </a:rPr>
              <a:t>Mist ON khi firmware báo WATER_LOCKOUT, COOLDOWN hoặc SENSOR_FAULT</a:t>
            </a:r>
            <a:endParaRPr lang="en-US" sz="1400" dirty="0"/>
          </a:p>
        </p:txBody>
      </p:sp>
      <p:sp>
        <p:nvSpPr>
          <p:cNvPr id="6" name="lock note"/>
          <p:cNvSpPr txBox="1"/>
          <p:nvPr/>
        </p:nvSpPr>
        <p:spPr>
          <a:xfrm>
            <a:off x="548640" y="3858768"/>
            <a:ext cx="5029200" cy="502920"/>
          </a:xfrm>
          <a:prstGeom prst="rect">
            <a:avLst/>
          </a:prstGeom>
          <a:noFill/>
          <a:ln/>
        </p:spPr>
        <p:txBody>
          <a:bodyPr wrap="square" lIns="0" tIns="0" rIns="0" bIns="0" rtlCol="0" anchor="t"/>
          <a:lstStyle/>
          <a:p>
            <a:pPr indent="0" marL="0">
              <a:buNone/>
            </a:pPr>
            <a:r>
              <a:rPr lang="en-US" sz="1200" i="1" dirty="0">
                <a:solidFill>
                  <a:schemeClr val="accent6"/>
                </a:solidFill>
                <a:latin typeface="Arial" pitchFamily="34" charset="0"/>
                <a:ea typeface="Arial" pitchFamily="34" charset="-122"/>
                <a:cs typeface="Arial" pitchFamily="34" charset="-120"/>
              </a:rPr>
              <a:t>Gateway kiểm tra lại các điều kiện này ở server, nên vượt nút trên trình duyệt cũng không gửi được lệnh.</a:t>
            </a:r>
            <a:endParaRPr lang="en-US" sz="1200" dirty="0"/>
          </a:p>
        </p:txBody>
      </p:sp>
      <p:sp>
        <p:nvSpPr>
          <p:cNvPr id="7" name="heading Đăng nhập theo vai trò"/>
          <p:cNvSpPr txBox="1"/>
          <p:nvPr/>
        </p:nvSpPr>
        <p:spPr>
          <a:xfrm>
            <a:off x="548640" y="4434840"/>
            <a:ext cx="5029200" cy="347472"/>
          </a:xfrm>
          <a:prstGeom prst="rect">
            <a:avLst/>
          </a:prstGeom>
          <a:noFill/>
          <a:ln/>
        </p:spPr>
        <p:txBody>
          <a:bodyPr wrap="square" lIns="0" tIns="0" rIns="0" bIns="0" rtlCol="0" anchor="ctr"/>
          <a:lstStyle/>
          <a:p>
            <a:pPr indent="0" marL="0">
              <a:buNone/>
            </a:pPr>
            <a:r>
              <a:rPr lang="en-US" sz="1900" b="1" dirty="0">
                <a:solidFill>
                  <a:schemeClr val="tx2"/>
                </a:solidFill>
                <a:latin typeface="Times New Roman" pitchFamily="34" charset="0"/>
                <a:ea typeface="Times New Roman" pitchFamily="34" charset="-122"/>
                <a:cs typeface="Times New Roman" pitchFamily="34" charset="-120"/>
              </a:rPr>
              <a:t>Đăng nhập theo vai trò</a:t>
            </a:r>
            <a:endParaRPr lang="en-US" sz="1900" dirty="0"/>
          </a:p>
        </p:txBody>
      </p:sp>
      <p:sp>
        <p:nvSpPr>
          <p:cNvPr id="8" name="chip admin"/>
          <p:cNvSpPr/>
          <p:nvPr/>
        </p:nvSpPr>
        <p:spPr>
          <a:xfrm>
            <a:off x="548640" y="4846320"/>
            <a:ext cx="1188720" cy="292608"/>
          </a:xfrm>
          <a:prstGeom prst="roundRect">
            <a:avLst>
              <a:gd name="adj" fmla="val 50000"/>
            </a:avLst>
          </a:prstGeom>
          <a:solidFill>
            <a:schemeClr val="tx2"/>
          </a:solidFill>
          <a:ln w="12700">
            <a:solidFill>
              <a:schemeClr val="tx2"/>
            </a:solidFill>
            <a:prstDash val="solid"/>
          </a:ln>
        </p:spPr>
      </p:sp>
      <p:sp>
        <p:nvSpPr>
          <p:cNvPr id="9" name="chip text admin"/>
          <p:cNvSpPr txBox="1"/>
          <p:nvPr/>
        </p:nvSpPr>
        <p:spPr>
          <a:xfrm>
            <a:off x="548640" y="4846320"/>
            <a:ext cx="1188720" cy="292608"/>
          </a:xfrm>
          <a:prstGeom prst="rect">
            <a:avLst/>
          </a:prstGeom>
          <a:noFill/>
          <a:ln/>
        </p:spPr>
        <p:txBody>
          <a:bodyPr wrap="square" lIns="0" tIns="0" rIns="0" bIns="0" rtlCol="0" anchor="ctr"/>
          <a:lstStyle/>
          <a:p>
            <a:pPr algn="ctr" indent="0" marL="0">
              <a:buNone/>
            </a:pPr>
            <a:r>
              <a:rPr lang="en-US" sz="1100" b="1" dirty="0">
                <a:solidFill>
                  <a:schemeClr val="bg1"/>
                </a:solidFill>
                <a:latin typeface="Arial" pitchFamily="34" charset="0"/>
                <a:ea typeface="Arial" pitchFamily="34" charset="-122"/>
                <a:cs typeface="Arial" pitchFamily="34" charset="-120"/>
              </a:rPr>
              <a:t>admin</a:t>
            </a:r>
            <a:endParaRPr lang="en-US" sz="1100" dirty="0"/>
          </a:p>
        </p:txBody>
      </p:sp>
      <p:sp>
        <p:nvSpPr>
          <p:cNvPr id="10" name="role admin"/>
          <p:cNvSpPr txBox="1"/>
          <p:nvPr/>
        </p:nvSpPr>
        <p:spPr>
          <a:xfrm>
            <a:off x="1874520" y="4846320"/>
            <a:ext cx="3749040" cy="292608"/>
          </a:xfrm>
          <a:prstGeom prst="rect">
            <a:avLst/>
          </a:prstGeom>
          <a:noFill/>
          <a:ln/>
        </p:spPr>
        <p:txBody>
          <a:bodyPr wrap="square" lIns="0" tIns="0" rIns="0" bIns="0" rtlCol="0" anchor="ctr"/>
          <a:lstStyle/>
          <a:p>
            <a:pPr indent="0" marL="0">
              <a:buNone/>
            </a:pPr>
            <a:r>
              <a:rPr lang="en-US" sz="1300" dirty="0">
                <a:solidFill>
                  <a:schemeClr val="tx1"/>
                </a:solidFill>
                <a:latin typeface="Arial" pitchFamily="34" charset="0"/>
                <a:ea typeface="Arial" pitchFamily="34" charset="-122"/>
                <a:cs typeface="Arial" pitchFamily="34" charset="-120"/>
              </a:rPr>
              <a:t>editor Node-RED + điều khiển</a:t>
            </a:r>
            <a:endParaRPr lang="en-US" sz="1300" dirty="0"/>
          </a:p>
        </p:txBody>
      </p:sp>
      <p:sp>
        <p:nvSpPr>
          <p:cNvPr id="11" name="chip operator"/>
          <p:cNvSpPr/>
          <p:nvPr/>
        </p:nvSpPr>
        <p:spPr>
          <a:xfrm>
            <a:off x="548640" y="5257800"/>
            <a:ext cx="1188720" cy="292608"/>
          </a:xfrm>
          <a:prstGeom prst="roundRect">
            <a:avLst>
              <a:gd name="adj" fmla="val 50000"/>
            </a:avLst>
          </a:prstGeom>
          <a:solidFill>
            <a:schemeClr val="tx2"/>
          </a:solidFill>
          <a:ln w="12700">
            <a:solidFill>
              <a:schemeClr val="tx2"/>
            </a:solidFill>
            <a:prstDash val="solid"/>
          </a:ln>
        </p:spPr>
      </p:sp>
      <p:sp>
        <p:nvSpPr>
          <p:cNvPr id="12" name="chip text operator"/>
          <p:cNvSpPr txBox="1"/>
          <p:nvPr/>
        </p:nvSpPr>
        <p:spPr>
          <a:xfrm>
            <a:off x="548640" y="5257800"/>
            <a:ext cx="1188720" cy="292608"/>
          </a:xfrm>
          <a:prstGeom prst="rect">
            <a:avLst/>
          </a:prstGeom>
          <a:noFill/>
          <a:ln/>
        </p:spPr>
        <p:txBody>
          <a:bodyPr wrap="square" lIns="0" tIns="0" rIns="0" bIns="0" rtlCol="0" anchor="ctr"/>
          <a:lstStyle/>
          <a:p>
            <a:pPr algn="ctr" indent="0" marL="0">
              <a:buNone/>
            </a:pPr>
            <a:r>
              <a:rPr lang="en-US" sz="1100" b="1" dirty="0">
                <a:solidFill>
                  <a:schemeClr val="bg1"/>
                </a:solidFill>
                <a:latin typeface="Arial" pitchFamily="34" charset="0"/>
                <a:ea typeface="Arial" pitchFamily="34" charset="-122"/>
                <a:cs typeface="Arial" pitchFamily="34" charset="-120"/>
              </a:rPr>
              <a:t>operator</a:t>
            </a:r>
            <a:endParaRPr lang="en-US" sz="1100" dirty="0"/>
          </a:p>
        </p:txBody>
      </p:sp>
      <p:sp>
        <p:nvSpPr>
          <p:cNvPr id="13" name="role operator"/>
          <p:cNvSpPr txBox="1"/>
          <p:nvPr/>
        </p:nvSpPr>
        <p:spPr>
          <a:xfrm>
            <a:off x="1874520" y="5257800"/>
            <a:ext cx="3749040" cy="292608"/>
          </a:xfrm>
          <a:prstGeom prst="rect">
            <a:avLst/>
          </a:prstGeom>
          <a:noFill/>
          <a:ln/>
        </p:spPr>
        <p:txBody>
          <a:bodyPr wrap="square" lIns="0" tIns="0" rIns="0" bIns="0" rtlCol="0" anchor="ctr"/>
          <a:lstStyle/>
          <a:p>
            <a:pPr indent="0" marL="0">
              <a:buNone/>
            </a:pPr>
            <a:r>
              <a:rPr lang="en-US" sz="1300" dirty="0">
                <a:solidFill>
                  <a:schemeClr val="tx1"/>
                </a:solidFill>
                <a:latin typeface="Arial" pitchFamily="34" charset="0"/>
                <a:ea typeface="Arial" pitchFamily="34" charset="-122"/>
                <a:cs typeface="Arial" pitchFamily="34" charset="-120"/>
              </a:rPr>
              <a:t>điều khiển trên dashboard</a:t>
            </a:r>
            <a:endParaRPr lang="en-US" sz="1300" dirty="0"/>
          </a:p>
        </p:txBody>
      </p:sp>
      <p:sp>
        <p:nvSpPr>
          <p:cNvPr id="14" name="chip viewer"/>
          <p:cNvSpPr/>
          <p:nvPr/>
        </p:nvSpPr>
        <p:spPr>
          <a:xfrm>
            <a:off x="548640" y="5669280"/>
            <a:ext cx="1188720" cy="292608"/>
          </a:xfrm>
          <a:prstGeom prst="roundRect">
            <a:avLst>
              <a:gd name="adj" fmla="val 50000"/>
            </a:avLst>
          </a:prstGeom>
          <a:solidFill>
            <a:schemeClr val="accent6"/>
          </a:solidFill>
          <a:ln w="12700">
            <a:solidFill>
              <a:schemeClr val="accent6"/>
            </a:solidFill>
            <a:prstDash val="solid"/>
          </a:ln>
        </p:spPr>
      </p:sp>
      <p:sp>
        <p:nvSpPr>
          <p:cNvPr id="15" name="chip text viewer"/>
          <p:cNvSpPr txBox="1"/>
          <p:nvPr/>
        </p:nvSpPr>
        <p:spPr>
          <a:xfrm>
            <a:off x="548640" y="5669280"/>
            <a:ext cx="1188720" cy="292608"/>
          </a:xfrm>
          <a:prstGeom prst="rect">
            <a:avLst/>
          </a:prstGeom>
          <a:noFill/>
          <a:ln/>
        </p:spPr>
        <p:txBody>
          <a:bodyPr wrap="square" lIns="0" tIns="0" rIns="0" bIns="0" rtlCol="0" anchor="ctr"/>
          <a:lstStyle/>
          <a:p>
            <a:pPr algn="ctr" indent="0" marL="0">
              <a:buNone/>
            </a:pPr>
            <a:r>
              <a:rPr lang="en-US" sz="1100" b="1" dirty="0">
                <a:solidFill>
                  <a:schemeClr val="bg1"/>
                </a:solidFill>
                <a:latin typeface="Arial" pitchFamily="34" charset="0"/>
                <a:ea typeface="Arial" pitchFamily="34" charset="-122"/>
                <a:cs typeface="Arial" pitchFamily="34" charset="-120"/>
              </a:rPr>
              <a:t>viewer</a:t>
            </a:r>
            <a:endParaRPr lang="en-US" sz="1100" dirty="0"/>
          </a:p>
        </p:txBody>
      </p:sp>
      <p:sp>
        <p:nvSpPr>
          <p:cNvPr id="16" name="role viewer"/>
          <p:cNvSpPr txBox="1"/>
          <p:nvPr/>
        </p:nvSpPr>
        <p:spPr>
          <a:xfrm>
            <a:off x="1874520" y="5669280"/>
            <a:ext cx="3749040" cy="292608"/>
          </a:xfrm>
          <a:prstGeom prst="rect">
            <a:avLst/>
          </a:prstGeom>
          <a:noFill/>
          <a:ln/>
        </p:spPr>
        <p:txBody>
          <a:bodyPr wrap="square" lIns="0" tIns="0" rIns="0" bIns="0" rtlCol="0" anchor="ctr"/>
          <a:lstStyle/>
          <a:p>
            <a:pPr indent="0" marL="0">
              <a:buNone/>
            </a:pPr>
            <a:r>
              <a:rPr lang="en-US" sz="1300" dirty="0">
                <a:solidFill>
                  <a:schemeClr val="tx1"/>
                </a:solidFill>
                <a:latin typeface="Arial" pitchFamily="34" charset="0"/>
                <a:ea typeface="Arial" pitchFamily="34" charset="-122"/>
                <a:cs typeface="Arial" pitchFamily="34" charset="-120"/>
              </a:rPr>
              <a:t>chỉ xem; lệnh bị BLOCKED (FORBIDDEN)</a:t>
            </a:r>
            <a:endParaRPr lang="en-US" sz="1300" dirty="0"/>
          </a:p>
        </p:txBody>
      </p:sp>
      <p:pic>
        <p:nvPicPr>
          <p:cNvPr id="17" name="screenshot viewer.jpg" descr="Tài khoản viewer bị chặn đổi chế độ và gửi lệnh">    </p:cNvPr>
          <p:cNvPicPr>
            <a:picLocks noChangeAspect="1"/>
          </p:cNvPicPr>
          <p:nvPr/>
        </p:nvPicPr>
        <p:blipFill>
          <a:blip r:embed="rId1"/>
          <a:stretch>
            <a:fillRect/>
          </a:stretch>
        </p:blipFill>
        <p:spPr>
          <a:xfrm>
            <a:off x="5897880" y="1691640"/>
            <a:ext cx="5742432" cy="3411680"/>
          </a:xfrm>
          <a:prstGeom prst="rect">
            <a:avLst/>
          </a:prstGeom>
        </p:spPr>
      </p:pic>
      <p:sp>
        <p:nvSpPr>
          <p:cNvPr id="18" name="frame viewer.jpg"/>
          <p:cNvSpPr/>
          <p:nvPr/>
        </p:nvSpPr>
        <p:spPr>
          <a:xfrm>
            <a:off x="5897880" y="1691640"/>
            <a:ext cx="5742432" cy="3411680"/>
          </a:xfrm>
          <a:prstGeom prst="rect">
            <a:avLst/>
          </a:prstGeom>
          <a:solidFill>
            <a:schemeClr val="bg1">
              <a:alpha val="0"/>
            </a:schemeClr>
          </a:solidFill>
          <a:ln w="12700">
            <a:solidFill>
              <a:schemeClr val="accent5"/>
            </a:solidFill>
            <a:prstDash val="solid"/>
          </a:ln>
        </p:spPr>
      </p:sp>
      <p:sp>
        <p:nvSpPr>
          <p:cNvPr id="19" name="viewer caption"/>
          <p:cNvSpPr txBox="1"/>
          <p:nvPr/>
        </p:nvSpPr>
        <p:spPr>
          <a:xfrm>
            <a:off x="5897880" y="5213048"/>
            <a:ext cx="5742432" cy="457200"/>
          </a:xfrm>
          <a:prstGeom prst="rect">
            <a:avLst/>
          </a:prstGeom>
          <a:noFill/>
          <a:ln/>
        </p:spPr>
        <p:txBody>
          <a:bodyPr wrap="square" lIns="0" tIns="0" rIns="0" bIns="0" rtlCol="0" anchor="t"/>
          <a:lstStyle/>
          <a:p>
            <a:pPr indent="0" marL="0">
              <a:buNone/>
            </a:pPr>
            <a:r>
              <a:rPr lang="en-US" sz="1100" i="1" dirty="0">
                <a:solidFill>
                  <a:schemeClr val="accent6"/>
                </a:solidFill>
                <a:latin typeface="Arial" pitchFamily="34" charset="0"/>
                <a:ea typeface="Arial" pitchFamily="34" charset="-122"/>
                <a:cs typeface="Arial" pitchFamily="34" charset="-120"/>
              </a:rPr>
              <a:t>Tài khoản viewer bấm Fan OFF → BLOCKED (FORBIDDEN); đổi chế độ bị từ chối và nút chọn tự trở lại.</a:t>
            </a:r>
            <a:endParaRPr lang="en-US" sz="1100" dirty="0"/>
          </a:p>
        </p:txBody>
      </p:sp>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6"/>
                </a:solidFill>
                <a:latin typeface="Arial"/>
                <a:ea typeface="Arial"/>
                <a:cs typeface="Aria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713232"/>
          </a:xfrm>
          <a:prstGeom prst="rect">
            <a:avLst/>
          </a:prstGeom>
          <a:noFill/>
          <a:ln/>
        </p:spPr>
        <p:txBody>
          <a:bodyPr wrap="square" lIns="0" tIns="0" rIns="0" bIns="0" rtlCol="0" anchor="b"/>
          <a:lstStyle/>
          <a:p>
            <a:pPr algn="l" indent="0" marL="0">
              <a:buNone/>
            </a:pPr>
            <a:r>
              <a:rPr lang="en-US" sz="3400" b="1" dirty="0">
                <a:solidFill>
                  <a:schemeClr val="tx2"/>
                </a:solidFill>
                <a:latin typeface="Times New Roman" pitchFamily="34" charset="0"/>
                <a:ea typeface="Times New Roman" pitchFamily="34" charset="-122"/>
                <a:cs typeface="Times New Roman" pitchFamily="34" charset="-120"/>
              </a:rPr>
              <a:t>Tuần 6 · Người 3 — Cảnh báo và ghép luồng</a:t>
            </a:r>
            <a:endParaRPr lang="en-US" sz="3400" dirty="0"/>
          </a:p>
        </p:txBody>
      </p:sp>
      <p:sp>
        <p:nvSpPr>
          <p:cNvPr id="3" name="Text 0"/>
          <p:cNvSpPr/>
          <p:nvPr>
            <p:ph idx="101" type="body" hasCustomPrompt="1"/>
          </p:nvPr>
        </p:nvSpPr>
        <p:spPr>
          <a:xfrm>
            <a:off x="548640" y="1097280"/>
            <a:ext cx="11091672" cy="384048"/>
          </a:xfrm>
          <a:prstGeom prst="rect">
            <a:avLst/>
          </a:prstGeom>
          <a:noFill/>
          <a:ln/>
        </p:spPr>
        <p:txBody>
          <a:bodyPr wrap="square" lIns="0" tIns="0" rIns="0" bIns="0" rtlCol="0" anchor="t"/>
          <a:lstStyle/>
          <a:p>
            <a:pPr algn="l" indent="0" marL="0">
              <a:buNone/>
            </a:pPr>
            <a:r>
              <a:rPr lang="en-US" sz="1600" i="1" dirty="0">
                <a:solidFill>
                  <a:schemeClr val="accent6"/>
                </a:solidFill>
                <a:latin typeface="Times New Roman" pitchFamily="34" charset="0"/>
                <a:ea typeface="Times New Roman" pitchFamily="34" charset="-122"/>
                <a:cs typeface="Times New Roman" pitchFamily="34" charset="-120"/>
              </a:rPr>
              <a:t>Cảnh báo ra dashboard và Telegram · luồng telemetry → MQTT → cảnh báo → lệnh → ACK</a:t>
            </a:r>
            <a:endParaRPr lang="en-US" sz="1600" dirty="0"/>
          </a:p>
        </p:txBody>
      </p:sp>
      <p:sp>
        <p:nvSpPr>
          <p:cNvPr id="4" name="heading Điều kiện cảnh báo"/>
          <p:cNvSpPr txBox="1"/>
          <p:nvPr/>
        </p:nvSpPr>
        <p:spPr>
          <a:xfrm>
            <a:off x="548640" y="1691640"/>
            <a:ext cx="5669280" cy="347472"/>
          </a:xfrm>
          <a:prstGeom prst="rect">
            <a:avLst/>
          </a:prstGeom>
          <a:noFill/>
          <a:ln/>
        </p:spPr>
        <p:txBody>
          <a:bodyPr wrap="square" lIns="0" tIns="0" rIns="0" bIns="0" rtlCol="0" anchor="ctr"/>
          <a:lstStyle/>
          <a:p>
            <a:pPr indent="0" marL="0">
              <a:buNone/>
            </a:pPr>
            <a:r>
              <a:rPr lang="en-US" sz="1900" b="1" dirty="0">
                <a:solidFill>
                  <a:schemeClr val="tx2"/>
                </a:solidFill>
                <a:latin typeface="Times New Roman" pitchFamily="34" charset="0"/>
                <a:ea typeface="Times New Roman" pitchFamily="34" charset="-122"/>
                <a:cs typeface="Times New Roman" pitchFamily="34" charset="-120"/>
              </a:rPr>
              <a:t>Điều kiện cảnh báo</a:t>
            </a:r>
            <a:endParaRPr lang="en-US" sz="1900" dirty="0"/>
          </a:p>
        </p:txBody>
      </p:sp>
      <p:sp>
        <p:nvSpPr>
          <p:cNvPr id="5" name="alert 1 circle"/>
          <p:cNvSpPr/>
          <p:nvPr/>
        </p:nvSpPr>
        <p:spPr>
          <a:xfrm>
            <a:off x="548640" y="2103120"/>
            <a:ext cx="384048" cy="384048"/>
          </a:xfrm>
          <a:prstGeom prst="ellipse">
            <a:avLst/>
          </a:prstGeom>
          <a:solidFill>
            <a:schemeClr val="accent4"/>
          </a:solidFill>
          <a:ln w="12700">
            <a:solidFill>
              <a:schemeClr val="accent4"/>
            </a:solidFill>
            <a:prstDash val="solid"/>
          </a:ln>
        </p:spPr>
      </p:sp>
      <p:pic>
        <p:nvPicPr>
          <p:cNvPr id="6" name="alert 1 icon" descr="preencoded.png">    </p:cNvPr>
          <p:cNvPicPr>
            <a:picLocks noChangeAspect="1"/>
          </p:cNvPicPr>
          <p:nvPr/>
        </p:nvPicPr>
        <p:blipFill>
          <a:blip r:embed="rId1"/>
          <a:stretch>
            <a:fillRect/>
          </a:stretch>
        </p:blipFill>
        <p:spPr>
          <a:xfrm>
            <a:off x="625450" y="2179930"/>
            <a:ext cx="230429" cy="230429"/>
          </a:xfrm>
          <a:prstGeom prst="rect">
            <a:avLst/>
          </a:prstGeom>
        </p:spPr>
      </p:pic>
      <p:sp>
        <p:nvSpPr>
          <p:cNvPr id="7" name="alert Nước thấp"/>
          <p:cNvSpPr txBox="1"/>
          <p:nvPr/>
        </p:nvSpPr>
        <p:spPr>
          <a:xfrm>
            <a:off x="1097280" y="2103120"/>
            <a:ext cx="5120640" cy="384048"/>
          </a:xfrm>
          <a:prstGeom prst="rect">
            <a:avLst/>
          </a:prstGeom>
          <a:noFill/>
          <a:ln/>
        </p:spPr>
        <p:txBody>
          <a:bodyPr wrap="square" lIns="0" tIns="0" rIns="0" bIns="0" rtlCol="0" anchor="ctr"/>
          <a:lstStyle/>
          <a:p>
            <a:pPr indent="0" marL="0">
              <a:buNone/>
            </a:pPr>
            <a:r>
              <a:rPr lang="en-US" sz="1400" b="1" dirty="0">
                <a:solidFill>
                  <a:schemeClr val="tx2"/>
                </a:solidFill>
                <a:latin typeface="Arial" pitchFamily="34" charset="0"/>
                <a:ea typeface="Arial" pitchFamily="34" charset="-122"/>
                <a:cs typeface="Arial" pitchFamily="34" charset="-120"/>
              </a:rPr>
              <a:t>Nước thấp: </a:t>
            </a:r>
            <a:pPr indent="0" marL="0">
              <a:buNone/>
            </a:pPr>
            <a:r>
              <a:rPr lang="en-US" sz="1400" dirty="0">
                <a:solidFill>
                  <a:schemeClr val="tx1"/>
                </a:solidFill>
                <a:latin typeface="Arial" pitchFamily="34" charset="0"/>
                <a:ea typeface="Arial" pitchFamily="34" charset="-122"/>
                <a:cs typeface="Arial" pitchFamily="34" charset="-120"/>
              </a:rPr>
              <a:t>water_adc &lt; 1200 — firmware khoá bơm</a:t>
            </a:r>
            <a:endParaRPr lang="en-US" sz="1400" dirty="0"/>
          </a:p>
        </p:txBody>
      </p:sp>
      <p:sp>
        <p:nvSpPr>
          <p:cNvPr id="8" name="alert 2 circle"/>
          <p:cNvSpPr/>
          <p:nvPr/>
        </p:nvSpPr>
        <p:spPr>
          <a:xfrm>
            <a:off x="548640" y="2651760"/>
            <a:ext cx="384048" cy="384048"/>
          </a:xfrm>
          <a:prstGeom prst="ellipse">
            <a:avLst/>
          </a:prstGeom>
          <a:solidFill>
            <a:schemeClr val="accent4"/>
          </a:solidFill>
          <a:ln w="12700">
            <a:solidFill>
              <a:schemeClr val="accent4"/>
            </a:solidFill>
            <a:prstDash val="solid"/>
          </a:ln>
        </p:spPr>
      </p:sp>
      <p:pic>
        <p:nvPicPr>
          <p:cNvPr id="9" name="alert 2 icon" descr="preencoded.png">    </p:cNvPr>
          <p:cNvPicPr>
            <a:picLocks noChangeAspect="1"/>
          </p:cNvPicPr>
          <p:nvPr/>
        </p:nvPicPr>
        <p:blipFill>
          <a:blip r:embed="rId2"/>
          <a:stretch>
            <a:fillRect/>
          </a:stretch>
        </p:blipFill>
        <p:spPr>
          <a:xfrm>
            <a:off x="625450" y="2728570"/>
            <a:ext cx="230429" cy="230429"/>
          </a:xfrm>
          <a:prstGeom prst="rect">
            <a:avLst/>
          </a:prstGeom>
        </p:spPr>
      </p:pic>
      <p:sp>
        <p:nvSpPr>
          <p:cNvPr id="10" name="alert Board offline"/>
          <p:cNvSpPr txBox="1"/>
          <p:nvPr/>
        </p:nvSpPr>
        <p:spPr>
          <a:xfrm>
            <a:off x="1097280" y="2651760"/>
            <a:ext cx="5120640" cy="384048"/>
          </a:xfrm>
          <a:prstGeom prst="rect">
            <a:avLst/>
          </a:prstGeom>
          <a:noFill/>
          <a:ln/>
        </p:spPr>
        <p:txBody>
          <a:bodyPr wrap="square" lIns="0" tIns="0" rIns="0" bIns="0" rtlCol="0" anchor="ctr"/>
          <a:lstStyle/>
          <a:p>
            <a:pPr indent="0" marL="0">
              <a:buNone/>
            </a:pPr>
            <a:r>
              <a:rPr lang="en-US" sz="1400" b="1" dirty="0">
                <a:solidFill>
                  <a:schemeClr val="tx2"/>
                </a:solidFill>
                <a:latin typeface="Arial" pitchFamily="34" charset="0"/>
                <a:ea typeface="Arial" pitchFamily="34" charset="-122"/>
                <a:cs typeface="Arial" pitchFamily="34" charset="-120"/>
              </a:rPr>
              <a:t>Board offline: </a:t>
            </a:r>
            <a:pPr indent="0" marL="0">
              <a:buNone/>
            </a:pPr>
            <a:r>
              <a:rPr lang="en-US" sz="1400" dirty="0">
                <a:solidFill>
                  <a:schemeClr val="tx1"/>
                </a:solidFill>
                <a:latin typeface="Arial" pitchFamily="34" charset="0"/>
                <a:ea typeface="Arial" pitchFamily="34" charset="-122"/>
                <a:cs typeface="Arial" pitchFamily="34" charset="-120"/>
              </a:rPr>
              <a:t>Last Will từ broker; báo khẩn khi &gt; 5 phút</a:t>
            </a:r>
            <a:endParaRPr lang="en-US" sz="1400" dirty="0"/>
          </a:p>
        </p:txBody>
      </p:sp>
      <p:sp>
        <p:nvSpPr>
          <p:cNvPr id="11" name="alert 3 circle"/>
          <p:cNvSpPr/>
          <p:nvPr/>
        </p:nvSpPr>
        <p:spPr>
          <a:xfrm>
            <a:off x="548640" y="3200400"/>
            <a:ext cx="384048" cy="384048"/>
          </a:xfrm>
          <a:prstGeom prst="ellipse">
            <a:avLst/>
          </a:prstGeom>
          <a:solidFill>
            <a:schemeClr val="accent1"/>
          </a:solidFill>
          <a:ln w="12700">
            <a:solidFill>
              <a:schemeClr val="accent1"/>
            </a:solidFill>
            <a:prstDash val="solid"/>
          </a:ln>
        </p:spPr>
      </p:sp>
      <p:pic>
        <p:nvPicPr>
          <p:cNvPr id="12" name="alert 3 icon" descr="preencoded.png">    </p:cNvPr>
          <p:cNvPicPr>
            <a:picLocks noChangeAspect="1"/>
          </p:cNvPicPr>
          <p:nvPr/>
        </p:nvPicPr>
        <p:blipFill>
          <a:blip r:embed="rId3"/>
          <a:stretch>
            <a:fillRect/>
          </a:stretch>
        </p:blipFill>
        <p:spPr>
          <a:xfrm>
            <a:off x="625450" y="3277210"/>
            <a:ext cx="230429" cy="230429"/>
          </a:xfrm>
          <a:prstGeom prst="rect">
            <a:avLst/>
          </a:prstGeom>
        </p:spPr>
      </p:pic>
      <p:sp>
        <p:nvSpPr>
          <p:cNvPr id="13" name="alert Nhiệt độ cao"/>
          <p:cNvSpPr txBox="1"/>
          <p:nvPr/>
        </p:nvSpPr>
        <p:spPr>
          <a:xfrm>
            <a:off x="1097280" y="3200400"/>
            <a:ext cx="5120640" cy="384048"/>
          </a:xfrm>
          <a:prstGeom prst="rect">
            <a:avLst/>
          </a:prstGeom>
          <a:noFill/>
          <a:ln/>
        </p:spPr>
        <p:txBody>
          <a:bodyPr wrap="square" lIns="0" tIns="0" rIns="0" bIns="0" rtlCol="0" anchor="ctr"/>
          <a:lstStyle/>
          <a:p>
            <a:pPr indent="0" marL="0">
              <a:buNone/>
            </a:pPr>
            <a:r>
              <a:rPr lang="en-US" sz="1400" b="1" dirty="0">
                <a:solidFill>
                  <a:schemeClr val="tx2"/>
                </a:solidFill>
                <a:latin typeface="Arial" pitchFamily="34" charset="0"/>
                <a:ea typeface="Arial" pitchFamily="34" charset="-122"/>
                <a:cs typeface="Arial" pitchFamily="34" charset="-120"/>
              </a:rPr>
              <a:t>Nhiệt độ cao: </a:t>
            </a:r>
            <a:pPr indent="0" marL="0">
              <a:buNone/>
            </a:pPr>
            <a:r>
              <a:rPr lang="en-US" sz="1400" dirty="0">
                <a:solidFill>
                  <a:schemeClr val="tx1"/>
                </a:solidFill>
                <a:latin typeface="Arial" pitchFamily="34" charset="0"/>
                <a:ea typeface="Arial" pitchFamily="34" charset="-122"/>
                <a:cs typeface="Arial" pitchFamily="34" charset="-120"/>
              </a:rPr>
              <a:t>≥ 33 °C, chống spam 5 phút</a:t>
            </a:r>
            <a:endParaRPr lang="en-US" sz="1400" dirty="0"/>
          </a:p>
        </p:txBody>
      </p:sp>
      <p:sp>
        <p:nvSpPr>
          <p:cNvPr id="14" name="alert 4 circle"/>
          <p:cNvSpPr/>
          <p:nvPr/>
        </p:nvSpPr>
        <p:spPr>
          <a:xfrm>
            <a:off x="548640" y="3749040"/>
            <a:ext cx="384048" cy="384048"/>
          </a:xfrm>
          <a:prstGeom prst="ellipse">
            <a:avLst/>
          </a:prstGeom>
          <a:solidFill>
            <a:schemeClr val="accent4"/>
          </a:solidFill>
          <a:ln w="12700">
            <a:solidFill>
              <a:schemeClr val="accent4"/>
            </a:solidFill>
            <a:prstDash val="solid"/>
          </a:ln>
        </p:spPr>
      </p:sp>
      <p:pic>
        <p:nvPicPr>
          <p:cNvPr id="15" name="alert 4 icon" descr="preencoded.png">    </p:cNvPr>
          <p:cNvPicPr>
            <a:picLocks noChangeAspect="1"/>
          </p:cNvPicPr>
          <p:nvPr/>
        </p:nvPicPr>
        <p:blipFill>
          <a:blip r:embed="rId4"/>
          <a:stretch>
            <a:fillRect/>
          </a:stretch>
        </p:blipFill>
        <p:spPr>
          <a:xfrm>
            <a:off x="625450" y="3825850"/>
            <a:ext cx="230429" cy="230429"/>
          </a:xfrm>
          <a:prstGeom prst="rect">
            <a:avLst/>
          </a:prstGeom>
        </p:spPr>
      </p:pic>
      <p:sp>
        <p:nvSpPr>
          <p:cNvPr id="16" name="alert Lỗi DHT22"/>
          <p:cNvSpPr txBox="1"/>
          <p:nvPr/>
        </p:nvSpPr>
        <p:spPr>
          <a:xfrm>
            <a:off x="1097280" y="3749040"/>
            <a:ext cx="5120640" cy="384048"/>
          </a:xfrm>
          <a:prstGeom prst="rect">
            <a:avLst/>
          </a:prstGeom>
          <a:noFill/>
          <a:ln/>
        </p:spPr>
        <p:txBody>
          <a:bodyPr wrap="square" lIns="0" tIns="0" rIns="0" bIns="0" rtlCol="0" anchor="ctr"/>
          <a:lstStyle/>
          <a:p>
            <a:pPr indent="0" marL="0">
              <a:buNone/>
            </a:pPr>
            <a:r>
              <a:rPr lang="en-US" sz="1400" b="1" dirty="0">
                <a:solidFill>
                  <a:schemeClr val="tx2"/>
                </a:solidFill>
                <a:latin typeface="Arial" pitchFamily="34" charset="0"/>
                <a:ea typeface="Arial" pitchFamily="34" charset="-122"/>
                <a:cs typeface="Arial" pitchFamily="34" charset="-120"/>
              </a:rPr>
              <a:t>Lỗi DHT22: </a:t>
            </a:r>
            <a:pPr indent="0" marL="0">
              <a:buNone/>
            </a:pPr>
            <a:r>
              <a:rPr lang="en-US" sz="1400" dirty="0">
                <a:solidFill>
                  <a:schemeClr val="tx1"/>
                </a:solidFill>
                <a:latin typeface="Arial" pitchFamily="34" charset="0"/>
                <a:ea typeface="Arial" pitchFamily="34" charset="-122"/>
                <a:cs typeface="Arial" pitchFamily="34" charset="-120"/>
              </a:rPr>
              <a:t>3 lần đọc lỗi liên tiếp</a:t>
            </a:r>
            <a:endParaRPr lang="en-US" sz="1400" dirty="0"/>
          </a:p>
        </p:txBody>
      </p:sp>
      <p:sp>
        <p:nvSpPr>
          <p:cNvPr id="17" name="telegram card"/>
          <p:cNvSpPr/>
          <p:nvPr/>
        </p:nvSpPr>
        <p:spPr>
          <a:xfrm>
            <a:off x="6492240" y="1691640"/>
            <a:ext cx="5148072" cy="2514600"/>
          </a:xfrm>
          <a:prstGeom prst="roundRect">
            <a:avLst>
              <a:gd name="adj" fmla="val 2909"/>
            </a:avLst>
          </a:prstGeom>
          <a:solidFill>
            <a:schemeClr val="bg2"/>
          </a:solidFill>
          <a:ln w="12700">
            <a:solidFill>
              <a:schemeClr val="accent5"/>
            </a:solidFill>
            <a:prstDash val="solid"/>
          </a:ln>
        </p:spPr>
      </p:sp>
      <p:sp>
        <p:nvSpPr>
          <p:cNvPr id="18" name="telegram circle"/>
          <p:cNvSpPr/>
          <p:nvPr/>
        </p:nvSpPr>
        <p:spPr>
          <a:xfrm>
            <a:off x="6720840" y="1874520"/>
            <a:ext cx="502920" cy="502920"/>
          </a:xfrm>
          <a:prstGeom prst="ellipse">
            <a:avLst/>
          </a:prstGeom>
          <a:solidFill>
            <a:schemeClr val="tx2"/>
          </a:solidFill>
          <a:ln w="12700">
            <a:solidFill>
              <a:schemeClr val="tx2"/>
            </a:solidFill>
            <a:prstDash val="solid"/>
          </a:ln>
        </p:spPr>
      </p:sp>
      <p:pic>
        <p:nvPicPr>
          <p:cNvPr id="19" name="telegram icon" descr="preencoded.png">    </p:cNvPr>
          <p:cNvPicPr>
            <a:picLocks noChangeAspect="1"/>
          </p:cNvPicPr>
          <p:nvPr/>
        </p:nvPicPr>
        <p:blipFill>
          <a:blip r:embed="rId5"/>
          <a:stretch>
            <a:fillRect/>
          </a:stretch>
        </p:blipFill>
        <p:spPr>
          <a:xfrm>
            <a:off x="6821424" y="1975104"/>
            <a:ext cx="301752" cy="301752"/>
          </a:xfrm>
          <a:prstGeom prst="rect">
            <a:avLst/>
          </a:prstGeom>
        </p:spPr>
      </p:pic>
      <p:sp>
        <p:nvSpPr>
          <p:cNvPr id="20" name="telegram title"/>
          <p:cNvSpPr txBox="1"/>
          <p:nvPr/>
        </p:nvSpPr>
        <p:spPr>
          <a:xfrm>
            <a:off x="7360920" y="1901952"/>
            <a:ext cx="4114800" cy="457200"/>
          </a:xfrm>
          <a:prstGeom prst="rect">
            <a:avLst/>
          </a:prstGeom>
          <a:noFill/>
          <a:ln/>
        </p:spPr>
        <p:txBody>
          <a:bodyPr wrap="square" lIns="0" tIns="0" rIns="0" bIns="0" rtlCol="0" anchor="ctr"/>
          <a:lstStyle/>
          <a:p>
            <a:pPr indent="0" marL="0">
              <a:buNone/>
            </a:pPr>
            <a:r>
              <a:rPr lang="en-US" sz="1700" b="1" dirty="0">
                <a:solidFill>
                  <a:schemeClr val="tx2"/>
                </a:solidFill>
                <a:latin typeface="Times New Roman" pitchFamily="34" charset="0"/>
                <a:ea typeface="Times New Roman" pitchFamily="34" charset="-122"/>
                <a:cs typeface="Times New Roman" pitchFamily="34" charset="-120"/>
              </a:rPr>
              <a:t>Bảo mật Telegram bot</a:t>
            </a:r>
            <a:endParaRPr lang="en-US" sz="1700" dirty="0"/>
          </a:p>
        </p:txBody>
      </p:sp>
      <p:sp>
        <p:nvSpPr>
          <p:cNvPr id="21" name="telegram bullets"/>
          <p:cNvSpPr txBox="1"/>
          <p:nvPr/>
        </p:nvSpPr>
        <p:spPr>
          <a:xfrm>
            <a:off x="6720840" y="2514600"/>
            <a:ext cx="4754880" cy="1600200"/>
          </a:xfrm>
          <a:prstGeom prst="rect">
            <a:avLst/>
          </a:prstGeom>
          <a:noFill/>
          <a:ln/>
        </p:spPr>
        <p:txBody>
          <a:bodyPr wrap="square" lIns="0" tIns="0" rIns="0" bIns="0" rtlCol="0" anchor="t"/>
          <a:lstStyle/>
          <a:p>
            <a:pPr marL="203200" indent="-203200">
              <a:spcAft>
                <a:spcPts val="600"/>
              </a:spcAft>
              <a:buSzPct val="100000"/>
              <a:buChar char="•"/>
            </a:pPr>
            <a:r>
              <a:rPr lang="en-US" sz="1300" dirty="0">
                <a:solidFill>
                  <a:schemeClr val="tx1"/>
                </a:solidFill>
                <a:latin typeface="Arial" pitchFamily="34" charset="0"/>
                <a:ea typeface="Arial" pitchFamily="34" charset="-122"/>
                <a:cs typeface="Arial" pitchFamily="34" charset="-120"/>
              </a:rPr>
              <a:t>Token đọc từ biến môi trường TELEGRAM_BOT_TOKEN, không ghi vào flow</a:t>
            </a:r>
            <a:endParaRPr lang="en-US" sz="1300" dirty="0"/>
          </a:p>
          <a:p>
            <a:pPr marL="203200" indent="-203200">
              <a:spcAft>
                <a:spcPts val="600"/>
              </a:spcAft>
              <a:buSzPct val="100000"/>
              <a:buChar char="•"/>
            </a:pPr>
            <a:r>
              <a:rPr lang="en-US" sz="1300" dirty="0">
                <a:solidFill>
                  <a:schemeClr val="tx1"/>
                </a:solidFill>
                <a:latin typeface="Arial" pitchFamily="34" charset="0"/>
                <a:ea typeface="Arial" pitchFamily="34" charset="-122"/>
                <a:cs typeface="Arial" pitchFamily="34" charset="-120"/>
              </a:rPr>
              <a:t>Chỉ gửi tới chat ID nhóm TELEGRAM_GROUP_CHAT_ID</a:t>
            </a:r>
            <a:endParaRPr lang="en-US" sz="1300" dirty="0"/>
          </a:p>
          <a:p>
            <a:pPr marL="203200" indent="-203200">
              <a:spcAft>
                <a:spcPts val="600"/>
              </a:spcAft>
              <a:buSzPct val="100000"/>
              <a:buChar char="•"/>
            </a:pPr>
            <a:r>
              <a:rPr lang="en-US" sz="1300" dirty="0">
                <a:solidFill>
                  <a:schemeClr val="tx1"/>
                </a:solidFill>
                <a:latin typeface="Arial" pitchFamily="34" charset="0"/>
                <a:ea typeface="Arial" pitchFamily="34" charset="-122"/>
                <a:cs typeface="Arial" pitchFamily="34" charset="-120"/>
              </a:rPr>
              <a:t>Chưa cấu hình token: chỉ ghi cảnh báo, không gửi</a:t>
            </a:r>
            <a:endParaRPr lang="en-US" sz="1300" dirty="0"/>
          </a:p>
        </p:txBody>
      </p:sp>
      <p:sp>
        <p:nvSpPr>
          <p:cNvPr id="22" name="heading Ghép luồng end-to-end"/>
          <p:cNvSpPr txBox="1"/>
          <p:nvPr/>
        </p:nvSpPr>
        <p:spPr>
          <a:xfrm>
            <a:off x="548640" y="4434840"/>
            <a:ext cx="5669280" cy="347472"/>
          </a:xfrm>
          <a:prstGeom prst="rect">
            <a:avLst/>
          </a:prstGeom>
          <a:noFill/>
          <a:ln/>
        </p:spPr>
        <p:txBody>
          <a:bodyPr wrap="square" lIns="0" tIns="0" rIns="0" bIns="0" rtlCol="0" anchor="ctr"/>
          <a:lstStyle/>
          <a:p>
            <a:pPr indent="0" marL="0">
              <a:buNone/>
            </a:pPr>
            <a:r>
              <a:rPr lang="en-US" sz="1700" b="1" dirty="0">
                <a:solidFill>
                  <a:schemeClr val="tx2"/>
                </a:solidFill>
                <a:latin typeface="Times New Roman" pitchFamily="34" charset="0"/>
                <a:ea typeface="Times New Roman" pitchFamily="34" charset="-122"/>
                <a:cs typeface="Times New Roman" pitchFamily="34" charset="-120"/>
              </a:rPr>
              <a:t>Ghép luồng end-to-end</a:t>
            </a:r>
            <a:endParaRPr lang="en-US" sz="1700" dirty="0"/>
          </a:p>
        </p:txBody>
      </p:sp>
      <p:sp>
        <p:nvSpPr>
          <p:cNvPr id="23" name="e2e step 1"/>
          <p:cNvSpPr/>
          <p:nvPr/>
        </p:nvSpPr>
        <p:spPr>
          <a:xfrm>
            <a:off x="548640" y="4864608"/>
            <a:ext cx="960120" cy="457200"/>
          </a:xfrm>
          <a:prstGeom prst="roundRect">
            <a:avLst>
              <a:gd name="adj" fmla="val 20000"/>
            </a:avLst>
          </a:prstGeom>
          <a:solidFill>
            <a:schemeClr val="tx2"/>
          </a:solidFill>
          <a:ln w="12700">
            <a:solidFill>
              <a:schemeClr val="bg1"/>
            </a:solidFill>
            <a:prstDash val="solid"/>
          </a:ln>
        </p:spPr>
      </p:sp>
      <p:sp>
        <p:nvSpPr>
          <p:cNvPr id="24" name="e2e label 1"/>
          <p:cNvSpPr txBox="1"/>
          <p:nvPr/>
        </p:nvSpPr>
        <p:spPr>
          <a:xfrm>
            <a:off x="548640" y="4864608"/>
            <a:ext cx="960120" cy="457200"/>
          </a:xfrm>
          <a:prstGeom prst="rect">
            <a:avLst/>
          </a:prstGeom>
          <a:noFill/>
          <a:ln/>
        </p:spPr>
        <p:txBody>
          <a:bodyPr wrap="square" lIns="0" tIns="0" rIns="0" bIns="0" rtlCol="0" anchor="ctr"/>
          <a:lstStyle/>
          <a:p>
            <a:pPr algn="ctr" indent="0" marL="0">
              <a:buNone/>
            </a:pPr>
            <a:r>
              <a:rPr lang="en-US" sz="1200" b="1" dirty="0">
                <a:solidFill>
                  <a:schemeClr val="bg1"/>
                </a:solidFill>
                <a:latin typeface="Arial" pitchFamily="34" charset="0"/>
                <a:ea typeface="Arial" pitchFamily="34" charset="-122"/>
                <a:cs typeface="Arial" pitchFamily="34" charset="-120"/>
              </a:rPr>
              <a:t>Telemetry</a:t>
            </a:r>
            <a:endParaRPr lang="en-US" sz="1200" dirty="0"/>
          </a:p>
        </p:txBody>
      </p:sp>
      <p:sp>
        <p:nvSpPr>
          <p:cNvPr id="25" name="e2e arrow 1"/>
          <p:cNvSpPr/>
          <p:nvPr/>
        </p:nvSpPr>
        <p:spPr>
          <a:xfrm>
            <a:off x="1527048" y="5093208"/>
            <a:ext cx="164592" cy="0"/>
          </a:xfrm>
          <a:prstGeom prst="line">
            <a:avLst/>
          </a:prstGeom>
          <a:noFill/>
          <a:ln w="22225">
            <a:solidFill>
              <a:schemeClr val="accent1"/>
            </a:solidFill>
            <a:prstDash val="solid"/>
            <a:tailEnd type="triangle"/>
          </a:ln>
        </p:spPr>
      </p:sp>
      <p:sp>
        <p:nvSpPr>
          <p:cNvPr id="26" name="e2e step 2"/>
          <p:cNvSpPr/>
          <p:nvPr/>
        </p:nvSpPr>
        <p:spPr>
          <a:xfrm>
            <a:off x="1709928" y="4864608"/>
            <a:ext cx="960120" cy="457200"/>
          </a:xfrm>
          <a:prstGeom prst="roundRect">
            <a:avLst>
              <a:gd name="adj" fmla="val 20000"/>
            </a:avLst>
          </a:prstGeom>
          <a:solidFill>
            <a:schemeClr val="accent2"/>
          </a:solidFill>
          <a:ln w="12700">
            <a:solidFill>
              <a:schemeClr val="bg1"/>
            </a:solidFill>
            <a:prstDash val="solid"/>
          </a:ln>
        </p:spPr>
      </p:sp>
      <p:sp>
        <p:nvSpPr>
          <p:cNvPr id="27" name="e2e label 2"/>
          <p:cNvSpPr txBox="1"/>
          <p:nvPr/>
        </p:nvSpPr>
        <p:spPr>
          <a:xfrm>
            <a:off x="1709928" y="4864608"/>
            <a:ext cx="960120" cy="457200"/>
          </a:xfrm>
          <a:prstGeom prst="rect">
            <a:avLst/>
          </a:prstGeom>
          <a:noFill/>
          <a:ln/>
        </p:spPr>
        <p:txBody>
          <a:bodyPr wrap="square" lIns="0" tIns="0" rIns="0" bIns="0" rtlCol="0" anchor="ctr"/>
          <a:lstStyle/>
          <a:p>
            <a:pPr algn="ctr" indent="0" marL="0">
              <a:buNone/>
            </a:pPr>
            <a:r>
              <a:rPr lang="en-US" sz="1200" b="1" dirty="0">
                <a:solidFill>
                  <a:schemeClr val="bg1"/>
                </a:solidFill>
                <a:latin typeface="Arial" pitchFamily="34" charset="0"/>
                <a:ea typeface="Arial" pitchFamily="34" charset="-122"/>
                <a:cs typeface="Arial" pitchFamily="34" charset="-120"/>
              </a:rPr>
              <a:t>MQTT</a:t>
            </a:r>
            <a:endParaRPr lang="en-US" sz="1200" dirty="0"/>
          </a:p>
        </p:txBody>
      </p:sp>
      <p:sp>
        <p:nvSpPr>
          <p:cNvPr id="28" name="e2e arrow 2"/>
          <p:cNvSpPr/>
          <p:nvPr/>
        </p:nvSpPr>
        <p:spPr>
          <a:xfrm>
            <a:off x="2688336" y="5093208"/>
            <a:ext cx="164592" cy="0"/>
          </a:xfrm>
          <a:prstGeom prst="line">
            <a:avLst/>
          </a:prstGeom>
          <a:noFill/>
          <a:ln w="22225">
            <a:solidFill>
              <a:schemeClr val="accent1"/>
            </a:solidFill>
            <a:prstDash val="solid"/>
            <a:tailEnd type="triangle"/>
          </a:ln>
        </p:spPr>
      </p:sp>
      <p:sp>
        <p:nvSpPr>
          <p:cNvPr id="29" name="e2e step 3"/>
          <p:cNvSpPr/>
          <p:nvPr/>
        </p:nvSpPr>
        <p:spPr>
          <a:xfrm>
            <a:off x="2871216" y="4864608"/>
            <a:ext cx="960120" cy="457200"/>
          </a:xfrm>
          <a:prstGeom prst="roundRect">
            <a:avLst>
              <a:gd name="adj" fmla="val 20000"/>
            </a:avLst>
          </a:prstGeom>
          <a:solidFill>
            <a:schemeClr val="tx2"/>
          </a:solidFill>
          <a:ln w="12700">
            <a:solidFill>
              <a:schemeClr val="bg1"/>
            </a:solidFill>
            <a:prstDash val="solid"/>
          </a:ln>
        </p:spPr>
      </p:sp>
      <p:sp>
        <p:nvSpPr>
          <p:cNvPr id="30" name="e2e label 3"/>
          <p:cNvSpPr txBox="1"/>
          <p:nvPr/>
        </p:nvSpPr>
        <p:spPr>
          <a:xfrm>
            <a:off x="2871216" y="4864608"/>
            <a:ext cx="960120" cy="457200"/>
          </a:xfrm>
          <a:prstGeom prst="rect">
            <a:avLst/>
          </a:prstGeom>
          <a:noFill/>
          <a:ln/>
        </p:spPr>
        <p:txBody>
          <a:bodyPr wrap="square" lIns="0" tIns="0" rIns="0" bIns="0" rtlCol="0" anchor="ctr"/>
          <a:lstStyle/>
          <a:p>
            <a:pPr algn="ctr" indent="0" marL="0">
              <a:buNone/>
            </a:pPr>
            <a:r>
              <a:rPr lang="en-US" sz="1200" b="1" dirty="0">
                <a:solidFill>
                  <a:schemeClr val="bg1"/>
                </a:solidFill>
                <a:latin typeface="Arial" pitchFamily="34" charset="0"/>
                <a:ea typeface="Arial" pitchFamily="34" charset="-122"/>
                <a:cs typeface="Arial" pitchFamily="34" charset="-120"/>
              </a:rPr>
              <a:t>Cảnh báo</a:t>
            </a:r>
            <a:endParaRPr lang="en-US" sz="1200" dirty="0"/>
          </a:p>
        </p:txBody>
      </p:sp>
      <p:sp>
        <p:nvSpPr>
          <p:cNvPr id="31" name="e2e arrow 3"/>
          <p:cNvSpPr/>
          <p:nvPr/>
        </p:nvSpPr>
        <p:spPr>
          <a:xfrm>
            <a:off x="3849624" y="5093208"/>
            <a:ext cx="164592" cy="0"/>
          </a:xfrm>
          <a:prstGeom prst="line">
            <a:avLst/>
          </a:prstGeom>
          <a:noFill/>
          <a:ln w="22225">
            <a:solidFill>
              <a:schemeClr val="accent1"/>
            </a:solidFill>
            <a:prstDash val="solid"/>
            <a:tailEnd type="triangle"/>
          </a:ln>
        </p:spPr>
      </p:sp>
      <p:sp>
        <p:nvSpPr>
          <p:cNvPr id="32" name="e2e step 4"/>
          <p:cNvSpPr/>
          <p:nvPr/>
        </p:nvSpPr>
        <p:spPr>
          <a:xfrm>
            <a:off x="4032504" y="4864608"/>
            <a:ext cx="960120" cy="457200"/>
          </a:xfrm>
          <a:prstGeom prst="roundRect">
            <a:avLst>
              <a:gd name="adj" fmla="val 20000"/>
            </a:avLst>
          </a:prstGeom>
          <a:solidFill>
            <a:schemeClr val="accent2"/>
          </a:solidFill>
          <a:ln w="12700">
            <a:solidFill>
              <a:schemeClr val="bg1"/>
            </a:solidFill>
            <a:prstDash val="solid"/>
          </a:ln>
        </p:spPr>
      </p:sp>
      <p:sp>
        <p:nvSpPr>
          <p:cNvPr id="33" name="e2e label 4"/>
          <p:cNvSpPr txBox="1"/>
          <p:nvPr/>
        </p:nvSpPr>
        <p:spPr>
          <a:xfrm>
            <a:off x="4032504" y="4864608"/>
            <a:ext cx="960120" cy="457200"/>
          </a:xfrm>
          <a:prstGeom prst="rect">
            <a:avLst/>
          </a:prstGeom>
          <a:noFill/>
          <a:ln/>
        </p:spPr>
        <p:txBody>
          <a:bodyPr wrap="square" lIns="0" tIns="0" rIns="0" bIns="0" rtlCol="0" anchor="ctr"/>
          <a:lstStyle/>
          <a:p>
            <a:pPr algn="ctr" indent="0" marL="0">
              <a:buNone/>
            </a:pPr>
            <a:r>
              <a:rPr lang="en-US" sz="1200" b="1" dirty="0">
                <a:solidFill>
                  <a:schemeClr val="bg1"/>
                </a:solidFill>
                <a:latin typeface="Arial" pitchFamily="34" charset="0"/>
                <a:ea typeface="Arial" pitchFamily="34" charset="-122"/>
                <a:cs typeface="Arial" pitchFamily="34" charset="-120"/>
              </a:rPr>
              <a:t>Lệnh</a:t>
            </a:r>
            <a:endParaRPr lang="en-US" sz="1200" dirty="0"/>
          </a:p>
        </p:txBody>
      </p:sp>
      <p:sp>
        <p:nvSpPr>
          <p:cNvPr id="34" name="e2e arrow 4"/>
          <p:cNvSpPr/>
          <p:nvPr/>
        </p:nvSpPr>
        <p:spPr>
          <a:xfrm>
            <a:off x="5010912" y="5093208"/>
            <a:ext cx="164592" cy="0"/>
          </a:xfrm>
          <a:prstGeom prst="line">
            <a:avLst/>
          </a:prstGeom>
          <a:noFill/>
          <a:ln w="22225">
            <a:solidFill>
              <a:schemeClr val="accent1"/>
            </a:solidFill>
            <a:prstDash val="solid"/>
            <a:tailEnd type="triangle"/>
          </a:ln>
        </p:spPr>
      </p:sp>
      <p:sp>
        <p:nvSpPr>
          <p:cNvPr id="35" name="e2e step 5"/>
          <p:cNvSpPr/>
          <p:nvPr/>
        </p:nvSpPr>
        <p:spPr>
          <a:xfrm>
            <a:off x="5193792" y="4864608"/>
            <a:ext cx="960120" cy="457200"/>
          </a:xfrm>
          <a:prstGeom prst="roundRect">
            <a:avLst>
              <a:gd name="adj" fmla="val 20000"/>
            </a:avLst>
          </a:prstGeom>
          <a:solidFill>
            <a:schemeClr val="tx2"/>
          </a:solidFill>
          <a:ln w="12700">
            <a:solidFill>
              <a:schemeClr val="bg1"/>
            </a:solidFill>
            <a:prstDash val="solid"/>
          </a:ln>
        </p:spPr>
      </p:sp>
      <p:sp>
        <p:nvSpPr>
          <p:cNvPr id="36" name="e2e label 5"/>
          <p:cNvSpPr txBox="1"/>
          <p:nvPr/>
        </p:nvSpPr>
        <p:spPr>
          <a:xfrm>
            <a:off x="5193792" y="4864608"/>
            <a:ext cx="960120" cy="457200"/>
          </a:xfrm>
          <a:prstGeom prst="rect">
            <a:avLst/>
          </a:prstGeom>
          <a:noFill/>
          <a:ln/>
        </p:spPr>
        <p:txBody>
          <a:bodyPr wrap="square" lIns="0" tIns="0" rIns="0" bIns="0" rtlCol="0" anchor="ctr"/>
          <a:lstStyle/>
          <a:p>
            <a:pPr algn="ctr" indent="0" marL="0">
              <a:buNone/>
            </a:pPr>
            <a:r>
              <a:rPr lang="en-US" sz="1200" b="1" dirty="0">
                <a:solidFill>
                  <a:schemeClr val="bg1"/>
                </a:solidFill>
                <a:latin typeface="Arial" pitchFamily="34" charset="0"/>
                <a:ea typeface="Arial" pitchFamily="34" charset="-122"/>
                <a:cs typeface="Arial" pitchFamily="34" charset="-120"/>
              </a:rPr>
              <a:t>ACK</a:t>
            </a:r>
            <a:endParaRPr lang="en-US" sz="1200" dirty="0"/>
          </a:p>
        </p:txBody>
      </p:sp>
      <p:sp>
        <p:nvSpPr>
          <p:cNvPr id="37" name="nguoi3 deliverable"/>
          <p:cNvSpPr txBox="1"/>
          <p:nvPr/>
        </p:nvSpPr>
        <p:spPr>
          <a:xfrm>
            <a:off x="548640" y="5486400"/>
            <a:ext cx="5760720" cy="548640"/>
          </a:xfrm>
          <a:prstGeom prst="rect">
            <a:avLst/>
          </a:prstGeom>
          <a:noFill/>
          <a:ln/>
        </p:spPr>
        <p:txBody>
          <a:bodyPr wrap="square" lIns="0" tIns="0" rIns="0" bIns="0" rtlCol="0" anchor="t"/>
          <a:lstStyle/>
          <a:p>
            <a:pPr indent="0" marL="0">
              <a:buNone/>
            </a:pPr>
            <a:r>
              <a:rPr lang="en-US" sz="1200" i="1" dirty="0">
                <a:solidFill>
                  <a:schemeClr val="accent6"/>
                </a:solidFill>
                <a:latin typeface="Arial" pitchFamily="34" charset="0"/>
                <a:ea typeface="Arial" pitchFamily="34" charset="-122"/>
                <a:cs typeface="Arial" pitchFamily="34" charset="-120"/>
              </a:rPr>
              <a:t>Bàn giao: tab Node-RED của Người 3, báo cáo tuan6-e2e-integration.md và kịch bản video demo-guide-video.md.</a:t>
            </a:r>
            <a:endParaRPr lang="en-US" sz="1200" dirty="0"/>
          </a:p>
        </p:txBody>
      </p:sp>
      <p:pic>
        <p:nvPicPr>
          <p:cNvPr id="38" name="screenshot offline.jpg" descr="Dashboard báo thiết bị offline qua Last Will">    </p:cNvPr>
          <p:cNvPicPr>
            <a:picLocks noChangeAspect="1"/>
          </p:cNvPicPr>
          <p:nvPr/>
        </p:nvPicPr>
        <p:blipFill>
          <a:blip r:embed="rId6"/>
          <a:stretch>
            <a:fillRect/>
          </a:stretch>
        </p:blipFill>
        <p:spPr>
          <a:xfrm>
            <a:off x="6492240" y="4434840"/>
            <a:ext cx="5148072" cy="1296623"/>
          </a:xfrm>
          <a:prstGeom prst="rect">
            <a:avLst/>
          </a:prstGeom>
        </p:spPr>
      </p:pic>
      <p:sp>
        <p:nvSpPr>
          <p:cNvPr id="39" name="frame offline.jpg"/>
          <p:cNvSpPr/>
          <p:nvPr/>
        </p:nvSpPr>
        <p:spPr>
          <a:xfrm>
            <a:off x="6492240" y="4434840"/>
            <a:ext cx="5148072" cy="1296623"/>
          </a:xfrm>
          <a:prstGeom prst="rect">
            <a:avLst/>
          </a:prstGeom>
          <a:solidFill>
            <a:schemeClr val="bg1">
              <a:alpha val="0"/>
            </a:schemeClr>
          </a:solidFill>
          <a:ln w="12700">
            <a:solidFill>
              <a:schemeClr val="accent5"/>
            </a:solidFill>
            <a:prstDash val="solid"/>
          </a:ln>
        </p:spPr>
      </p:sp>
      <p:sp>
        <p:nvSpPr>
          <p:cNvPr id="40" name="offline caption"/>
          <p:cNvSpPr txBox="1"/>
          <p:nvPr/>
        </p:nvSpPr>
        <p:spPr>
          <a:xfrm>
            <a:off x="6492240" y="5822903"/>
            <a:ext cx="5148072" cy="320040"/>
          </a:xfrm>
          <a:prstGeom prst="rect">
            <a:avLst/>
          </a:prstGeom>
          <a:noFill/>
          <a:ln/>
        </p:spPr>
        <p:txBody>
          <a:bodyPr wrap="square" lIns="0" tIns="0" rIns="0" bIns="0" rtlCol="0" anchor="ctr"/>
          <a:lstStyle/>
          <a:p>
            <a:pPr indent="0" marL="0">
              <a:buNone/>
            </a:pPr>
            <a:r>
              <a:rPr lang="en-US" sz="1100" i="1" dirty="0">
                <a:solidFill>
                  <a:schemeClr val="accent6"/>
                </a:solidFill>
                <a:latin typeface="Arial" pitchFamily="34" charset="0"/>
                <a:ea typeface="Arial" pitchFamily="34" charset="-122"/>
                <a:cs typeface="Arial" pitchFamily="34" charset="-120"/>
              </a:rPr>
              <a:t>Dashboard báo link_offline ngay khi broker phát Last Will.</a:t>
            </a:r>
            <a:endParaRPr lang="en-US" sz="1100" dirty="0"/>
          </a:p>
        </p:txBody>
      </p:sp>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6"/>
                </a:solidFill>
                <a:latin typeface="Arial"/>
                <a:ea typeface="Arial"/>
                <a:cs typeface="Aria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713232"/>
          </a:xfrm>
          <a:prstGeom prst="rect">
            <a:avLst/>
          </a:prstGeom>
          <a:noFill/>
          <a:ln/>
        </p:spPr>
        <p:txBody>
          <a:bodyPr wrap="square" lIns="0" tIns="0" rIns="0" bIns="0" rtlCol="0" anchor="b"/>
          <a:lstStyle/>
          <a:p>
            <a:pPr algn="l" indent="0" marL="0">
              <a:buNone/>
            </a:pPr>
            <a:r>
              <a:rPr lang="en-US" sz="3400" b="1" dirty="0">
                <a:solidFill>
                  <a:schemeClr val="tx2"/>
                </a:solidFill>
                <a:latin typeface="Times New Roman" pitchFamily="34" charset="0"/>
                <a:ea typeface="Times New Roman" pitchFamily="34" charset="-122"/>
                <a:cs typeface="Times New Roman" pitchFamily="34" charset="-120"/>
              </a:rPr>
              <a:t>Tuần 7 · Người 1 — Automation và lịch hoạt động</a:t>
            </a:r>
            <a:endParaRPr lang="en-US" sz="3400" dirty="0"/>
          </a:p>
        </p:txBody>
      </p:sp>
      <p:sp>
        <p:nvSpPr>
          <p:cNvPr id="3" name="Text 0"/>
          <p:cNvSpPr/>
          <p:nvPr>
            <p:ph idx="101" type="body" hasCustomPrompt="1"/>
          </p:nvPr>
        </p:nvSpPr>
        <p:spPr>
          <a:xfrm>
            <a:off x="548640" y="1097280"/>
            <a:ext cx="11091672" cy="384048"/>
          </a:xfrm>
          <a:prstGeom prst="rect">
            <a:avLst/>
          </a:prstGeom>
          <a:noFill/>
          <a:ln/>
        </p:spPr>
        <p:txBody>
          <a:bodyPr wrap="square" lIns="0" tIns="0" rIns="0" bIns="0" rtlCol="0" anchor="t"/>
          <a:lstStyle/>
          <a:p>
            <a:pPr algn="l" indent="0" marL="0">
              <a:buNone/>
            </a:pPr>
            <a:r>
              <a:rPr lang="en-US" sz="1600" i="1" dirty="0">
                <a:solidFill>
                  <a:schemeClr val="accent6"/>
                </a:solidFill>
                <a:latin typeface="Times New Roman" pitchFamily="34" charset="0"/>
                <a:ea typeface="Times New Roman" pitchFamily="34" charset="-122"/>
                <a:cs typeface="Times New Roman" pitchFamily="34" charset="-120"/>
              </a:rPr>
              <a:t>2 rule tự gửi lệnh khi dashboard ở AUTO · không tính bấm nút thủ công là automation</a:t>
            </a:r>
            <a:endParaRPr lang="en-US" sz="1600" dirty="0"/>
          </a:p>
        </p:txBody>
      </p:sp>
      <p:sp>
        <p:nvSpPr>
          <p:cNvPr id="4" name="rule card 1"/>
          <p:cNvSpPr/>
          <p:nvPr/>
        </p:nvSpPr>
        <p:spPr>
          <a:xfrm>
            <a:off x="548640" y="1691640"/>
            <a:ext cx="5449824" cy="2148840"/>
          </a:xfrm>
          <a:prstGeom prst="roundRect">
            <a:avLst>
              <a:gd name="adj" fmla="val 3404"/>
            </a:avLst>
          </a:prstGeom>
          <a:solidFill>
            <a:schemeClr val="bg2"/>
          </a:solidFill>
          <a:ln w="12700">
            <a:solidFill>
              <a:schemeClr val="accent5"/>
            </a:solidFill>
            <a:prstDash val="solid"/>
          </a:ln>
        </p:spPr>
      </p:sp>
      <p:sp>
        <p:nvSpPr>
          <p:cNvPr id="5" name="rule 1 circle"/>
          <p:cNvSpPr/>
          <p:nvPr/>
        </p:nvSpPr>
        <p:spPr>
          <a:xfrm>
            <a:off x="777240" y="1856232"/>
            <a:ext cx="502920" cy="502920"/>
          </a:xfrm>
          <a:prstGeom prst="ellipse">
            <a:avLst/>
          </a:prstGeom>
          <a:solidFill>
            <a:schemeClr val="accent1"/>
          </a:solidFill>
          <a:ln w="12700">
            <a:solidFill>
              <a:schemeClr val="accent1"/>
            </a:solidFill>
            <a:prstDash val="solid"/>
          </a:ln>
        </p:spPr>
      </p:sp>
      <p:pic>
        <p:nvPicPr>
          <p:cNvPr id="6" name="rule 1 icon" descr="preencoded.png">    </p:cNvPr>
          <p:cNvPicPr>
            <a:picLocks noChangeAspect="1"/>
          </p:cNvPicPr>
          <p:nvPr/>
        </p:nvPicPr>
        <p:blipFill>
          <a:blip r:embed="rId1"/>
          <a:stretch>
            <a:fillRect/>
          </a:stretch>
        </p:blipFill>
        <p:spPr>
          <a:xfrm>
            <a:off x="877824" y="1956816"/>
            <a:ext cx="301752" cy="301752"/>
          </a:xfrm>
          <a:prstGeom prst="rect">
            <a:avLst/>
          </a:prstGeom>
        </p:spPr>
      </p:pic>
      <p:sp>
        <p:nvSpPr>
          <p:cNvPr id="7" name="rule title 1"/>
          <p:cNvSpPr txBox="1"/>
          <p:nvPr/>
        </p:nvSpPr>
        <p:spPr>
          <a:xfrm>
            <a:off x="1417320" y="1874520"/>
            <a:ext cx="4389120" cy="457200"/>
          </a:xfrm>
          <a:prstGeom prst="rect">
            <a:avLst/>
          </a:prstGeom>
          <a:noFill/>
          <a:ln/>
        </p:spPr>
        <p:txBody>
          <a:bodyPr wrap="square" lIns="0" tIns="0" rIns="0" bIns="0" rtlCol="0" anchor="ctr"/>
          <a:lstStyle/>
          <a:p>
            <a:pPr indent="0" marL="0">
              <a:buNone/>
            </a:pPr>
            <a:r>
              <a:rPr lang="en-US" sz="1800" b="1" dirty="0">
                <a:solidFill>
                  <a:schemeClr val="tx2"/>
                </a:solidFill>
                <a:latin typeface="Times New Roman" pitchFamily="34" charset="0"/>
                <a:ea typeface="Times New Roman" pitchFamily="34" charset="-122"/>
                <a:cs typeface="Times New Roman" pitchFamily="34" charset="-120"/>
              </a:rPr>
              <a:t>Rule 1 · Đèn theo khung giờ</a:t>
            </a:r>
            <a:endParaRPr lang="en-US" sz="1800" dirty="0"/>
          </a:p>
        </p:txBody>
      </p:sp>
      <p:sp>
        <p:nvSpPr>
          <p:cNvPr id="8" name="rule bullets 1"/>
          <p:cNvSpPr txBox="1"/>
          <p:nvPr/>
        </p:nvSpPr>
        <p:spPr>
          <a:xfrm>
            <a:off x="822960" y="2395728"/>
            <a:ext cx="4983480" cy="1417320"/>
          </a:xfrm>
          <a:prstGeom prst="rect">
            <a:avLst/>
          </a:prstGeom>
          <a:noFill/>
          <a:ln/>
        </p:spPr>
        <p:txBody>
          <a:bodyPr wrap="square" lIns="0" tIns="0" rIns="0" bIns="0" rtlCol="0" anchor="t"/>
          <a:lstStyle/>
          <a:p>
            <a:pPr marL="203200" indent="-203200">
              <a:spcAft>
                <a:spcPts val="300"/>
              </a:spcAft>
              <a:buSzPct val="100000"/>
              <a:buChar char="•"/>
            </a:pPr>
            <a:r>
              <a:rPr lang="en-US" sz="1300" dirty="0">
                <a:solidFill>
                  <a:schemeClr val="tx1"/>
                </a:solidFill>
                <a:latin typeface="Arial" pitchFamily="34" charset="0"/>
                <a:ea typeface="Arial" pitchFamily="34" charset="-122"/>
                <a:cs typeface="Arial" pitchFamily="34" charset="-120"/>
              </a:rPr>
              <a:t>Khung 06:00–20:00 (giờ tắt 20:00): bật khi tối, tắt khi đủ sáng</a:t>
            </a:r>
            <a:endParaRPr lang="en-US" sz="1300" dirty="0"/>
          </a:p>
          <a:p>
            <a:pPr marL="203200" indent="-203200">
              <a:spcAft>
                <a:spcPts val="300"/>
              </a:spcAft>
              <a:buSzPct val="100000"/>
              <a:buChar char="•"/>
            </a:pPr>
            <a:r>
              <a:rPr lang="en-US" sz="1300" dirty="0">
                <a:solidFill>
                  <a:schemeClr val="tx1"/>
                </a:solidFill>
                <a:latin typeface="Arial" pitchFamily="34" charset="0"/>
                <a:ea typeface="Arial" pitchFamily="34" charset="-122"/>
                <a:cs typeface="Arial" pitchFamily="34" charset="-120"/>
              </a:rPr>
              <a:t>Ngưỡng ADC 2200 / 1800; tối đa 240 phút bật mỗi ngày</a:t>
            </a:r>
            <a:endParaRPr lang="en-US" sz="1300" dirty="0"/>
          </a:p>
          <a:p>
            <a:pPr marL="203200" indent="-203200">
              <a:spcAft>
                <a:spcPts val="300"/>
              </a:spcAft>
              <a:buSzPct val="100000"/>
              <a:buChar char="•"/>
            </a:pPr>
            <a:r>
              <a:rPr lang="en-US" sz="1300" dirty="0">
                <a:solidFill>
                  <a:schemeClr val="tx1"/>
                </a:solidFill>
                <a:latin typeface="Arial" pitchFamily="34" charset="0"/>
                <a:ea typeface="Arial" pitchFamily="34" charset="-122"/>
                <a:cs typeface="Arial" pitchFamily="34" charset="-120"/>
              </a:rPr>
              <a:t>Ngoài khung giữ đèn OFF → mặc định không bật suốt đêm</a:t>
            </a:r>
            <a:endParaRPr lang="en-US" sz="1300" dirty="0"/>
          </a:p>
          <a:p>
            <a:pPr marL="203200" indent="-203200">
              <a:spcAft>
                <a:spcPts val="300"/>
              </a:spcAft>
              <a:buSzPct val="100000"/>
              <a:buChar char="•"/>
            </a:pPr>
            <a:r>
              <a:rPr lang="en-US" sz="1300" dirty="0">
                <a:solidFill>
                  <a:schemeClr val="tx1"/>
                </a:solidFill>
                <a:latin typeface="Arial" pitchFamily="34" charset="0"/>
                <a:ea typeface="Arial" pitchFamily="34" charset="-122"/>
                <a:cs typeface="Arial" pitchFamily="34" charset="-120"/>
              </a:rPr>
              <a:t>Lệnh ON có TTL không vượt ngân sách còn lại</a:t>
            </a:r>
            <a:endParaRPr lang="en-US" sz="1300" dirty="0"/>
          </a:p>
        </p:txBody>
      </p:sp>
      <p:sp>
        <p:nvSpPr>
          <p:cNvPr id="9" name="rule card 2"/>
          <p:cNvSpPr/>
          <p:nvPr/>
        </p:nvSpPr>
        <p:spPr>
          <a:xfrm>
            <a:off x="6190488" y="1691640"/>
            <a:ext cx="5449824" cy="2148840"/>
          </a:xfrm>
          <a:prstGeom prst="roundRect">
            <a:avLst>
              <a:gd name="adj" fmla="val 3404"/>
            </a:avLst>
          </a:prstGeom>
          <a:solidFill>
            <a:schemeClr val="bg2"/>
          </a:solidFill>
          <a:ln w="12700">
            <a:solidFill>
              <a:schemeClr val="accent5"/>
            </a:solidFill>
            <a:prstDash val="solid"/>
          </a:ln>
        </p:spPr>
      </p:sp>
      <p:sp>
        <p:nvSpPr>
          <p:cNvPr id="10" name="rule 2 circle"/>
          <p:cNvSpPr/>
          <p:nvPr/>
        </p:nvSpPr>
        <p:spPr>
          <a:xfrm>
            <a:off x="6419088" y="1856232"/>
            <a:ext cx="502920" cy="502920"/>
          </a:xfrm>
          <a:prstGeom prst="ellipse">
            <a:avLst/>
          </a:prstGeom>
          <a:solidFill>
            <a:schemeClr val="accent1"/>
          </a:solidFill>
          <a:ln w="12700">
            <a:solidFill>
              <a:schemeClr val="accent1"/>
            </a:solidFill>
            <a:prstDash val="solid"/>
          </a:ln>
        </p:spPr>
      </p:sp>
      <p:pic>
        <p:nvPicPr>
          <p:cNvPr id="11" name="rule 2 icon" descr="preencoded.png">    </p:cNvPr>
          <p:cNvPicPr>
            <a:picLocks noChangeAspect="1"/>
          </p:cNvPicPr>
          <p:nvPr/>
        </p:nvPicPr>
        <p:blipFill>
          <a:blip r:embed="rId2"/>
          <a:stretch>
            <a:fillRect/>
          </a:stretch>
        </p:blipFill>
        <p:spPr>
          <a:xfrm>
            <a:off x="6519672" y="1956816"/>
            <a:ext cx="301752" cy="301752"/>
          </a:xfrm>
          <a:prstGeom prst="rect">
            <a:avLst/>
          </a:prstGeom>
        </p:spPr>
      </p:pic>
      <p:sp>
        <p:nvSpPr>
          <p:cNvPr id="12" name="rule title 2"/>
          <p:cNvSpPr txBox="1"/>
          <p:nvPr/>
        </p:nvSpPr>
        <p:spPr>
          <a:xfrm>
            <a:off x="7059168" y="1874520"/>
            <a:ext cx="4389120" cy="457200"/>
          </a:xfrm>
          <a:prstGeom prst="rect">
            <a:avLst/>
          </a:prstGeom>
          <a:noFill/>
          <a:ln/>
        </p:spPr>
        <p:txBody>
          <a:bodyPr wrap="square" lIns="0" tIns="0" rIns="0" bIns="0" rtlCol="0" anchor="ctr"/>
          <a:lstStyle/>
          <a:p>
            <a:pPr indent="0" marL="0">
              <a:buNone/>
            </a:pPr>
            <a:r>
              <a:rPr lang="en-US" sz="1800" b="1" dirty="0">
                <a:solidFill>
                  <a:schemeClr val="tx2"/>
                </a:solidFill>
                <a:latin typeface="Times New Roman" pitchFamily="34" charset="0"/>
                <a:ea typeface="Times New Roman" pitchFamily="34" charset="-122"/>
                <a:cs typeface="Times New Roman" pitchFamily="34" charset="-120"/>
              </a:rPr>
              <a:t>Rule 2 · Quạt sau chu kỳ phun</a:t>
            </a:r>
            <a:endParaRPr lang="en-US" sz="1800" dirty="0"/>
          </a:p>
        </p:txBody>
      </p:sp>
      <p:sp>
        <p:nvSpPr>
          <p:cNvPr id="13" name="rule bullets 2"/>
          <p:cNvSpPr txBox="1"/>
          <p:nvPr/>
        </p:nvSpPr>
        <p:spPr>
          <a:xfrm>
            <a:off x="6464808" y="2395728"/>
            <a:ext cx="4983480" cy="1417320"/>
          </a:xfrm>
          <a:prstGeom prst="rect">
            <a:avLst/>
          </a:prstGeom>
          <a:noFill/>
          <a:ln/>
        </p:spPr>
        <p:txBody>
          <a:bodyPr wrap="square" lIns="0" tIns="0" rIns="0" bIns="0" rtlCol="0" anchor="t"/>
          <a:lstStyle/>
          <a:p>
            <a:pPr marL="203200" indent="-203200">
              <a:spcAft>
                <a:spcPts val="300"/>
              </a:spcAft>
              <a:buSzPct val="100000"/>
              <a:buChar char="•"/>
            </a:pPr>
            <a:r>
              <a:rPr lang="en-US" sz="1300" dirty="0">
                <a:solidFill>
                  <a:schemeClr val="tx1"/>
                </a:solidFill>
                <a:latin typeface="Arial" pitchFamily="34" charset="0"/>
                <a:ea typeface="Arial" pitchFamily="34" charset="-122"/>
                <a:cs typeface="Arial" pitchFamily="34" charset="-120"/>
              </a:rPr>
              <a:t>Relay phun chuyển ON → OFF thì bật quạt 180 s</a:t>
            </a:r>
            <a:endParaRPr lang="en-US" sz="1300" dirty="0"/>
          </a:p>
          <a:p>
            <a:pPr marL="203200" indent="-203200">
              <a:spcAft>
                <a:spcPts val="300"/>
              </a:spcAft>
              <a:buSzPct val="100000"/>
              <a:buChar char="•"/>
            </a:pPr>
            <a:r>
              <a:rPr lang="en-US" sz="1300" dirty="0">
                <a:solidFill>
                  <a:schemeClr val="tx1"/>
                </a:solidFill>
                <a:latin typeface="Arial" pitchFamily="34" charset="0"/>
                <a:ea typeface="Arial" pitchFamily="34" charset="-122"/>
                <a:cs typeface="Arial" pitchFamily="34" charset="-120"/>
              </a:rPr>
              <a:t>Firmware tự tắt khi hết TTL, không chạy cả đêm</a:t>
            </a:r>
            <a:endParaRPr lang="en-US" sz="1300" dirty="0"/>
          </a:p>
          <a:p>
            <a:pPr marL="203200" indent="-203200">
              <a:spcAft>
                <a:spcPts val="300"/>
              </a:spcAft>
              <a:buSzPct val="100000"/>
              <a:buChar char="•"/>
            </a:pPr>
            <a:r>
              <a:rPr lang="en-US" sz="1300" dirty="0">
                <a:solidFill>
                  <a:schemeClr val="tx1"/>
                </a:solidFill>
                <a:latin typeface="Arial" pitchFamily="34" charset="0"/>
                <a:ea typeface="Arial" pitchFamily="34" charset="-122"/>
                <a:cs typeface="Arial" pitchFamily="34" charset="-120"/>
              </a:rPr>
              <a:t>Tối đa 24 lần/ngày; tạm dừng khi dashboard ở MANUAL</a:t>
            </a:r>
            <a:endParaRPr lang="en-US" sz="1300" dirty="0"/>
          </a:p>
        </p:txBody>
      </p:sp>
      <p:pic>
        <p:nvPicPr>
          <p:cNvPr id="14" name="screenshot events.jpg" descr="Bảng sự kiện automation với giờ lịch rút ngắn">    </p:cNvPr>
          <p:cNvPicPr>
            <a:picLocks noChangeAspect="1"/>
          </p:cNvPicPr>
          <p:nvPr/>
        </p:nvPicPr>
        <p:blipFill>
          <a:blip r:embed="rId3"/>
          <a:stretch>
            <a:fillRect/>
          </a:stretch>
        </p:blipFill>
        <p:spPr>
          <a:xfrm>
            <a:off x="548640" y="4023360"/>
            <a:ext cx="6949440" cy="2061494"/>
          </a:xfrm>
          <a:prstGeom prst="rect">
            <a:avLst/>
          </a:prstGeom>
        </p:spPr>
      </p:pic>
      <p:sp>
        <p:nvSpPr>
          <p:cNvPr id="15" name="frame events.jpg"/>
          <p:cNvSpPr/>
          <p:nvPr/>
        </p:nvSpPr>
        <p:spPr>
          <a:xfrm>
            <a:off x="548640" y="4023360"/>
            <a:ext cx="6949440" cy="2061494"/>
          </a:xfrm>
          <a:prstGeom prst="rect">
            <a:avLst/>
          </a:prstGeom>
          <a:solidFill>
            <a:schemeClr val="bg1">
              <a:alpha val="0"/>
            </a:schemeClr>
          </a:solidFill>
          <a:ln w="12700">
            <a:solidFill>
              <a:schemeClr val="accent5"/>
            </a:solidFill>
            <a:prstDash val="solid"/>
          </a:ln>
        </p:spPr>
      </p:sp>
      <p:sp>
        <p:nvSpPr>
          <p:cNvPr id="16" name="compressed clock card"/>
          <p:cNvSpPr/>
          <p:nvPr/>
        </p:nvSpPr>
        <p:spPr>
          <a:xfrm>
            <a:off x="7726680" y="4023360"/>
            <a:ext cx="3913632" cy="2061494"/>
          </a:xfrm>
          <a:prstGeom prst="roundRect">
            <a:avLst>
              <a:gd name="adj" fmla="val 3548"/>
            </a:avLst>
          </a:prstGeom>
          <a:solidFill>
            <a:schemeClr val="tx2"/>
          </a:solidFill>
          <a:ln w="12700">
            <a:solidFill>
              <a:schemeClr val="tx2"/>
            </a:solidFill>
            <a:prstDash val="solid"/>
          </a:ln>
        </p:spPr>
      </p:sp>
      <p:sp>
        <p:nvSpPr>
          <p:cNvPr id="17" name="clock title"/>
          <p:cNvSpPr txBox="1"/>
          <p:nvPr/>
        </p:nvSpPr>
        <p:spPr>
          <a:xfrm>
            <a:off x="7955280" y="4160520"/>
            <a:ext cx="3474720" cy="365760"/>
          </a:xfrm>
          <a:prstGeom prst="rect">
            <a:avLst/>
          </a:prstGeom>
          <a:noFill/>
          <a:ln/>
        </p:spPr>
        <p:txBody>
          <a:bodyPr wrap="square" lIns="0" tIns="0" rIns="0" bIns="0" rtlCol="0" anchor="ctr"/>
          <a:lstStyle/>
          <a:p>
            <a:pPr indent="0" marL="0">
              <a:buNone/>
            </a:pPr>
            <a:r>
              <a:rPr lang="en-US" sz="1600" b="1" dirty="0">
                <a:solidFill>
                  <a:schemeClr val="accent1"/>
                </a:solidFill>
                <a:latin typeface="Times New Roman" pitchFamily="34" charset="0"/>
                <a:ea typeface="Times New Roman" pitchFamily="34" charset="-122"/>
                <a:cs typeface="Times New Roman" pitchFamily="34" charset="-120"/>
              </a:rPr>
              <a:t>Thử bằng lịch rút ngắn ×60</a:t>
            </a:r>
            <a:endParaRPr lang="en-US" sz="1600" dirty="0"/>
          </a:p>
        </p:txBody>
      </p:sp>
      <p:sp>
        <p:nvSpPr>
          <p:cNvPr id="18" name="clock bullets"/>
          <p:cNvSpPr txBox="1"/>
          <p:nvPr/>
        </p:nvSpPr>
        <p:spPr>
          <a:xfrm>
            <a:off x="7955280" y="4572000"/>
            <a:ext cx="3520440" cy="1508760"/>
          </a:xfrm>
          <a:prstGeom prst="rect">
            <a:avLst/>
          </a:prstGeom>
          <a:noFill/>
          <a:ln/>
        </p:spPr>
        <p:txBody>
          <a:bodyPr wrap="square" lIns="0" tIns="0" rIns="0" bIns="0" rtlCol="0" anchor="t"/>
          <a:lstStyle/>
          <a:p>
            <a:pPr marL="203200" indent="-203200">
              <a:spcAft>
                <a:spcPts val="300"/>
              </a:spcAft>
              <a:buSzPct val="100000"/>
              <a:buChar char="•"/>
            </a:pPr>
            <a:r>
              <a:rPr lang="en-US" sz="1200" dirty="0">
                <a:solidFill>
                  <a:schemeClr val="bg1"/>
                </a:solidFill>
                <a:latin typeface="Arial" pitchFamily="34" charset="0"/>
                <a:ea typeface="Arial" pitchFamily="34" charset="-122"/>
                <a:cs typeface="Arial" pitchFamily="34" charset="-120"/>
              </a:rPr>
              <a:t>1 giây thật = 1 phút lịch, bắt đầu 05:50</a:t>
            </a:r>
            <a:endParaRPr lang="en-US" sz="1200" dirty="0"/>
          </a:p>
          <a:p>
            <a:pPr marL="203200" indent="-203200">
              <a:spcAft>
                <a:spcPts val="300"/>
              </a:spcAft>
              <a:buSzPct val="100000"/>
              <a:buChar char="•"/>
            </a:pPr>
            <a:r>
              <a:rPr lang="en-US" sz="1200" dirty="0">
                <a:solidFill>
                  <a:schemeClr val="bg1"/>
                </a:solidFill>
                <a:latin typeface="Arial" pitchFamily="34" charset="0"/>
                <a:ea typeface="Arial" pitchFamily="34" charset="-122"/>
                <a:cs typeface="Arial" pitchFamily="34" charset="-120"/>
              </a:rPr>
              <a:t>Đèn bật 06:00, chạm giới hạn 60 phút lúc 07:00 (~70 s thật)</a:t>
            </a:r>
            <a:endParaRPr lang="en-US" sz="1200" dirty="0"/>
          </a:p>
          <a:p>
            <a:pPr marL="203200" indent="-203200">
              <a:spcAft>
                <a:spcPts val="300"/>
              </a:spcAft>
              <a:buSzPct val="100000"/>
              <a:buChar char="•"/>
            </a:pPr>
            <a:r>
              <a:rPr lang="en-US" sz="1200" dirty="0">
                <a:solidFill>
                  <a:schemeClr val="bg1"/>
                </a:solidFill>
                <a:latin typeface="Arial" pitchFamily="34" charset="0"/>
                <a:ea typeface="Arial" pitchFamily="34" charset="-122"/>
                <a:cs typeface="Arial" pitchFamily="34" charset="-120"/>
              </a:rPr>
              <a:t>Quạt hỗ trợ sau mỗi lần phun, tự hết TTL</a:t>
            </a:r>
            <a:endParaRPr lang="en-US" sz="1200" dirty="0"/>
          </a:p>
        </p:txBody>
      </p:sp>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6"/>
                </a:solidFill>
                <a:latin typeface="Arial"/>
                <a:ea typeface="Arial"/>
                <a:cs typeface="Aria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713232"/>
          </a:xfrm>
          <a:prstGeom prst="rect">
            <a:avLst/>
          </a:prstGeom>
          <a:noFill/>
          <a:ln/>
        </p:spPr>
        <p:txBody>
          <a:bodyPr wrap="square" lIns="0" tIns="0" rIns="0" bIns="0" rtlCol="0" anchor="b"/>
          <a:lstStyle/>
          <a:p>
            <a:pPr algn="l" indent="0" marL="0">
              <a:buNone/>
            </a:pPr>
            <a:r>
              <a:rPr lang="en-US" sz="3400" b="1" dirty="0">
                <a:solidFill>
                  <a:schemeClr val="tx2"/>
                </a:solidFill>
                <a:latin typeface="Times New Roman" pitchFamily="34" charset="0"/>
                <a:ea typeface="Times New Roman" pitchFamily="34" charset="-122"/>
                <a:cs typeface="Times New Roman" pitchFamily="34" charset="-120"/>
              </a:rPr>
              <a:t>Tuần 7 · Người 2 — Chăm sóc ban đêm và lỗi an toàn</a:t>
            </a:r>
            <a:endParaRPr lang="en-US" sz="3400" dirty="0"/>
          </a:p>
        </p:txBody>
      </p:sp>
      <p:sp>
        <p:nvSpPr>
          <p:cNvPr id="3" name="Text 0"/>
          <p:cNvSpPr/>
          <p:nvPr>
            <p:ph idx="101" type="body" hasCustomPrompt="1"/>
          </p:nvPr>
        </p:nvSpPr>
        <p:spPr>
          <a:xfrm>
            <a:off x="548640" y="1097280"/>
            <a:ext cx="11091672" cy="384048"/>
          </a:xfrm>
          <a:prstGeom prst="rect">
            <a:avLst/>
          </a:prstGeom>
          <a:noFill/>
          <a:ln/>
        </p:spPr>
        <p:txBody>
          <a:bodyPr wrap="square" lIns="0" tIns="0" rIns="0" bIns="0" rtlCol="0" anchor="t"/>
          <a:lstStyle/>
          <a:p>
            <a:pPr algn="l" indent="0" marL="0">
              <a:buNone/>
            </a:pPr>
            <a:r>
              <a:rPr lang="en-US" sz="1600" i="1" dirty="0">
                <a:solidFill>
                  <a:schemeClr val="accent6"/>
                </a:solidFill>
                <a:latin typeface="Times New Roman" pitchFamily="34" charset="0"/>
                <a:ea typeface="Times New Roman" pitchFamily="34" charset="-122"/>
                <a:cs typeface="Times New Roman" pitchFamily="34" charset="-120"/>
              </a:rPr>
              <a:t>Chính sách mặc định do nhóm thống nhất · firmware vẫn giữ khoá nước, giới hạn phun và cooldown</a:t>
            </a:r>
            <a:endParaRPr lang="en-US" sz="1600" dirty="0"/>
          </a:p>
        </p:txBody>
      </p:sp>
      <p:sp>
        <p:nvSpPr>
          <p:cNvPr id="4" name="night policy card"/>
          <p:cNvSpPr/>
          <p:nvPr/>
        </p:nvSpPr>
        <p:spPr>
          <a:xfrm>
            <a:off x="548640" y="1691640"/>
            <a:ext cx="5486400" cy="1783080"/>
          </a:xfrm>
          <a:prstGeom prst="roundRect">
            <a:avLst>
              <a:gd name="adj" fmla="val 4103"/>
            </a:avLst>
          </a:prstGeom>
          <a:solidFill>
            <a:schemeClr val="bg2"/>
          </a:solidFill>
          <a:ln w="12700">
            <a:solidFill>
              <a:schemeClr val="accent5"/>
            </a:solidFill>
            <a:prstDash val="solid"/>
          </a:ln>
        </p:spPr>
      </p:sp>
      <p:sp>
        <p:nvSpPr>
          <p:cNvPr id="5" name="night circle"/>
          <p:cNvSpPr/>
          <p:nvPr/>
        </p:nvSpPr>
        <p:spPr>
          <a:xfrm>
            <a:off x="777240" y="1856232"/>
            <a:ext cx="502920" cy="502920"/>
          </a:xfrm>
          <a:prstGeom prst="ellipse">
            <a:avLst/>
          </a:prstGeom>
          <a:solidFill>
            <a:schemeClr val="tx2"/>
          </a:solidFill>
          <a:ln w="12700">
            <a:solidFill>
              <a:schemeClr val="tx2"/>
            </a:solidFill>
            <a:prstDash val="solid"/>
          </a:ln>
        </p:spPr>
      </p:sp>
      <p:pic>
        <p:nvPicPr>
          <p:cNvPr id="6" name="night icon" descr="preencoded.png">    </p:cNvPr>
          <p:cNvPicPr>
            <a:picLocks noChangeAspect="1"/>
          </p:cNvPicPr>
          <p:nvPr/>
        </p:nvPicPr>
        <p:blipFill>
          <a:blip r:embed="rId1"/>
          <a:stretch>
            <a:fillRect/>
          </a:stretch>
        </p:blipFill>
        <p:spPr>
          <a:xfrm>
            <a:off x="877824" y="1956816"/>
            <a:ext cx="301752" cy="301752"/>
          </a:xfrm>
          <a:prstGeom prst="rect">
            <a:avLst/>
          </a:prstGeom>
        </p:spPr>
      </p:pic>
      <p:sp>
        <p:nvSpPr>
          <p:cNvPr id="7" name="night title"/>
          <p:cNvSpPr txBox="1"/>
          <p:nvPr/>
        </p:nvSpPr>
        <p:spPr>
          <a:xfrm>
            <a:off x="1417320" y="1874520"/>
            <a:ext cx="4480560" cy="457200"/>
          </a:xfrm>
          <a:prstGeom prst="rect">
            <a:avLst/>
          </a:prstGeom>
          <a:noFill/>
          <a:ln/>
        </p:spPr>
        <p:txBody>
          <a:bodyPr wrap="square" lIns="0" tIns="0" rIns="0" bIns="0" rtlCol="0" anchor="ctr"/>
          <a:lstStyle/>
          <a:p>
            <a:pPr indent="0" marL="0">
              <a:buNone/>
            </a:pPr>
            <a:r>
              <a:rPr lang="en-US" sz="1700" b="1" dirty="0">
                <a:solidFill>
                  <a:schemeClr val="tx2"/>
                </a:solidFill>
                <a:latin typeface="Times New Roman" pitchFamily="34" charset="0"/>
                <a:ea typeface="Times New Roman" pitchFamily="34" charset="-122"/>
                <a:cs typeface="Times New Roman" pitchFamily="34" charset="-120"/>
              </a:rPr>
              <a:t>Khung giờ chăm sóc 06:00–18:00</a:t>
            </a:r>
            <a:endParaRPr lang="en-US" sz="1700" dirty="0"/>
          </a:p>
        </p:txBody>
      </p:sp>
      <p:sp>
        <p:nvSpPr>
          <p:cNvPr id="8" name="night bullets"/>
          <p:cNvSpPr txBox="1"/>
          <p:nvPr/>
        </p:nvSpPr>
        <p:spPr>
          <a:xfrm>
            <a:off x="777240" y="2487168"/>
            <a:ext cx="5120640" cy="914400"/>
          </a:xfrm>
          <a:prstGeom prst="rect">
            <a:avLst/>
          </a:prstGeom>
          <a:noFill/>
          <a:ln/>
        </p:spPr>
        <p:txBody>
          <a:bodyPr wrap="square" lIns="0" tIns="0" rIns="0" bIns="0" rtlCol="0" anchor="t"/>
          <a:lstStyle/>
          <a:p>
            <a:pPr marL="203200" indent="-203200">
              <a:spcAft>
                <a:spcPts val="400"/>
              </a:spcAft>
              <a:buSzPct val="100000"/>
              <a:buChar char="•"/>
            </a:pPr>
            <a:r>
              <a:rPr lang="en-US" sz="1300" dirty="0">
                <a:solidFill>
                  <a:schemeClr val="tx1"/>
                </a:solidFill>
                <a:latin typeface="Arial" pitchFamily="34" charset="0"/>
                <a:ea typeface="Arial" pitchFamily="34" charset="-122"/>
                <a:cs typeface="Arial" pitchFamily="34" charset="-120"/>
              </a:rPr>
              <a:t>Ngoài khung: không phun AUTO (giữ lệnh mist OFF, TTL 900 s)</a:t>
            </a:r>
            <a:endParaRPr lang="en-US" sz="1300" dirty="0"/>
          </a:p>
          <a:p>
            <a:pPr marL="203200" indent="-203200">
              <a:spcAft>
                <a:spcPts val="400"/>
              </a:spcAft>
              <a:buSzPct val="100000"/>
              <a:buChar char="•"/>
            </a:pPr>
            <a:r>
              <a:rPr lang="en-US" sz="1300" dirty="0">
                <a:solidFill>
                  <a:schemeClr val="tx1"/>
                </a:solidFill>
                <a:latin typeface="Arial" pitchFamily="34" charset="0"/>
                <a:ea typeface="Arial" pitchFamily="34" charset="-122"/>
                <a:cs typeface="Arial" pitchFamily="34" charset="-120"/>
              </a:rPr>
              <a:t>Mở phun đêm phải có team_confirmed + ghi chú ngưỡng/ngoại lệ cho loại lan</a:t>
            </a:r>
            <a:endParaRPr lang="en-US" sz="1300" dirty="0"/>
          </a:p>
        </p:txBody>
      </p:sp>
      <p:sp>
        <p:nvSpPr>
          <p:cNvPr id="9" name="heading Firmware khi có lỗi"/>
          <p:cNvSpPr txBox="1"/>
          <p:nvPr/>
        </p:nvSpPr>
        <p:spPr>
          <a:xfrm>
            <a:off x="548640" y="3657600"/>
            <a:ext cx="5486400" cy="347472"/>
          </a:xfrm>
          <a:prstGeom prst="rect">
            <a:avLst/>
          </a:prstGeom>
          <a:noFill/>
          <a:ln/>
        </p:spPr>
        <p:txBody>
          <a:bodyPr wrap="square" lIns="0" tIns="0" rIns="0" bIns="0" rtlCol="0" anchor="ctr"/>
          <a:lstStyle/>
          <a:p>
            <a:pPr indent="0" marL="0">
              <a:buNone/>
            </a:pPr>
            <a:r>
              <a:rPr lang="en-US" sz="1700" b="1" dirty="0">
                <a:solidFill>
                  <a:schemeClr val="tx2"/>
                </a:solidFill>
                <a:latin typeface="Times New Roman" pitchFamily="34" charset="0"/>
                <a:ea typeface="Times New Roman" pitchFamily="34" charset="-122"/>
                <a:cs typeface="Times New Roman" pitchFamily="34" charset="-120"/>
              </a:rPr>
              <a:t>Firmware khi có lỗi</a:t>
            </a:r>
            <a:endParaRPr lang="en-US" sz="1700" dirty="0"/>
          </a:p>
        </p:txBody>
      </p:sp>
      <p:sp>
        <p:nvSpPr>
          <p:cNvPr id="10" name="firmware bullets"/>
          <p:cNvSpPr txBox="1"/>
          <p:nvPr/>
        </p:nvSpPr>
        <p:spPr>
          <a:xfrm>
            <a:off x="548640" y="4041648"/>
            <a:ext cx="5486400" cy="2103120"/>
          </a:xfrm>
          <a:prstGeom prst="rect">
            <a:avLst/>
          </a:prstGeom>
          <a:noFill/>
          <a:ln/>
        </p:spPr>
        <p:txBody>
          <a:bodyPr wrap="square" lIns="0" tIns="0" rIns="0" bIns="0" rtlCol="0" anchor="t"/>
          <a:lstStyle/>
          <a:p>
            <a:pPr marL="203200" indent="-203200">
              <a:spcAft>
                <a:spcPts val="400"/>
              </a:spcAft>
              <a:buSzPct val="100000"/>
              <a:buChar char="•"/>
            </a:pPr>
            <a:r>
              <a:rPr lang="en-US" sz="1300" dirty="0">
                <a:solidFill>
                  <a:schemeClr val="tx1"/>
                </a:solidFill>
                <a:latin typeface="Arial" pitchFamily="34" charset="0"/>
                <a:ea typeface="Arial" pitchFamily="34" charset="-122"/>
                <a:cs typeface="Arial" pitchFamily="34" charset="-120"/>
              </a:rPr>
              <a:t>DHT lỗi 3 lần liên tiếp → SENSOR_FAULT: tắt phun, từ chối mist ON</a:t>
            </a:r>
            <a:endParaRPr lang="en-US" sz="1300" dirty="0"/>
          </a:p>
          <a:p>
            <a:pPr marL="203200" indent="-203200">
              <a:spcAft>
                <a:spcPts val="400"/>
              </a:spcAft>
              <a:buSzPct val="100000"/>
              <a:buChar char="•"/>
            </a:pPr>
            <a:r>
              <a:rPr lang="en-US" sz="1300" dirty="0">
                <a:solidFill>
                  <a:schemeClr val="tx1"/>
                </a:solidFill>
                <a:latin typeface="Arial" pitchFamily="34" charset="0"/>
                <a:ea typeface="Arial" pitchFamily="34" charset="-122"/>
                <a:cs typeface="Arial" pitchFamily="34" charset="-120"/>
              </a:rPr>
              <a:t>Nước thấp → WATER_LOCKOUT, ưu tiên cao nhất</a:t>
            </a:r>
            <a:endParaRPr lang="en-US" sz="1300" dirty="0"/>
          </a:p>
          <a:p>
            <a:pPr marL="203200" indent="-203200">
              <a:spcAft>
                <a:spcPts val="400"/>
              </a:spcAft>
              <a:buSzPct val="100000"/>
              <a:buChar char="•"/>
            </a:pPr>
            <a:r>
              <a:rPr lang="en-US" sz="1300" dirty="0">
                <a:solidFill>
                  <a:schemeClr val="tx1"/>
                </a:solidFill>
                <a:latin typeface="Arial" pitchFamily="34" charset="0"/>
                <a:ea typeface="Arial" pitchFamily="34" charset="-122"/>
                <a:cs typeface="Arial" pitchFamily="34" charset="-120"/>
              </a:rPr>
              <a:t>Mất MQTT/Wi-Fi → xoá lệnh tay, về AUTO cục bộ</a:t>
            </a:r>
            <a:endParaRPr lang="en-US" sz="1300" dirty="0"/>
          </a:p>
          <a:p>
            <a:pPr marL="203200" indent="-203200">
              <a:spcAft>
                <a:spcPts val="400"/>
              </a:spcAft>
              <a:buSzPct val="100000"/>
              <a:buChar char="•"/>
            </a:pPr>
            <a:r>
              <a:rPr lang="en-US" sz="1300" dirty="0">
                <a:solidFill>
                  <a:schemeClr val="tx1"/>
                </a:solidFill>
                <a:latin typeface="Arial" pitchFamily="34" charset="0"/>
                <a:ea typeface="Arial" pitchFamily="34" charset="-122"/>
                <a:cs typeface="Arial" pitchFamily="34" charset="-120"/>
              </a:rPr>
              <a:t>Mỗi lần phun tay đều cooldown; gửi ON lặp lại không kéo dài thời gian phun</a:t>
            </a:r>
            <a:endParaRPr lang="en-US" sz="1300" dirty="0"/>
          </a:p>
        </p:txBody>
      </p:sp>
      <p:pic>
        <p:nvPicPr>
          <p:cNvPr id="11" name="screenshot fault.jpg" descr="Dashboard khi DHT lỗi và nước thấp cùng lúc">    </p:cNvPr>
          <p:cNvPicPr>
            <a:picLocks noChangeAspect="1"/>
          </p:cNvPicPr>
          <p:nvPr/>
        </p:nvPicPr>
        <p:blipFill>
          <a:blip r:embed="rId2"/>
          <a:stretch>
            <a:fillRect/>
          </a:stretch>
        </p:blipFill>
        <p:spPr>
          <a:xfrm>
            <a:off x="6355080" y="1691640"/>
            <a:ext cx="5285232" cy="3983645"/>
          </a:xfrm>
          <a:prstGeom prst="rect">
            <a:avLst/>
          </a:prstGeom>
        </p:spPr>
      </p:pic>
      <p:sp>
        <p:nvSpPr>
          <p:cNvPr id="12" name="frame fault.jpg"/>
          <p:cNvSpPr/>
          <p:nvPr/>
        </p:nvSpPr>
        <p:spPr>
          <a:xfrm>
            <a:off x="6355080" y="1691640"/>
            <a:ext cx="5285232" cy="3983645"/>
          </a:xfrm>
          <a:prstGeom prst="rect">
            <a:avLst/>
          </a:prstGeom>
          <a:solidFill>
            <a:schemeClr val="bg1">
              <a:alpha val="0"/>
            </a:schemeClr>
          </a:solidFill>
          <a:ln w="12700">
            <a:solidFill>
              <a:schemeClr val="accent5"/>
            </a:solidFill>
            <a:prstDash val="solid"/>
          </a:ln>
        </p:spPr>
      </p:sp>
      <p:sp>
        <p:nvSpPr>
          <p:cNvPr id="13" name="fault caption"/>
          <p:cNvSpPr txBox="1"/>
          <p:nvPr/>
        </p:nvSpPr>
        <p:spPr>
          <a:xfrm>
            <a:off x="6355080" y="5766725"/>
            <a:ext cx="5285232" cy="457200"/>
          </a:xfrm>
          <a:prstGeom prst="rect">
            <a:avLst/>
          </a:prstGeom>
          <a:noFill/>
          <a:ln/>
        </p:spPr>
        <p:txBody>
          <a:bodyPr wrap="square" lIns="0" tIns="0" rIns="0" bIns="0" rtlCol="0" anchor="t"/>
          <a:lstStyle/>
          <a:p>
            <a:pPr indent="0" marL="0">
              <a:buNone/>
            </a:pPr>
            <a:r>
              <a:rPr lang="en-US" sz="1100" i="1" dirty="0">
                <a:solidFill>
                  <a:schemeClr val="accent6"/>
                </a:solidFill>
                <a:latin typeface="Arial" pitchFamily="34" charset="0"/>
                <a:ea typeface="Arial" pitchFamily="34" charset="-122"/>
                <a:cs typeface="Arial" pitchFamily="34" charset="-120"/>
              </a:rPr>
              <a:t>DHT lỗi + nước thấp: Mist WATER_LOCKOUT, nhiệt độ hiện "DHT fault", Safety state ghi rõ trạng thái an toàn.</a:t>
            </a:r>
            <a:endParaRPr lang="en-US" sz="1100" dirty="0"/>
          </a:p>
        </p:txBody>
      </p:sp>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6"/>
                </a:solidFill>
                <a:latin typeface="Arial"/>
                <a:ea typeface="Arial"/>
                <a:cs typeface="Aria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713232"/>
          </a:xfrm>
          <a:prstGeom prst="rect">
            <a:avLst/>
          </a:prstGeom>
          <a:noFill/>
          <a:ln/>
        </p:spPr>
        <p:txBody>
          <a:bodyPr wrap="square" lIns="0" tIns="0" rIns="0" bIns="0" rtlCol="0" anchor="b"/>
          <a:lstStyle/>
          <a:p>
            <a:pPr algn="l" indent="0" marL="0">
              <a:buNone/>
            </a:pPr>
            <a:r>
              <a:rPr lang="en-US" sz="3400" b="1" dirty="0">
                <a:solidFill>
                  <a:schemeClr val="tx2"/>
                </a:solidFill>
                <a:latin typeface="Times New Roman" pitchFamily="34" charset="0"/>
                <a:ea typeface="Times New Roman" pitchFamily="34" charset="-122"/>
                <a:cs typeface="Times New Roman" pitchFamily="34" charset="-120"/>
              </a:rPr>
              <a:t>Tình huống bất thường đã chạy</a:t>
            </a:r>
            <a:endParaRPr lang="en-US" sz="3400" dirty="0"/>
          </a:p>
        </p:txBody>
      </p:sp>
      <p:sp>
        <p:nvSpPr>
          <p:cNvPr id="3" name="Text 0"/>
          <p:cNvSpPr/>
          <p:nvPr>
            <p:ph idx="101" type="body" hasCustomPrompt="1"/>
          </p:nvPr>
        </p:nvSpPr>
        <p:spPr>
          <a:xfrm>
            <a:off x="548640" y="1097280"/>
            <a:ext cx="11091672" cy="384048"/>
          </a:xfrm>
          <a:prstGeom prst="rect">
            <a:avLst/>
          </a:prstGeom>
          <a:noFill/>
          <a:ln/>
        </p:spPr>
        <p:txBody>
          <a:bodyPr wrap="square" lIns="0" tIns="0" rIns="0" bIns="0" rtlCol="0" anchor="t"/>
          <a:lstStyle/>
          <a:p>
            <a:pPr algn="l" indent="0" marL="0">
              <a:buNone/>
            </a:pPr>
            <a:r>
              <a:rPr lang="en-US" sz="1600" i="1" dirty="0">
                <a:solidFill>
                  <a:schemeClr val="accent6"/>
                </a:solidFill>
                <a:latin typeface="Times New Roman" pitchFamily="34" charset="0"/>
                <a:ea typeface="Times New Roman" pitchFamily="34" charset="-122"/>
                <a:cs typeface="Times New Roman" pitchFamily="34" charset="-120"/>
              </a:rPr>
              <a:t>Lượt chạy end-to-end: Node-RED + dashboard thật, thiết bị mô phỏng giao thức · mốc thời gian lấy từ log</a:t>
            </a:r>
            <a:endParaRPr lang="en-US" sz="1600" dirty="0"/>
          </a:p>
        </p:txBody>
      </p:sp>
      <p:sp>
        <p:nvSpPr>
          <p:cNvPr id="4" name="timeline axis"/>
          <p:cNvSpPr/>
          <p:nvPr/>
        </p:nvSpPr>
        <p:spPr>
          <a:xfrm>
            <a:off x="868680" y="2057400"/>
            <a:ext cx="10515600" cy="0"/>
          </a:xfrm>
          <a:prstGeom prst="line">
            <a:avLst/>
          </a:prstGeom>
          <a:noFill/>
          <a:ln w="25400">
            <a:solidFill>
              <a:schemeClr val="accent5"/>
            </a:solidFill>
            <a:prstDash val="solid"/>
          </a:ln>
        </p:spPr>
      </p:sp>
      <p:sp>
        <p:nvSpPr>
          <p:cNvPr id="5" name="timeline dot 1"/>
          <p:cNvSpPr/>
          <p:nvPr/>
        </p:nvSpPr>
        <p:spPr>
          <a:xfrm>
            <a:off x="749808" y="1874520"/>
            <a:ext cx="365760" cy="365760"/>
          </a:xfrm>
          <a:prstGeom prst="ellipse">
            <a:avLst/>
          </a:prstGeom>
          <a:solidFill>
            <a:schemeClr val="tx2"/>
          </a:solidFill>
          <a:ln w="25400">
            <a:solidFill>
              <a:schemeClr val="bg1"/>
            </a:solidFill>
            <a:prstDash val="solid"/>
          </a:ln>
        </p:spPr>
      </p:sp>
      <p:sp>
        <p:nvSpPr>
          <p:cNvPr id="6" name="timeline time 1"/>
          <p:cNvSpPr txBox="1"/>
          <p:nvPr/>
        </p:nvSpPr>
        <p:spPr>
          <a:xfrm>
            <a:off x="548640" y="1554480"/>
            <a:ext cx="1463040" cy="274320"/>
          </a:xfrm>
          <a:prstGeom prst="rect">
            <a:avLst/>
          </a:prstGeom>
          <a:noFill/>
          <a:ln/>
        </p:spPr>
        <p:txBody>
          <a:bodyPr wrap="square" lIns="0" tIns="0" rIns="0" bIns="0" rtlCol="0" anchor="ctr"/>
          <a:lstStyle/>
          <a:p>
            <a:pPr indent="0" marL="0">
              <a:buNone/>
            </a:pPr>
            <a:r>
              <a:rPr lang="en-US" sz="1200" b="1" dirty="0">
                <a:solidFill>
                  <a:schemeClr val="tx2"/>
                </a:solidFill>
                <a:latin typeface="Arial" pitchFamily="34" charset="0"/>
                <a:ea typeface="Arial" pitchFamily="34" charset="-122"/>
                <a:cs typeface="Arial" pitchFamily="34" charset="-120"/>
              </a:rPr>
              <a:t>0 s</a:t>
            </a:r>
            <a:endParaRPr lang="en-US" sz="1200" dirty="0"/>
          </a:p>
        </p:txBody>
      </p:sp>
      <p:sp>
        <p:nvSpPr>
          <p:cNvPr id="7" name="timeline title 1"/>
          <p:cNvSpPr txBox="1"/>
          <p:nvPr/>
        </p:nvSpPr>
        <p:spPr>
          <a:xfrm>
            <a:off x="548640" y="2377440"/>
            <a:ext cx="1481328" cy="548640"/>
          </a:xfrm>
          <a:prstGeom prst="rect">
            <a:avLst/>
          </a:prstGeom>
          <a:noFill/>
          <a:ln/>
        </p:spPr>
        <p:txBody>
          <a:bodyPr wrap="square" lIns="0" tIns="0" rIns="0" bIns="0" rtlCol="0" anchor="t"/>
          <a:lstStyle/>
          <a:p>
            <a:pPr indent="0" marL="0">
              <a:buNone/>
            </a:pPr>
            <a:r>
              <a:rPr lang="en-US" sz="1500" b="1" dirty="0">
                <a:solidFill>
                  <a:schemeClr val="tx2"/>
                </a:solidFill>
                <a:latin typeface="Times New Roman" pitchFamily="34" charset="0"/>
                <a:ea typeface="Times New Roman" pitchFamily="34" charset="-122"/>
                <a:cs typeface="Times New Roman" pitchFamily="34" charset="-120"/>
              </a:rPr>
              <a:t>DHT lỗi khi đang phun</a:t>
            </a:r>
            <a:endParaRPr lang="en-US" sz="1500" dirty="0"/>
          </a:p>
        </p:txBody>
      </p:sp>
      <p:sp>
        <p:nvSpPr>
          <p:cNvPr id="8" name="timeline desc 1"/>
          <p:cNvSpPr txBox="1"/>
          <p:nvPr/>
        </p:nvSpPr>
        <p:spPr>
          <a:xfrm>
            <a:off x="548640" y="2971800"/>
            <a:ext cx="1481328" cy="914400"/>
          </a:xfrm>
          <a:prstGeom prst="rect">
            <a:avLst/>
          </a:prstGeom>
          <a:noFill/>
          <a:ln/>
        </p:spPr>
        <p:txBody>
          <a:bodyPr wrap="square" lIns="0" tIns="0" rIns="0" bIns="0" rtlCol="0" anchor="t"/>
          <a:lstStyle/>
          <a:p>
            <a:pPr indent="0" marL="0">
              <a:buNone/>
            </a:pPr>
            <a:r>
              <a:rPr lang="en-US" sz="1200" dirty="0">
                <a:solidFill>
                  <a:schemeClr val="tx1"/>
                </a:solidFill>
                <a:latin typeface="Arial" pitchFamily="34" charset="0"/>
                <a:ea typeface="Arial" pitchFamily="34" charset="-122"/>
                <a:cs typeface="Arial" pitchFamily="34" charset="-120"/>
              </a:rPr>
              <a:t>Giả lập mất tín hiệu DHT22</a:t>
            </a:r>
            <a:endParaRPr lang="en-US" sz="1200" dirty="0"/>
          </a:p>
        </p:txBody>
      </p:sp>
      <p:sp>
        <p:nvSpPr>
          <p:cNvPr id="9" name="timeline dot 2"/>
          <p:cNvSpPr/>
          <p:nvPr/>
        </p:nvSpPr>
        <p:spPr>
          <a:xfrm>
            <a:off x="2350008" y="1874520"/>
            <a:ext cx="365760" cy="365760"/>
          </a:xfrm>
          <a:prstGeom prst="ellipse">
            <a:avLst/>
          </a:prstGeom>
          <a:solidFill>
            <a:schemeClr val="accent4"/>
          </a:solidFill>
          <a:ln w="25400">
            <a:solidFill>
              <a:schemeClr val="bg1"/>
            </a:solidFill>
            <a:prstDash val="solid"/>
          </a:ln>
        </p:spPr>
      </p:sp>
      <p:sp>
        <p:nvSpPr>
          <p:cNvPr id="10" name="timeline time 2"/>
          <p:cNvSpPr txBox="1"/>
          <p:nvPr/>
        </p:nvSpPr>
        <p:spPr>
          <a:xfrm>
            <a:off x="2148840" y="1554480"/>
            <a:ext cx="1463040" cy="274320"/>
          </a:xfrm>
          <a:prstGeom prst="rect">
            <a:avLst/>
          </a:prstGeom>
          <a:noFill/>
          <a:ln/>
        </p:spPr>
        <p:txBody>
          <a:bodyPr wrap="square" lIns="0" tIns="0" rIns="0" bIns="0" rtlCol="0" anchor="ctr"/>
          <a:lstStyle/>
          <a:p>
            <a:pPr indent="0" marL="0">
              <a:buNone/>
            </a:pPr>
            <a:r>
              <a:rPr lang="en-US" sz="1200" b="1" dirty="0">
                <a:solidFill>
                  <a:schemeClr val="accent4"/>
                </a:solidFill>
                <a:latin typeface="Arial" pitchFamily="34" charset="0"/>
                <a:ea typeface="Arial" pitchFamily="34" charset="-122"/>
                <a:cs typeface="Arial" pitchFamily="34" charset="-120"/>
              </a:rPr>
              <a:t>+7,7 s</a:t>
            </a:r>
            <a:endParaRPr lang="en-US" sz="1200" dirty="0"/>
          </a:p>
        </p:txBody>
      </p:sp>
      <p:sp>
        <p:nvSpPr>
          <p:cNvPr id="11" name="timeline title 2"/>
          <p:cNvSpPr txBox="1"/>
          <p:nvPr/>
        </p:nvSpPr>
        <p:spPr>
          <a:xfrm>
            <a:off x="2148840" y="2377440"/>
            <a:ext cx="1481328" cy="548640"/>
          </a:xfrm>
          <a:prstGeom prst="rect">
            <a:avLst/>
          </a:prstGeom>
          <a:noFill/>
          <a:ln/>
        </p:spPr>
        <p:txBody>
          <a:bodyPr wrap="square" lIns="0" tIns="0" rIns="0" bIns="0" rtlCol="0" anchor="t"/>
          <a:lstStyle/>
          <a:p>
            <a:pPr indent="0" marL="0">
              <a:buNone/>
            </a:pPr>
            <a:r>
              <a:rPr lang="en-US" sz="1500" b="1" dirty="0">
                <a:solidFill>
                  <a:schemeClr val="tx2"/>
                </a:solidFill>
                <a:latin typeface="Times New Roman" pitchFamily="34" charset="0"/>
                <a:ea typeface="Times New Roman" pitchFamily="34" charset="-122"/>
                <a:cs typeface="Times New Roman" pitchFamily="34" charset="-120"/>
              </a:rPr>
              <a:t>Lỗi cảm biến</a:t>
            </a:r>
            <a:endParaRPr lang="en-US" sz="1500" dirty="0"/>
          </a:p>
        </p:txBody>
      </p:sp>
      <p:sp>
        <p:nvSpPr>
          <p:cNvPr id="12" name="timeline desc 2"/>
          <p:cNvSpPr txBox="1"/>
          <p:nvPr/>
        </p:nvSpPr>
        <p:spPr>
          <a:xfrm>
            <a:off x="2148840" y="2971800"/>
            <a:ext cx="1481328" cy="914400"/>
          </a:xfrm>
          <a:prstGeom prst="rect">
            <a:avLst/>
          </a:prstGeom>
          <a:noFill/>
          <a:ln/>
        </p:spPr>
        <p:txBody>
          <a:bodyPr wrap="square" lIns="0" tIns="0" rIns="0" bIns="0" rtlCol="0" anchor="t"/>
          <a:lstStyle/>
          <a:p>
            <a:pPr indent="0" marL="0">
              <a:buNone/>
            </a:pPr>
            <a:r>
              <a:rPr lang="en-US" sz="1200" dirty="0">
                <a:solidFill>
                  <a:schemeClr val="tx1"/>
                </a:solidFill>
                <a:latin typeface="Arial" pitchFamily="34" charset="0"/>
                <a:ea typeface="Arial" pitchFamily="34" charset="-122"/>
                <a:cs typeface="Arial" pitchFamily="34" charset="-120"/>
              </a:rPr>
              <a:t>SENSOR_FAULT: relay phun tắt, cảnh báo dht_fault</a:t>
            </a:r>
            <a:endParaRPr lang="en-US" sz="1200" dirty="0"/>
          </a:p>
        </p:txBody>
      </p:sp>
      <p:sp>
        <p:nvSpPr>
          <p:cNvPr id="13" name="timeline dot 3"/>
          <p:cNvSpPr/>
          <p:nvPr/>
        </p:nvSpPr>
        <p:spPr>
          <a:xfrm>
            <a:off x="3950208" y="1874520"/>
            <a:ext cx="365760" cy="365760"/>
          </a:xfrm>
          <a:prstGeom prst="ellipse">
            <a:avLst/>
          </a:prstGeom>
          <a:solidFill>
            <a:schemeClr val="accent4"/>
          </a:solidFill>
          <a:ln w="25400">
            <a:solidFill>
              <a:schemeClr val="bg1"/>
            </a:solidFill>
            <a:prstDash val="solid"/>
          </a:ln>
        </p:spPr>
      </p:sp>
      <p:sp>
        <p:nvSpPr>
          <p:cNvPr id="14" name="timeline time 3"/>
          <p:cNvSpPr txBox="1"/>
          <p:nvPr/>
        </p:nvSpPr>
        <p:spPr>
          <a:xfrm>
            <a:off x="3749040" y="1554480"/>
            <a:ext cx="1463040" cy="274320"/>
          </a:xfrm>
          <a:prstGeom prst="rect">
            <a:avLst/>
          </a:prstGeom>
          <a:noFill/>
          <a:ln/>
        </p:spPr>
        <p:txBody>
          <a:bodyPr wrap="square" lIns="0" tIns="0" rIns="0" bIns="0" rtlCol="0" anchor="ctr"/>
          <a:lstStyle/>
          <a:p>
            <a:pPr indent="0" marL="0">
              <a:buNone/>
            </a:pPr>
            <a:r>
              <a:rPr lang="en-US" sz="1200" b="1" dirty="0">
                <a:solidFill>
                  <a:schemeClr val="accent4"/>
                </a:solidFill>
                <a:latin typeface="Arial" pitchFamily="34" charset="0"/>
                <a:ea typeface="Arial" pitchFamily="34" charset="-122"/>
                <a:cs typeface="Arial" pitchFamily="34" charset="-120"/>
              </a:rPr>
              <a:t>+10,1 s</a:t>
            </a:r>
            <a:endParaRPr lang="en-US" sz="1200" dirty="0"/>
          </a:p>
        </p:txBody>
      </p:sp>
      <p:sp>
        <p:nvSpPr>
          <p:cNvPr id="15" name="timeline title 3"/>
          <p:cNvSpPr txBox="1"/>
          <p:nvPr/>
        </p:nvSpPr>
        <p:spPr>
          <a:xfrm>
            <a:off x="3749040" y="2377440"/>
            <a:ext cx="1481328" cy="548640"/>
          </a:xfrm>
          <a:prstGeom prst="rect">
            <a:avLst/>
          </a:prstGeom>
          <a:noFill/>
          <a:ln/>
        </p:spPr>
        <p:txBody>
          <a:bodyPr wrap="square" lIns="0" tIns="0" rIns="0" bIns="0" rtlCol="0" anchor="t"/>
          <a:lstStyle/>
          <a:p>
            <a:pPr indent="0" marL="0">
              <a:buNone/>
            </a:pPr>
            <a:r>
              <a:rPr lang="en-US" sz="1500" b="1" dirty="0">
                <a:solidFill>
                  <a:schemeClr val="tx2"/>
                </a:solidFill>
                <a:latin typeface="Times New Roman" pitchFamily="34" charset="0"/>
                <a:ea typeface="Times New Roman" pitchFamily="34" charset="-122"/>
                <a:cs typeface="Times New Roman" pitchFamily="34" charset="-120"/>
              </a:rPr>
              <a:t>Nước thấp</a:t>
            </a:r>
            <a:endParaRPr lang="en-US" sz="1500" dirty="0"/>
          </a:p>
        </p:txBody>
      </p:sp>
      <p:sp>
        <p:nvSpPr>
          <p:cNvPr id="16" name="timeline desc 3"/>
          <p:cNvSpPr txBox="1"/>
          <p:nvPr/>
        </p:nvSpPr>
        <p:spPr>
          <a:xfrm>
            <a:off x="3749040" y="2971800"/>
            <a:ext cx="1481328" cy="914400"/>
          </a:xfrm>
          <a:prstGeom prst="rect">
            <a:avLst/>
          </a:prstGeom>
          <a:noFill/>
          <a:ln/>
        </p:spPr>
        <p:txBody>
          <a:bodyPr wrap="square" lIns="0" tIns="0" rIns="0" bIns="0" rtlCol="0" anchor="t"/>
          <a:lstStyle/>
          <a:p>
            <a:pPr indent="0" marL="0">
              <a:buNone/>
            </a:pPr>
            <a:r>
              <a:rPr lang="en-US" sz="1200" dirty="0">
                <a:solidFill>
                  <a:schemeClr val="tx1"/>
                </a:solidFill>
                <a:latin typeface="Arial" pitchFamily="34" charset="0"/>
                <a:ea typeface="Arial" pitchFamily="34" charset="-122"/>
                <a:cs typeface="Arial" pitchFamily="34" charset="-120"/>
              </a:rPr>
              <a:t>WATER_LOCKOUT ưu tiên hơn lỗi cảm biến</a:t>
            </a:r>
            <a:endParaRPr lang="en-US" sz="1200" dirty="0"/>
          </a:p>
        </p:txBody>
      </p:sp>
      <p:sp>
        <p:nvSpPr>
          <p:cNvPr id="17" name="timeline dot 4"/>
          <p:cNvSpPr/>
          <p:nvPr/>
        </p:nvSpPr>
        <p:spPr>
          <a:xfrm>
            <a:off x="5550408" y="1874520"/>
            <a:ext cx="365760" cy="365760"/>
          </a:xfrm>
          <a:prstGeom prst="ellipse">
            <a:avLst/>
          </a:prstGeom>
          <a:solidFill>
            <a:schemeClr val="tx2"/>
          </a:solidFill>
          <a:ln w="25400">
            <a:solidFill>
              <a:schemeClr val="bg1"/>
            </a:solidFill>
            <a:prstDash val="solid"/>
          </a:ln>
        </p:spPr>
      </p:sp>
      <p:sp>
        <p:nvSpPr>
          <p:cNvPr id="18" name="timeline time 4"/>
          <p:cNvSpPr txBox="1"/>
          <p:nvPr/>
        </p:nvSpPr>
        <p:spPr>
          <a:xfrm>
            <a:off x="5349240" y="1554480"/>
            <a:ext cx="1463040" cy="274320"/>
          </a:xfrm>
          <a:prstGeom prst="rect">
            <a:avLst/>
          </a:prstGeom>
          <a:noFill/>
          <a:ln/>
        </p:spPr>
        <p:txBody>
          <a:bodyPr wrap="square" lIns="0" tIns="0" rIns="0" bIns="0" rtlCol="0" anchor="ctr"/>
          <a:lstStyle/>
          <a:p>
            <a:pPr indent="0" marL="0">
              <a:buNone/>
            </a:pPr>
            <a:r>
              <a:rPr lang="en-US" sz="1200" b="1" dirty="0">
                <a:solidFill>
                  <a:schemeClr val="tx2"/>
                </a:solidFill>
                <a:latin typeface="Arial" pitchFamily="34" charset="0"/>
                <a:ea typeface="Arial" pitchFamily="34" charset="-122"/>
                <a:cs typeface="Arial" pitchFamily="34" charset="-120"/>
              </a:rPr>
              <a:t>+15,3 s</a:t>
            </a:r>
            <a:endParaRPr lang="en-US" sz="1200" dirty="0"/>
          </a:p>
        </p:txBody>
      </p:sp>
      <p:sp>
        <p:nvSpPr>
          <p:cNvPr id="19" name="timeline title 4"/>
          <p:cNvSpPr txBox="1"/>
          <p:nvPr/>
        </p:nvSpPr>
        <p:spPr>
          <a:xfrm>
            <a:off x="5349240" y="2377440"/>
            <a:ext cx="1481328" cy="548640"/>
          </a:xfrm>
          <a:prstGeom prst="rect">
            <a:avLst/>
          </a:prstGeom>
          <a:noFill/>
          <a:ln/>
        </p:spPr>
        <p:txBody>
          <a:bodyPr wrap="square" lIns="0" tIns="0" rIns="0" bIns="0" rtlCol="0" anchor="t"/>
          <a:lstStyle/>
          <a:p>
            <a:pPr indent="0" marL="0">
              <a:buNone/>
            </a:pPr>
            <a:r>
              <a:rPr lang="en-US" sz="1500" b="1" dirty="0">
                <a:solidFill>
                  <a:schemeClr val="tx2"/>
                </a:solidFill>
                <a:latin typeface="Times New Roman" pitchFamily="34" charset="0"/>
                <a:ea typeface="Times New Roman" pitchFamily="34" charset="-122"/>
                <a:cs typeface="Times New Roman" pitchFamily="34" charset="-120"/>
              </a:rPr>
              <a:t>Đổ nước</a:t>
            </a:r>
            <a:endParaRPr lang="en-US" sz="1500" dirty="0"/>
          </a:p>
        </p:txBody>
      </p:sp>
      <p:sp>
        <p:nvSpPr>
          <p:cNvPr id="20" name="timeline desc 4"/>
          <p:cNvSpPr txBox="1"/>
          <p:nvPr/>
        </p:nvSpPr>
        <p:spPr>
          <a:xfrm>
            <a:off x="5349240" y="2971800"/>
            <a:ext cx="1481328" cy="914400"/>
          </a:xfrm>
          <a:prstGeom prst="rect">
            <a:avLst/>
          </a:prstGeom>
          <a:noFill/>
          <a:ln/>
        </p:spPr>
        <p:txBody>
          <a:bodyPr wrap="square" lIns="0" tIns="0" rIns="0" bIns="0" rtlCol="0" anchor="t"/>
          <a:lstStyle/>
          <a:p>
            <a:pPr indent="0" marL="0">
              <a:buNone/>
            </a:pPr>
            <a:r>
              <a:rPr lang="en-US" sz="1200" dirty="0">
                <a:solidFill>
                  <a:schemeClr val="tx1"/>
                </a:solidFill>
                <a:latin typeface="Arial" pitchFamily="34" charset="0"/>
                <a:ea typeface="Arial" pitchFamily="34" charset="-122"/>
                <a:cs typeface="Arial" pitchFamily="34" charset="-120"/>
              </a:rPr>
              <a:t>DHT vẫn lỗi nên quay lại SENSOR_FAULT</a:t>
            </a:r>
            <a:endParaRPr lang="en-US" sz="1200" dirty="0"/>
          </a:p>
        </p:txBody>
      </p:sp>
      <p:sp>
        <p:nvSpPr>
          <p:cNvPr id="21" name="timeline dot 5"/>
          <p:cNvSpPr/>
          <p:nvPr/>
        </p:nvSpPr>
        <p:spPr>
          <a:xfrm>
            <a:off x="7150608" y="1874520"/>
            <a:ext cx="365760" cy="365760"/>
          </a:xfrm>
          <a:prstGeom prst="ellipse">
            <a:avLst/>
          </a:prstGeom>
          <a:solidFill>
            <a:schemeClr val="tx2"/>
          </a:solidFill>
          <a:ln w="25400">
            <a:solidFill>
              <a:schemeClr val="bg1"/>
            </a:solidFill>
            <a:prstDash val="solid"/>
          </a:ln>
        </p:spPr>
      </p:sp>
      <p:sp>
        <p:nvSpPr>
          <p:cNvPr id="22" name="timeline time 5"/>
          <p:cNvSpPr txBox="1"/>
          <p:nvPr/>
        </p:nvSpPr>
        <p:spPr>
          <a:xfrm>
            <a:off x="6949440" y="1554480"/>
            <a:ext cx="1463040" cy="274320"/>
          </a:xfrm>
          <a:prstGeom prst="rect">
            <a:avLst/>
          </a:prstGeom>
          <a:noFill/>
          <a:ln/>
        </p:spPr>
        <p:txBody>
          <a:bodyPr wrap="square" lIns="0" tIns="0" rIns="0" bIns="0" rtlCol="0" anchor="ctr"/>
          <a:lstStyle/>
          <a:p>
            <a:pPr indent="0" marL="0">
              <a:buNone/>
            </a:pPr>
            <a:r>
              <a:rPr lang="en-US" sz="1200" b="1" dirty="0">
                <a:solidFill>
                  <a:schemeClr val="tx2"/>
                </a:solidFill>
                <a:latin typeface="Arial" pitchFamily="34" charset="0"/>
                <a:ea typeface="Arial" pitchFamily="34" charset="-122"/>
                <a:cs typeface="Arial" pitchFamily="34" charset="-120"/>
              </a:rPr>
              <a:t>+17,7 s</a:t>
            </a:r>
            <a:endParaRPr lang="en-US" sz="1200" dirty="0"/>
          </a:p>
        </p:txBody>
      </p:sp>
      <p:sp>
        <p:nvSpPr>
          <p:cNvPr id="23" name="timeline title 5"/>
          <p:cNvSpPr txBox="1"/>
          <p:nvPr/>
        </p:nvSpPr>
        <p:spPr>
          <a:xfrm>
            <a:off x="6949440" y="2377440"/>
            <a:ext cx="1481328" cy="548640"/>
          </a:xfrm>
          <a:prstGeom prst="rect">
            <a:avLst/>
          </a:prstGeom>
          <a:noFill/>
          <a:ln/>
        </p:spPr>
        <p:txBody>
          <a:bodyPr wrap="square" lIns="0" tIns="0" rIns="0" bIns="0" rtlCol="0" anchor="t"/>
          <a:lstStyle/>
          <a:p>
            <a:pPr indent="0" marL="0">
              <a:buNone/>
            </a:pPr>
            <a:r>
              <a:rPr lang="en-US" sz="1500" b="1" dirty="0">
                <a:solidFill>
                  <a:schemeClr val="tx2"/>
                </a:solidFill>
                <a:latin typeface="Times New Roman" pitchFamily="34" charset="0"/>
                <a:ea typeface="Times New Roman" pitchFamily="34" charset="-122"/>
                <a:cs typeface="Times New Roman" pitchFamily="34" charset="-120"/>
              </a:rPr>
              <a:t>DHT hồi phục</a:t>
            </a:r>
            <a:endParaRPr lang="en-US" sz="1500" dirty="0"/>
          </a:p>
        </p:txBody>
      </p:sp>
      <p:sp>
        <p:nvSpPr>
          <p:cNvPr id="24" name="timeline desc 5"/>
          <p:cNvSpPr txBox="1"/>
          <p:nvPr/>
        </p:nvSpPr>
        <p:spPr>
          <a:xfrm>
            <a:off x="6949440" y="2971800"/>
            <a:ext cx="1481328" cy="914400"/>
          </a:xfrm>
          <a:prstGeom prst="rect">
            <a:avLst/>
          </a:prstGeom>
          <a:noFill/>
          <a:ln/>
        </p:spPr>
        <p:txBody>
          <a:bodyPr wrap="square" lIns="0" tIns="0" rIns="0" bIns="0" rtlCol="0" anchor="t"/>
          <a:lstStyle/>
          <a:p>
            <a:pPr indent="0" marL="0">
              <a:buNone/>
            </a:pPr>
            <a:r>
              <a:rPr lang="en-US" sz="1200" dirty="0">
                <a:solidFill>
                  <a:schemeClr val="tx1"/>
                </a:solidFill>
                <a:latin typeface="Arial" pitchFamily="34" charset="0"/>
                <a:ea typeface="Arial" pitchFamily="34" charset="-122"/>
                <a:cs typeface="Arial" pitchFamily="34" charset="-120"/>
              </a:rPr>
              <a:t>Qua COOLDOWN rồi mới được phun</a:t>
            </a:r>
            <a:endParaRPr lang="en-US" sz="1200" dirty="0"/>
          </a:p>
        </p:txBody>
      </p:sp>
      <p:sp>
        <p:nvSpPr>
          <p:cNvPr id="25" name="timeline dot 6"/>
          <p:cNvSpPr/>
          <p:nvPr/>
        </p:nvSpPr>
        <p:spPr>
          <a:xfrm>
            <a:off x="8750808" y="1874520"/>
            <a:ext cx="365760" cy="365760"/>
          </a:xfrm>
          <a:prstGeom prst="ellipse">
            <a:avLst/>
          </a:prstGeom>
          <a:solidFill>
            <a:schemeClr val="accent4"/>
          </a:solidFill>
          <a:ln w="25400">
            <a:solidFill>
              <a:schemeClr val="bg1"/>
            </a:solidFill>
            <a:prstDash val="solid"/>
          </a:ln>
        </p:spPr>
      </p:sp>
      <p:sp>
        <p:nvSpPr>
          <p:cNvPr id="26" name="timeline time 6"/>
          <p:cNvSpPr txBox="1"/>
          <p:nvPr/>
        </p:nvSpPr>
        <p:spPr>
          <a:xfrm>
            <a:off x="8549640" y="1554480"/>
            <a:ext cx="1463040" cy="274320"/>
          </a:xfrm>
          <a:prstGeom prst="rect">
            <a:avLst/>
          </a:prstGeom>
          <a:noFill/>
          <a:ln/>
        </p:spPr>
        <p:txBody>
          <a:bodyPr wrap="square" lIns="0" tIns="0" rIns="0" bIns="0" rtlCol="0" anchor="ctr"/>
          <a:lstStyle/>
          <a:p>
            <a:pPr indent="0" marL="0">
              <a:buNone/>
            </a:pPr>
            <a:r>
              <a:rPr lang="en-US" sz="1200" b="1" dirty="0">
                <a:solidFill>
                  <a:schemeClr val="accent4"/>
                </a:solidFill>
                <a:latin typeface="Arial" pitchFamily="34" charset="0"/>
                <a:ea typeface="Arial" pitchFamily="34" charset="-122"/>
                <a:cs typeface="Arial" pitchFamily="34" charset="-120"/>
              </a:rPr>
              <a:t>+17,9 s</a:t>
            </a:r>
            <a:endParaRPr lang="en-US" sz="1200" dirty="0"/>
          </a:p>
        </p:txBody>
      </p:sp>
      <p:sp>
        <p:nvSpPr>
          <p:cNvPr id="27" name="timeline title 6"/>
          <p:cNvSpPr txBox="1"/>
          <p:nvPr/>
        </p:nvSpPr>
        <p:spPr>
          <a:xfrm>
            <a:off x="8549640" y="2377440"/>
            <a:ext cx="1481328" cy="548640"/>
          </a:xfrm>
          <a:prstGeom prst="rect">
            <a:avLst/>
          </a:prstGeom>
          <a:noFill/>
          <a:ln/>
        </p:spPr>
        <p:txBody>
          <a:bodyPr wrap="square" lIns="0" tIns="0" rIns="0" bIns="0" rtlCol="0" anchor="t"/>
          <a:lstStyle/>
          <a:p>
            <a:pPr indent="0" marL="0">
              <a:buNone/>
            </a:pPr>
            <a:r>
              <a:rPr lang="en-US" sz="1500" b="1" dirty="0">
                <a:solidFill>
                  <a:schemeClr val="tx2"/>
                </a:solidFill>
                <a:latin typeface="Times New Roman" pitchFamily="34" charset="0"/>
                <a:ea typeface="Times New Roman" pitchFamily="34" charset="-122"/>
                <a:cs typeface="Times New Roman" pitchFamily="34" charset="-120"/>
              </a:rPr>
              <a:t>Mất kết nối 20 s</a:t>
            </a:r>
            <a:endParaRPr lang="en-US" sz="1500" dirty="0"/>
          </a:p>
        </p:txBody>
      </p:sp>
      <p:sp>
        <p:nvSpPr>
          <p:cNvPr id="28" name="timeline desc 6"/>
          <p:cNvSpPr txBox="1"/>
          <p:nvPr/>
        </p:nvSpPr>
        <p:spPr>
          <a:xfrm>
            <a:off x="8549640" y="2971800"/>
            <a:ext cx="1481328" cy="914400"/>
          </a:xfrm>
          <a:prstGeom prst="rect">
            <a:avLst/>
          </a:prstGeom>
          <a:noFill/>
          <a:ln/>
        </p:spPr>
        <p:txBody>
          <a:bodyPr wrap="square" lIns="0" tIns="0" rIns="0" bIns="0" rtlCol="0" anchor="t"/>
          <a:lstStyle/>
          <a:p>
            <a:pPr indent="0" marL="0">
              <a:buNone/>
            </a:pPr>
            <a:r>
              <a:rPr lang="en-US" sz="1200" dirty="0">
                <a:solidFill>
                  <a:schemeClr val="tx1"/>
                </a:solidFill>
                <a:latin typeface="Arial" pitchFamily="34" charset="0"/>
                <a:ea typeface="Arial" pitchFamily="34" charset="-122"/>
                <a:cs typeface="Arial" pitchFamily="34" charset="-120"/>
              </a:rPr>
              <a:t>OFFLINE qua Last Will; thiết bị xoá lệnh tay</a:t>
            </a:r>
            <a:endParaRPr lang="en-US" sz="1200" dirty="0"/>
          </a:p>
        </p:txBody>
      </p:sp>
      <p:sp>
        <p:nvSpPr>
          <p:cNvPr id="29" name="timeline dot 7"/>
          <p:cNvSpPr/>
          <p:nvPr/>
        </p:nvSpPr>
        <p:spPr>
          <a:xfrm>
            <a:off x="10351008" y="1874520"/>
            <a:ext cx="365760" cy="365760"/>
          </a:xfrm>
          <a:prstGeom prst="ellipse">
            <a:avLst/>
          </a:prstGeom>
          <a:solidFill>
            <a:schemeClr val="tx2"/>
          </a:solidFill>
          <a:ln w="25400">
            <a:solidFill>
              <a:schemeClr val="bg1"/>
            </a:solidFill>
            <a:prstDash val="solid"/>
          </a:ln>
        </p:spPr>
      </p:sp>
      <p:sp>
        <p:nvSpPr>
          <p:cNvPr id="30" name="timeline time 7"/>
          <p:cNvSpPr txBox="1"/>
          <p:nvPr/>
        </p:nvSpPr>
        <p:spPr>
          <a:xfrm>
            <a:off x="10149840" y="1554480"/>
            <a:ext cx="1463040" cy="274320"/>
          </a:xfrm>
          <a:prstGeom prst="rect">
            <a:avLst/>
          </a:prstGeom>
          <a:noFill/>
          <a:ln/>
        </p:spPr>
        <p:txBody>
          <a:bodyPr wrap="square" lIns="0" tIns="0" rIns="0" bIns="0" rtlCol="0" anchor="ctr"/>
          <a:lstStyle/>
          <a:p>
            <a:pPr indent="0" marL="0">
              <a:buNone/>
            </a:pPr>
            <a:r>
              <a:rPr lang="en-US" sz="1200" b="1" dirty="0">
                <a:solidFill>
                  <a:schemeClr val="tx2"/>
                </a:solidFill>
                <a:latin typeface="Arial" pitchFamily="34" charset="0"/>
                <a:ea typeface="Arial" pitchFamily="34" charset="-122"/>
                <a:cs typeface="Arial" pitchFamily="34" charset="-120"/>
              </a:rPr>
              <a:t>+40,2 s</a:t>
            </a:r>
            <a:endParaRPr lang="en-US" sz="1200" dirty="0"/>
          </a:p>
        </p:txBody>
      </p:sp>
      <p:sp>
        <p:nvSpPr>
          <p:cNvPr id="31" name="timeline title 7"/>
          <p:cNvSpPr txBox="1"/>
          <p:nvPr/>
        </p:nvSpPr>
        <p:spPr>
          <a:xfrm>
            <a:off x="10149840" y="2377440"/>
            <a:ext cx="1481328" cy="548640"/>
          </a:xfrm>
          <a:prstGeom prst="rect">
            <a:avLst/>
          </a:prstGeom>
          <a:noFill/>
          <a:ln/>
        </p:spPr>
        <p:txBody>
          <a:bodyPr wrap="square" lIns="0" tIns="0" rIns="0" bIns="0" rtlCol="0" anchor="t"/>
          <a:lstStyle/>
          <a:p>
            <a:pPr indent="0" marL="0">
              <a:buNone/>
            </a:pPr>
            <a:r>
              <a:rPr lang="en-US" sz="1500" b="1" dirty="0">
                <a:solidFill>
                  <a:schemeClr val="tx2"/>
                </a:solidFill>
                <a:latin typeface="Times New Roman" pitchFamily="34" charset="0"/>
                <a:ea typeface="Times New Roman" pitchFamily="34" charset="-122"/>
                <a:cs typeface="Times New Roman" pitchFamily="34" charset="-120"/>
              </a:rPr>
              <a:t>Online lại</a:t>
            </a:r>
            <a:endParaRPr lang="en-US" sz="1500" dirty="0"/>
          </a:p>
        </p:txBody>
      </p:sp>
      <p:sp>
        <p:nvSpPr>
          <p:cNvPr id="32" name="timeline desc 7"/>
          <p:cNvSpPr txBox="1"/>
          <p:nvPr/>
        </p:nvSpPr>
        <p:spPr>
          <a:xfrm>
            <a:off x="10149840" y="2971800"/>
            <a:ext cx="1481328" cy="914400"/>
          </a:xfrm>
          <a:prstGeom prst="rect">
            <a:avLst/>
          </a:prstGeom>
          <a:noFill/>
          <a:ln/>
        </p:spPr>
        <p:txBody>
          <a:bodyPr wrap="square" lIns="0" tIns="0" rIns="0" bIns="0" rtlCol="0" anchor="t"/>
          <a:lstStyle/>
          <a:p>
            <a:pPr indent="0" marL="0">
              <a:buNone/>
            </a:pPr>
            <a:r>
              <a:rPr lang="en-US" sz="1200" dirty="0">
                <a:solidFill>
                  <a:schemeClr val="tx1"/>
                </a:solidFill>
                <a:latin typeface="Arial" pitchFamily="34" charset="0"/>
                <a:ea typeface="Arial" pitchFamily="34" charset="-122"/>
                <a:cs typeface="Arial" pitchFamily="34" charset="-120"/>
              </a:rPr>
              <a:t>Rule tự gửi lại lệnh giữ đèn</a:t>
            </a:r>
            <a:endParaRPr lang="en-US" sz="1200" dirty="0"/>
          </a:p>
        </p:txBody>
      </p:sp>
      <p:sp>
        <p:nvSpPr>
          <p:cNvPr id="33" name="other case 1"/>
          <p:cNvSpPr/>
          <p:nvPr/>
        </p:nvSpPr>
        <p:spPr>
          <a:xfrm>
            <a:off x="548640" y="4206240"/>
            <a:ext cx="3575304" cy="1417320"/>
          </a:xfrm>
          <a:prstGeom prst="roundRect">
            <a:avLst>
              <a:gd name="adj" fmla="val 5161"/>
            </a:avLst>
          </a:prstGeom>
          <a:solidFill>
            <a:schemeClr val="bg2"/>
          </a:solidFill>
          <a:ln w="12700">
            <a:solidFill>
              <a:schemeClr val="accent5"/>
            </a:solidFill>
            <a:prstDash val="solid"/>
          </a:ln>
        </p:spPr>
      </p:sp>
      <p:sp>
        <p:nvSpPr>
          <p:cNvPr id="34" name="other title 1"/>
          <p:cNvSpPr txBox="1"/>
          <p:nvPr/>
        </p:nvSpPr>
        <p:spPr>
          <a:xfrm>
            <a:off x="777240" y="4343400"/>
            <a:ext cx="3154680" cy="365760"/>
          </a:xfrm>
          <a:prstGeom prst="rect">
            <a:avLst/>
          </a:prstGeom>
          <a:noFill/>
          <a:ln/>
        </p:spPr>
        <p:txBody>
          <a:bodyPr wrap="square" lIns="0" tIns="0" rIns="0" bIns="0" rtlCol="0" anchor="ctr"/>
          <a:lstStyle/>
          <a:p>
            <a:pPr indent="0" marL="0">
              <a:buNone/>
            </a:pPr>
            <a:r>
              <a:rPr lang="en-US" sz="1600" b="1" dirty="0">
                <a:solidFill>
                  <a:schemeClr val="tx2"/>
                </a:solidFill>
                <a:latin typeface="Times New Roman" pitchFamily="34" charset="0"/>
                <a:ea typeface="Times New Roman" pitchFamily="34" charset="-122"/>
                <a:cs typeface="Times New Roman" pitchFamily="34" charset="-120"/>
              </a:rPr>
              <a:t>Lệnh không ACK</a:t>
            </a:r>
            <a:endParaRPr lang="en-US" sz="1600" dirty="0"/>
          </a:p>
        </p:txBody>
      </p:sp>
      <p:sp>
        <p:nvSpPr>
          <p:cNvPr id="35" name="other desc 1"/>
          <p:cNvSpPr txBox="1"/>
          <p:nvPr/>
        </p:nvSpPr>
        <p:spPr>
          <a:xfrm>
            <a:off x="777240" y="4754880"/>
            <a:ext cx="3154680" cy="777240"/>
          </a:xfrm>
          <a:prstGeom prst="rect">
            <a:avLst/>
          </a:prstGeom>
          <a:noFill/>
          <a:ln/>
        </p:spPr>
        <p:txBody>
          <a:bodyPr wrap="square" lIns="0" tIns="0" rIns="0" bIns="0" rtlCol="0" anchor="t"/>
          <a:lstStyle/>
          <a:p>
            <a:pPr indent="0" marL="0">
              <a:buNone/>
            </a:pPr>
            <a:r>
              <a:rPr lang="en-US" sz="1300" dirty="0">
                <a:solidFill>
                  <a:schemeClr val="tx1"/>
                </a:solidFill>
                <a:latin typeface="Arial" pitchFamily="34" charset="0"/>
                <a:ea typeface="Arial" pitchFamily="34" charset="-122"/>
                <a:cs typeface="Arial" pitchFamily="34" charset="-120"/>
              </a:rPr>
              <a:t>Light ON → NO_ACK sau 6 s; nút mở lại, fault monitor báo ack_missing</a:t>
            </a:r>
            <a:endParaRPr lang="en-US" sz="1300" dirty="0"/>
          </a:p>
        </p:txBody>
      </p:sp>
      <p:sp>
        <p:nvSpPr>
          <p:cNvPr id="36" name="other case 2"/>
          <p:cNvSpPr/>
          <p:nvPr/>
        </p:nvSpPr>
        <p:spPr>
          <a:xfrm>
            <a:off x="4306824" y="4206240"/>
            <a:ext cx="3575304" cy="1417320"/>
          </a:xfrm>
          <a:prstGeom prst="roundRect">
            <a:avLst>
              <a:gd name="adj" fmla="val 5161"/>
            </a:avLst>
          </a:prstGeom>
          <a:solidFill>
            <a:schemeClr val="bg2"/>
          </a:solidFill>
          <a:ln w="12700">
            <a:solidFill>
              <a:schemeClr val="accent5"/>
            </a:solidFill>
            <a:prstDash val="solid"/>
          </a:ln>
        </p:spPr>
      </p:sp>
      <p:sp>
        <p:nvSpPr>
          <p:cNvPr id="37" name="other title 2"/>
          <p:cNvSpPr txBox="1"/>
          <p:nvPr/>
        </p:nvSpPr>
        <p:spPr>
          <a:xfrm>
            <a:off x="4535424" y="4343400"/>
            <a:ext cx="3154680" cy="365760"/>
          </a:xfrm>
          <a:prstGeom prst="rect">
            <a:avLst/>
          </a:prstGeom>
          <a:noFill/>
          <a:ln/>
        </p:spPr>
        <p:txBody>
          <a:bodyPr wrap="square" lIns="0" tIns="0" rIns="0" bIns="0" rtlCol="0" anchor="ctr"/>
          <a:lstStyle/>
          <a:p>
            <a:pPr indent="0" marL="0">
              <a:buNone/>
            </a:pPr>
            <a:r>
              <a:rPr lang="en-US" sz="1600" b="1" dirty="0">
                <a:solidFill>
                  <a:schemeClr val="tx2"/>
                </a:solidFill>
                <a:latin typeface="Times New Roman" pitchFamily="34" charset="0"/>
                <a:ea typeface="Times New Roman" pitchFamily="34" charset="-122"/>
                <a:cs typeface="Times New Roman" pitchFamily="34" charset="-120"/>
              </a:rPr>
              <a:t>Firmware từ chối</a:t>
            </a:r>
            <a:endParaRPr lang="en-US" sz="1600" dirty="0"/>
          </a:p>
        </p:txBody>
      </p:sp>
      <p:sp>
        <p:nvSpPr>
          <p:cNvPr id="38" name="other desc 2"/>
          <p:cNvSpPr txBox="1"/>
          <p:nvPr/>
        </p:nvSpPr>
        <p:spPr>
          <a:xfrm>
            <a:off x="4535424" y="4754880"/>
            <a:ext cx="3154680" cy="777240"/>
          </a:xfrm>
          <a:prstGeom prst="rect">
            <a:avLst/>
          </a:prstGeom>
          <a:noFill/>
          <a:ln/>
        </p:spPr>
        <p:txBody>
          <a:bodyPr wrap="square" lIns="0" tIns="0" rIns="0" bIns="0" rtlCol="0" anchor="t"/>
          <a:lstStyle/>
          <a:p>
            <a:pPr indent="0" marL="0">
              <a:buNone/>
            </a:pPr>
            <a:r>
              <a:rPr lang="en-US" sz="1300" dirty="0">
                <a:solidFill>
                  <a:schemeClr val="tx1"/>
                </a:solidFill>
                <a:latin typeface="Arial" pitchFamily="34" charset="0"/>
                <a:ea typeface="Arial" pitchFamily="34" charset="-122"/>
                <a:cs typeface="Arial" pitchFamily="34" charset="-120"/>
              </a:rPr>
              <a:t>Mist ON khi nước vừa cạn → REJECTED (WATER_LOCKOUT) sau 0,5 s</a:t>
            </a:r>
            <a:endParaRPr lang="en-US" sz="1300" dirty="0"/>
          </a:p>
        </p:txBody>
      </p:sp>
      <p:sp>
        <p:nvSpPr>
          <p:cNvPr id="39" name="other case 3"/>
          <p:cNvSpPr/>
          <p:nvPr/>
        </p:nvSpPr>
        <p:spPr>
          <a:xfrm>
            <a:off x="8065008" y="4206240"/>
            <a:ext cx="3575304" cy="1417320"/>
          </a:xfrm>
          <a:prstGeom prst="roundRect">
            <a:avLst>
              <a:gd name="adj" fmla="val 5161"/>
            </a:avLst>
          </a:prstGeom>
          <a:solidFill>
            <a:schemeClr val="tx2"/>
          </a:solidFill>
          <a:ln w="12700">
            <a:solidFill>
              <a:schemeClr val="tx2"/>
            </a:solidFill>
            <a:prstDash val="solid"/>
          </a:ln>
        </p:spPr>
      </p:sp>
      <p:sp>
        <p:nvSpPr>
          <p:cNvPr id="40" name="other title 3"/>
          <p:cNvSpPr txBox="1"/>
          <p:nvPr/>
        </p:nvSpPr>
        <p:spPr>
          <a:xfrm>
            <a:off x="8293608" y="4343400"/>
            <a:ext cx="3154680" cy="365760"/>
          </a:xfrm>
          <a:prstGeom prst="rect">
            <a:avLst/>
          </a:prstGeom>
          <a:noFill/>
          <a:ln/>
        </p:spPr>
        <p:txBody>
          <a:bodyPr wrap="square" lIns="0" tIns="0" rIns="0" bIns="0" rtlCol="0" anchor="ctr"/>
          <a:lstStyle/>
          <a:p>
            <a:pPr indent="0" marL="0">
              <a:buNone/>
            </a:pPr>
            <a:r>
              <a:rPr lang="en-US" sz="1600" b="1" dirty="0">
                <a:solidFill>
                  <a:schemeClr val="bg1"/>
                </a:solidFill>
                <a:latin typeface="Times New Roman" pitchFamily="34" charset="0"/>
                <a:ea typeface="Times New Roman" pitchFamily="34" charset="-122"/>
                <a:cs typeface="Times New Roman" pitchFamily="34" charset="-120"/>
              </a:rPr>
              <a:t>Không vi phạm an toàn</a:t>
            </a:r>
            <a:endParaRPr lang="en-US" sz="1600" dirty="0"/>
          </a:p>
        </p:txBody>
      </p:sp>
      <p:sp>
        <p:nvSpPr>
          <p:cNvPr id="41" name="other desc 3"/>
          <p:cNvSpPr txBox="1"/>
          <p:nvPr/>
        </p:nvSpPr>
        <p:spPr>
          <a:xfrm>
            <a:off x="8293608" y="4754880"/>
            <a:ext cx="3154680" cy="777240"/>
          </a:xfrm>
          <a:prstGeom prst="rect">
            <a:avLst/>
          </a:prstGeom>
          <a:noFill/>
          <a:ln/>
        </p:spPr>
        <p:txBody>
          <a:bodyPr wrap="square" lIns="0" tIns="0" rIns="0" bIns="0" rtlCol="0" anchor="t"/>
          <a:lstStyle/>
          <a:p>
            <a:pPr indent="0" marL="0">
              <a:buNone/>
            </a:pPr>
            <a:r>
              <a:rPr lang="en-US" sz="1300" dirty="0">
                <a:solidFill>
                  <a:schemeClr val="bg1"/>
                </a:solidFill>
                <a:latin typeface="Arial" pitchFamily="34" charset="0"/>
                <a:ea typeface="Arial" pitchFamily="34" charset="-122"/>
                <a:cs typeface="Arial" pitchFamily="34" charset="-120"/>
              </a:rPr>
              <a:t>Không lần nào thấy phun khi khoá nước, khi DHT lỗi hay quá giới hạn thời gian</a:t>
            </a:r>
            <a:endParaRPr lang="en-US" sz="1300" dirty="0"/>
          </a:p>
        </p:txBody>
      </p:sp>
      <p:sp>
        <p:nvSpPr>
          <p:cNvPr id="42" name="scenario footnote"/>
          <p:cNvSpPr txBox="1"/>
          <p:nvPr/>
        </p:nvSpPr>
        <p:spPr>
          <a:xfrm>
            <a:off x="548640" y="5833872"/>
            <a:ext cx="11091672" cy="411480"/>
          </a:xfrm>
          <a:prstGeom prst="rect">
            <a:avLst/>
          </a:prstGeom>
          <a:noFill/>
          <a:ln/>
        </p:spPr>
        <p:txBody>
          <a:bodyPr wrap="square" lIns="0" tIns="0" rIns="0" bIns="0" rtlCol="0" anchor="t"/>
          <a:lstStyle/>
          <a:p>
            <a:pPr indent="0" marL="0">
              <a:buNone/>
            </a:pPr>
            <a:r>
              <a:rPr lang="en-US" sz="1100" i="1" dirty="0">
                <a:solidFill>
                  <a:schemeClr val="accent6"/>
                </a:solidFill>
                <a:latin typeface="Arial" pitchFamily="34" charset="0"/>
                <a:ea typeface="Arial" pitchFamily="34" charset="-122"/>
                <a:cs typeface="Arial" pitchFamily="34" charset="-120"/>
              </a:rPr>
              <a:t>Log: nodered/test-results/week6-7-e2e/ (e2e-run.log, node-red-history.jsonl, mqtt-wire.log, sim-device.log). Logic firmware tương ứng có scenario Wokwi safety-faults và link-loss.</a:t>
            </a:r>
            <a:endParaRPr lang="en-US" sz="1100" dirty="0"/>
          </a:p>
        </p:txBody>
      </p:sp>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6"/>
                </a:solidFill>
                <a:latin typeface="Arial"/>
                <a:ea typeface="Arial"/>
                <a:cs typeface="Aria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713232"/>
          </a:xfrm>
          <a:prstGeom prst="rect">
            <a:avLst/>
          </a:prstGeom>
          <a:noFill/>
          <a:ln/>
        </p:spPr>
        <p:txBody>
          <a:bodyPr wrap="square" lIns="0" tIns="0" rIns="0" bIns="0" rtlCol="0" anchor="b"/>
          <a:lstStyle/>
          <a:p>
            <a:pPr algn="l" indent="0" marL="0">
              <a:buNone/>
            </a:pPr>
            <a:r>
              <a:rPr lang="en-US" sz="3400" b="1" dirty="0">
                <a:solidFill>
                  <a:schemeClr val="tx2"/>
                </a:solidFill>
                <a:latin typeface="Times New Roman" pitchFamily="34" charset="0"/>
                <a:ea typeface="Times New Roman" pitchFamily="34" charset="-122"/>
                <a:cs typeface="Times New Roman" pitchFamily="34" charset="-120"/>
              </a:rPr>
              <a:t>Kết quả kiểm thử và bằng chứng</a:t>
            </a:r>
            <a:endParaRPr lang="en-US" sz="3400" dirty="0"/>
          </a:p>
        </p:txBody>
      </p:sp>
      <p:sp>
        <p:nvSpPr>
          <p:cNvPr id="3" name="Text 0"/>
          <p:cNvSpPr/>
          <p:nvPr>
            <p:ph idx="101" type="body" hasCustomPrompt="1"/>
          </p:nvPr>
        </p:nvSpPr>
        <p:spPr>
          <a:xfrm>
            <a:off x="548640" y="1097280"/>
            <a:ext cx="11091672" cy="384048"/>
          </a:xfrm>
          <a:prstGeom prst="rect">
            <a:avLst/>
          </a:prstGeom>
          <a:noFill/>
          <a:ln/>
        </p:spPr>
        <p:txBody>
          <a:bodyPr wrap="square" lIns="0" tIns="0" rIns="0" bIns="0" rtlCol="0" anchor="t"/>
          <a:lstStyle/>
          <a:p>
            <a:pPr algn="l" indent="0" marL="0">
              <a:buNone/>
            </a:pPr>
            <a:r>
              <a:rPr lang="en-US" sz="1600" i="1" dirty="0">
                <a:solidFill>
                  <a:schemeClr val="accent6"/>
                </a:solidFill>
                <a:latin typeface="Times New Roman" pitchFamily="34" charset="0"/>
                <a:ea typeface="Times New Roman" pitchFamily="34" charset="-122"/>
                <a:cs typeface="Times New Roman" pitchFamily="34" charset="-120"/>
              </a:rPr>
              <a:t>Phân định rõ phần đã có bằng chứng và phần còn chờ chạy</a:t>
            </a:r>
            <a:endParaRPr lang="en-US" sz="1600" dirty="0"/>
          </a:p>
        </p:txBody>
      </p:sp>
      <p:sp>
        <p:nvSpPr>
          <p:cNvPr id="4" name="stat 1"/>
          <p:cNvSpPr/>
          <p:nvPr/>
        </p:nvSpPr>
        <p:spPr>
          <a:xfrm>
            <a:off x="548640" y="1691640"/>
            <a:ext cx="3575304" cy="1554480"/>
          </a:xfrm>
          <a:prstGeom prst="roundRect">
            <a:avLst>
              <a:gd name="adj" fmla="val 4706"/>
            </a:avLst>
          </a:prstGeom>
          <a:solidFill>
            <a:schemeClr val="tx2"/>
          </a:solidFill>
          <a:ln w="12700">
            <a:solidFill>
              <a:schemeClr val="tx2"/>
            </a:solidFill>
            <a:prstDash val="solid"/>
          </a:ln>
        </p:spPr>
      </p:sp>
      <p:sp>
        <p:nvSpPr>
          <p:cNvPr id="5" name="stat value 1"/>
          <p:cNvSpPr txBox="1"/>
          <p:nvPr/>
        </p:nvSpPr>
        <p:spPr>
          <a:xfrm>
            <a:off x="822960" y="1810512"/>
            <a:ext cx="3108960" cy="594360"/>
          </a:xfrm>
          <a:prstGeom prst="rect">
            <a:avLst/>
          </a:prstGeom>
          <a:noFill/>
          <a:ln/>
        </p:spPr>
        <p:txBody>
          <a:bodyPr wrap="square" lIns="0" tIns="0" rIns="0" bIns="0" rtlCol="0" anchor="ctr"/>
          <a:lstStyle/>
          <a:p>
            <a:pPr indent="0" marL="0">
              <a:buNone/>
            </a:pPr>
            <a:r>
              <a:rPr lang="en-US" sz="3200" b="1" dirty="0">
                <a:solidFill>
                  <a:schemeClr val="bg1"/>
                </a:solidFill>
                <a:latin typeface="Times New Roman" pitchFamily="34" charset="0"/>
                <a:ea typeface="Times New Roman" pitchFamily="34" charset="-122"/>
                <a:cs typeface="Times New Roman" pitchFamily="34" charset="-120"/>
              </a:rPr>
              <a:t>PASS</a:t>
            </a:r>
            <a:endParaRPr lang="en-US" sz="3200" dirty="0"/>
          </a:p>
        </p:txBody>
      </p:sp>
      <p:sp>
        <p:nvSpPr>
          <p:cNvPr id="6" name="stat desc 1"/>
          <p:cNvSpPr txBox="1"/>
          <p:nvPr/>
        </p:nvSpPr>
        <p:spPr>
          <a:xfrm>
            <a:off x="822960" y="2423160"/>
            <a:ext cx="3108960" cy="731520"/>
          </a:xfrm>
          <a:prstGeom prst="rect">
            <a:avLst/>
          </a:prstGeom>
          <a:noFill/>
          <a:ln/>
        </p:spPr>
        <p:txBody>
          <a:bodyPr wrap="square" lIns="0" tIns="0" rIns="0" bIns="0" rtlCol="0" anchor="t"/>
          <a:lstStyle/>
          <a:p>
            <a:pPr indent="0" marL="0">
              <a:buNone/>
            </a:pPr>
            <a:r>
              <a:rPr lang="en-US" sz="1200" dirty="0">
                <a:solidFill>
                  <a:schemeClr val="bg1"/>
                </a:solidFill>
                <a:latin typeface="Arial" pitchFamily="34" charset="0"/>
                <a:ea typeface="Arial" pitchFamily="34" charset="-122"/>
                <a:cs typeface="Arial" pitchFamily="34" charset="-120"/>
              </a:rPr>
              <a:t>Test Node-RED (test-flow.cjs): cấu trúc flow, gateway, ACK, rule, fault monitor</a:t>
            </a:r>
            <a:endParaRPr lang="en-US" sz="1200" dirty="0"/>
          </a:p>
        </p:txBody>
      </p:sp>
      <p:sp>
        <p:nvSpPr>
          <p:cNvPr id="7" name="stat 2"/>
          <p:cNvSpPr/>
          <p:nvPr/>
        </p:nvSpPr>
        <p:spPr>
          <a:xfrm>
            <a:off x="4306824" y="1691640"/>
            <a:ext cx="3575304" cy="1554480"/>
          </a:xfrm>
          <a:prstGeom prst="roundRect">
            <a:avLst>
              <a:gd name="adj" fmla="val 4706"/>
            </a:avLst>
          </a:prstGeom>
          <a:solidFill>
            <a:schemeClr val="tx2"/>
          </a:solidFill>
          <a:ln w="12700">
            <a:solidFill>
              <a:schemeClr val="tx2"/>
            </a:solidFill>
            <a:prstDash val="solid"/>
          </a:ln>
        </p:spPr>
      </p:sp>
      <p:sp>
        <p:nvSpPr>
          <p:cNvPr id="8" name="stat value 2"/>
          <p:cNvSpPr txBox="1"/>
          <p:nvPr/>
        </p:nvSpPr>
        <p:spPr>
          <a:xfrm>
            <a:off x="4581144" y="1810512"/>
            <a:ext cx="3108960" cy="594360"/>
          </a:xfrm>
          <a:prstGeom prst="rect">
            <a:avLst/>
          </a:prstGeom>
          <a:noFill/>
          <a:ln/>
        </p:spPr>
        <p:txBody>
          <a:bodyPr wrap="square" lIns="0" tIns="0" rIns="0" bIns="0" rtlCol="0" anchor="ctr"/>
          <a:lstStyle/>
          <a:p>
            <a:pPr indent="0" marL="0">
              <a:buNone/>
            </a:pPr>
            <a:r>
              <a:rPr lang="en-US" sz="3200" b="1" dirty="0">
                <a:solidFill>
                  <a:schemeClr val="bg1"/>
                </a:solidFill>
                <a:latin typeface="Times New Roman" pitchFamily="34" charset="0"/>
                <a:ea typeface="Times New Roman" pitchFamily="34" charset="-122"/>
                <a:cs typeface="Times New Roman" pitchFamily="34" charset="-120"/>
              </a:rPr>
              <a:t>PASS</a:t>
            </a:r>
            <a:endParaRPr lang="en-US" sz="3200" dirty="0"/>
          </a:p>
        </p:txBody>
      </p:sp>
      <p:sp>
        <p:nvSpPr>
          <p:cNvPr id="9" name="stat desc 2"/>
          <p:cNvSpPr txBox="1"/>
          <p:nvPr/>
        </p:nvSpPr>
        <p:spPr>
          <a:xfrm>
            <a:off x="4581144" y="2423160"/>
            <a:ext cx="3108960" cy="731520"/>
          </a:xfrm>
          <a:prstGeom prst="rect">
            <a:avLst/>
          </a:prstGeom>
          <a:noFill/>
          <a:ln/>
        </p:spPr>
        <p:txBody>
          <a:bodyPr wrap="square" lIns="0" tIns="0" rIns="0" bIns="0" rtlCol="0" anchor="t"/>
          <a:lstStyle/>
          <a:p>
            <a:pPr indent="0" marL="0">
              <a:buNone/>
            </a:pPr>
            <a:r>
              <a:rPr lang="en-US" sz="1200" dirty="0">
                <a:solidFill>
                  <a:schemeClr val="bg1"/>
                </a:solidFill>
                <a:latin typeface="Arial" pitchFamily="34" charset="0"/>
                <a:ea typeface="Arial" pitchFamily="34" charset="-122"/>
                <a:cs typeface="Arial" pitchFamily="34" charset="-120"/>
              </a:rPr>
              <a:t>Lượt chạy end-to-end bằng Chrome: 13 ảnh, 189 sự kiện trong event log</a:t>
            </a:r>
            <a:endParaRPr lang="en-US" sz="1200" dirty="0"/>
          </a:p>
        </p:txBody>
      </p:sp>
      <p:sp>
        <p:nvSpPr>
          <p:cNvPr id="10" name="stat 3"/>
          <p:cNvSpPr/>
          <p:nvPr/>
        </p:nvSpPr>
        <p:spPr>
          <a:xfrm>
            <a:off x="8065008" y="1691640"/>
            <a:ext cx="3575304" cy="1554480"/>
          </a:xfrm>
          <a:prstGeom prst="roundRect">
            <a:avLst>
              <a:gd name="adj" fmla="val 4706"/>
            </a:avLst>
          </a:prstGeom>
          <a:solidFill>
            <a:schemeClr val="accent2"/>
          </a:solidFill>
          <a:ln w="12700">
            <a:solidFill>
              <a:schemeClr val="accent2"/>
            </a:solidFill>
            <a:prstDash val="solid"/>
          </a:ln>
        </p:spPr>
      </p:sp>
      <p:sp>
        <p:nvSpPr>
          <p:cNvPr id="11" name="stat value 3"/>
          <p:cNvSpPr txBox="1"/>
          <p:nvPr/>
        </p:nvSpPr>
        <p:spPr>
          <a:xfrm>
            <a:off x="8339328" y="1810512"/>
            <a:ext cx="3108960" cy="594360"/>
          </a:xfrm>
          <a:prstGeom prst="rect">
            <a:avLst/>
          </a:prstGeom>
          <a:noFill/>
          <a:ln/>
        </p:spPr>
        <p:txBody>
          <a:bodyPr wrap="square" lIns="0" tIns="0" rIns="0" bIns="0" rtlCol="0" anchor="ctr"/>
          <a:lstStyle/>
          <a:p>
            <a:pPr indent="0" marL="0">
              <a:buNone/>
            </a:pPr>
            <a:r>
              <a:rPr lang="en-US" sz="3200" b="1" dirty="0">
                <a:solidFill>
                  <a:schemeClr val="bg1"/>
                </a:solidFill>
                <a:latin typeface="Times New Roman" pitchFamily="34" charset="0"/>
                <a:ea typeface="Times New Roman" pitchFamily="34" charset="-122"/>
                <a:cs typeface="Times New Roman" pitchFamily="34" charset="-120"/>
              </a:rPr>
              <a:t>3/3</a:t>
            </a:r>
            <a:endParaRPr lang="en-US" sz="3200" dirty="0"/>
          </a:p>
        </p:txBody>
      </p:sp>
      <p:sp>
        <p:nvSpPr>
          <p:cNvPr id="12" name="stat desc 3"/>
          <p:cNvSpPr txBox="1"/>
          <p:nvPr/>
        </p:nvSpPr>
        <p:spPr>
          <a:xfrm>
            <a:off x="8339328" y="2423160"/>
            <a:ext cx="3108960" cy="731520"/>
          </a:xfrm>
          <a:prstGeom prst="rect">
            <a:avLst/>
          </a:prstGeom>
          <a:noFill/>
          <a:ln/>
        </p:spPr>
        <p:txBody>
          <a:bodyPr wrap="square" lIns="0" tIns="0" rIns="0" bIns="0" rtlCol="0" anchor="t"/>
          <a:lstStyle/>
          <a:p>
            <a:pPr indent="0" marL="0">
              <a:buNone/>
            </a:pPr>
            <a:r>
              <a:rPr lang="en-US" sz="1200" dirty="0">
                <a:solidFill>
                  <a:schemeClr val="bg1"/>
                </a:solidFill>
                <a:latin typeface="Arial" pitchFamily="34" charset="0"/>
                <a:ea typeface="Arial" pitchFamily="34" charset="-122"/>
                <a:cs typeface="Arial" pitchFamily="34" charset="-120"/>
              </a:rPr>
              <a:t>Bản build firmware: esp32dev, timer-test, fault-test</a:t>
            </a:r>
            <a:endParaRPr lang="en-US" sz="1200" dirty="0"/>
          </a:p>
        </p:txBody>
      </p:sp>
      <p:sp>
        <p:nvSpPr>
          <p:cNvPr id="13" name="evidence panel"/>
          <p:cNvSpPr/>
          <p:nvPr/>
        </p:nvSpPr>
        <p:spPr>
          <a:xfrm>
            <a:off x="548640" y="3474720"/>
            <a:ext cx="11091672" cy="2697480"/>
          </a:xfrm>
          <a:prstGeom prst="roundRect">
            <a:avLst>
              <a:gd name="adj" fmla="val 2712"/>
            </a:avLst>
          </a:prstGeom>
          <a:solidFill>
            <a:schemeClr val="bg1"/>
          </a:solidFill>
          <a:ln w="12700">
            <a:solidFill>
              <a:schemeClr val="accent5"/>
            </a:solidFill>
            <a:prstDash val="solid"/>
          </a:ln>
        </p:spPr>
      </p:sp>
      <p:pic>
        <p:nvPicPr>
          <p:cNvPr id="14" name="evidence icon 1" descr="preencoded.png">    </p:cNvPr>
          <p:cNvPicPr>
            <a:picLocks noChangeAspect="1"/>
          </p:cNvPicPr>
          <p:nvPr/>
        </p:nvPicPr>
        <p:blipFill>
          <a:blip r:embed="rId1"/>
          <a:stretch>
            <a:fillRect/>
          </a:stretch>
        </p:blipFill>
        <p:spPr>
          <a:xfrm>
            <a:off x="822960" y="3694176"/>
            <a:ext cx="274320" cy="274320"/>
          </a:xfrm>
          <a:prstGeom prst="rect">
            <a:avLst/>
          </a:prstGeom>
        </p:spPr>
      </p:pic>
      <p:sp>
        <p:nvSpPr>
          <p:cNvPr id="15" name="evidence 1"/>
          <p:cNvSpPr txBox="1"/>
          <p:nvPr/>
        </p:nvSpPr>
        <p:spPr>
          <a:xfrm>
            <a:off x="1280160" y="3657600"/>
            <a:ext cx="10149840" cy="365760"/>
          </a:xfrm>
          <a:prstGeom prst="rect">
            <a:avLst/>
          </a:prstGeom>
          <a:noFill/>
          <a:ln/>
        </p:spPr>
        <p:txBody>
          <a:bodyPr wrap="square" lIns="0" tIns="0" rIns="0" bIns="0" rtlCol="0" anchor="ctr"/>
          <a:lstStyle/>
          <a:p>
            <a:pPr indent="0" marL="0">
              <a:buNone/>
            </a:pPr>
            <a:r>
              <a:rPr lang="en-US" sz="1400" dirty="0">
                <a:solidFill>
                  <a:schemeClr val="tx1"/>
                </a:solidFill>
                <a:latin typeface="Arial" pitchFamily="34" charset="0"/>
                <a:ea typeface="Arial" pitchFamily="34" charset="-122"/>
                <a:cs typeface="Arial" pitchFamily="34" charset="-120"/>
              </a:rPr>
              <a:t>Ma trận kiểm thử tuần 7 (tuan7-test-matrix.md): 12 ca, phân định môi trường mô phỏng và board thật</a:t>
            </a:r>
            <a:endParaRPr lang="en-US" sz="1400" dirty="0"/>
          </a:p>
        </p:txBody>
      </p:sp>
      <p:pic>
        <p:nvPicPr>
          <p:cNvPr id="16" name="evidence icon 2" descr="preencoded.png">    </p:cNvPr>
          <p:cNvPicPr>
            <a:picLocks noChangeAspect="1"/>
          </p:cNvPicPr>
          <p:nvPr/>
        </p:nvPicPr>
        <p:blipFill>
          <a:blip r:embed="rId2"/>
          <a:stretch>
            <a:fillRect/>
          </a:stretch>
        </p:blipFill>
        <p:spPr>
          <a:xfrm>
            <a:off x="822960" y="4178808"/>
            <a:ext cx="274320" cy="274320"/>
          </a:xfrm>
          <a:prstGeom prst="rect">
            <a:avLst/>
          </a:prstGeom>
        </p:spPr>
      </p:pic>
      <p:sp>
        <p:nvSpPr>
          <p:cNvPr id="17" name="evidence 2"/>
          <p:cNvSpPr txBox="1"/>
          <p:nvPr/>
        </p:nvSpPr>
        <p:spPr>
          <a:xfrm>
            <a:off x="1280160" y="4142232"/>
            <a:ext cx="10149840" cy="365760"/>
          </a:xfrm>
          <a:prstGeom prst="rect">
            <a:avLst/>
          </a:prstGeom>
          <a:noFill/>
          <a:ln/>
        </p:spPr>
        <p:txBody>
          <a:bodyPr wrap="square" lIns="0" tIns="0" rIns="0" bIns="0" rtlCol="0" anchor="ctr"/>
          <a:lstStyle/>
          <a:p>
            <a:pPr indent="0" marL="0">
              <a:buNone/>
            </a:pPr>
            <a:r>
              <a:rPr lang="en-US" sz="1400" dirty="0">
                <a:solidFill>
                  <a:schemeClr val="tx1"/>
                </a:solidFill>
                <a:latin typeface="Arial" pitchFamily="34" charset="0"/>
                <a:ea typeface="Arial" pitchFamily="34" charset="-122"/>
                <a:cs typeface="Arial" pitchFamily="34" charset="-120"/>
              </a:rPr>
              <a:t>Thiết bị mô phỏng sim-device.cjs để thử dashboard khi không chạy Wokwi; có sẵn kịch bản fault-demo</a:t>
            </a:r>
            <a:endParaRPr lang="en-US" sz="1400" dirty="0"/>
          </a:p>
        </p:txBody>
      </p:sp>
      <p:pic>
        <p:nvPicPr>
          <p:cNvPr id="18" name="evidence icon 3" descr="preencoded.png">    </p:cNvPr>
          <p:cNvPicPr>
            <a:picLocks noChangeAspect="1"/>
          </p:cNvPicPr>
          <p:nvPr/>
        </p:nvPicPr>
        <p:blipFill>
          <a:blip r:embed="rId3"/>
          <a:stretch>
            <a:fillRect/>
          </a:stretch>
        </p:blipFill>
        <p:spPr>
          <a:xfrm>
            <a:off x="822960" y="4663440"/>
            <a:ext cx="274320" cy="274320"/>
          </a:xfrm>
          <a:prstGeom prst="rect">
            <a:avLst/>
          </a:prstGeom>
        </p:spPr>
      </p:pic>
      <p:sp>
        <p:nvSpPr>
          <p:cNvPr id="19" name="evidence 3"/>
          <p:cNvSpPr txBox="1"/>
          <p:nvPr/>
        </p:nvSpPr>
        <p:spPr>
          <a:xfrm>
            <a:off x="1280160" y="4626864"/>
            <a:ext cx="10149840" cy="365760"/>
          </a:xfrm>
          <a:prstGeom prst="rect">
            <a:avLst/>
          </a:prstGeom>
          <a:noFill/>
          <a:ln/>
        </p:spPr>
        <p:txBody>
          <a:bodyPr wrap="square" lIns="0" tIns="0" rIns="0" bIns="0" rtlCol="0" anchor="ctr"/>
          <a:lstStyle/>
          <a:p>
            <a:pPr indent="0" marL="0">
              <a:buNone/>
            </a:pPr>
            <a:r>
              <a:rPr lang="en-US" sz="1400" dirty="0">
                <a:solidFill>
                  <a:schemeClr val="tx1"/>
                </a:solidFill>
                <a:latin typeface="Arial" pitchFamily="34" charset="0"/>
                <a:ea typeface="Arial" pitchFamily="34" charset="-122"/>
                <a:cs typeface="Arial" pitchFamily="34" charset="-120"/>
              </a:rPr>
              <a:t>Scenario Wokwi mới (safety-faults, link-loss) đã viết và build được, chưa chạy trên Wokwi CI</a:t>
            </a:r>
            <a:endParaRPr lang="en-US" sz="1400" dirty="0"/>
          </a:p>
        </p:txBody>
      </p:sp>
      <p:pic>
        <p:nvPicPr>
          <p:cNvPr id="20" name="evidence icon 4" descr="preencoded.png">    </p:cNvPr>
          <p:cNvPicPr>
            <a:picLocks noChangeAspect="1"/>
          </p:cNvPicPr>
          <p:nvPr/>
        </p:nvPicPr>
        <p:blipFill>
          <a:blip r:embed="rId4"/>
          <a:stretch>
            <a:fillRect/>
          </a:stretch>
        </p:blipFill>
        <p:spPr>
          <a:xfrm>
            <a:off x="822960" y="5148072"/>
            <a:ext cx="274320" cy="274320"/>
          </a:xfrm>
          <a:prstGeom prst="rect">
            <a:avLst/>
          </a:prstGeom>
        </p:spPr>
      </p:pic>
      <p:sp>
        <p:nvSpPr>
          <p:cNvPr id="21" name="evidence 4"/>
          <p:cNvSpPr txBox="1"/>
          <p:nvPr/>
        </p:nvSpPr>
        <p:spPr>
          <a:xfrm>
            <a:off x="1280160" y="5111496"/>
            <a:ext cx="10149840" cy="365760"/>
          </a:xfrm>
          <a:prstGeom prst="rect">
            <a:avLst/>
          </a:prstGeom>
          <a:noFill/>
          <a:ln/>
        </p:spPr>
        <p:txBody>
          <a:bodyPr wrap="square" lIns="0" tIns="0" rIns="0" bIns="0" rtlCol="0" anchor="ctr"/>
          <a:lstStyle/>
          <a:p>
            <a:pPr indent="0" marL="0">
              <a:buNone/>
            </a:pPr>
            <a:r>
              <a:rPr lang="en-US" sz="1400" dirty="0">
                <a:solidFill>
                  <a:schemeClr val="tx1"/>
                </a:solidFill>
                <a:latin typeface="Arial" pitchFamily="34" charset="0"/>
                <a:ea typeface="Arial" pitchFamily="34" charset="-122"/>
                <a:cs typeface="Arial" pitchFamily="34" charset="-120"/>
              </a:rPr>
              <a:t>Telegram gửi thật cần token và chat ID nhóm; video demo mới có kịch bản</a:t>
            </a:r>
            <a:endParaRPr lang="en-US" sz="1400" dirty="0"/>
          </a:p>
        </p:txBody>
      </p:sp>
      <p:pic>
        <p:nvPicPr>
          <p:cNvPr id="22" name="evidence icon 5" descr="preencoded.png">    </p:cNvPr>
          <p:cNvPicPr>
            <a:picLocks noChangeAspect="1"/>
          </p:cNvPicPr>
          <p:nvPr/>
        </p:nvPicPr>
        <p:blipFill>
          <a:blip r:embed="rId5"/>
          <a:stretch>
            <a:fillRect/>
          </a:stretch>
        </p:blipFill>
        <p:spPr>
          <a:xfrm>
            <a:off x="822960" y="5632704"/>
            <a:ext cx="274320" cy="274320"/>
          </a:xfrm>
          <a:prstGeom prst="rect">
            <a:avLst/>
          </a:prstGeom>
        </p:spPr>
      </p:pic>
      <p:sp>
        <p:nvSpPr>
          <p:cNvPr id="23" name="evidence 5"/>
          <p:cNvSpPr txBox="1"/>
          <p:nvPr/>
        </p:nvSpPr>
        <p:spPr>
          <a:xfrm>
            <a:off x="1280160" y="5596128"/>
            <a:ext cx="10149840" cy="365760"/>
          </a:xfrm>
          <a:prstGeom prst="rect">
            <a:avLst/>
          </a:prstGeom>
          <a:noFill/>
          <a:ln/>
        </p:spPr>
        <p:txBody>
          <a:bodyPr wrap="square" lIns="0" tIns="0" rIns="0" bIns="0" rtlCol="0" anchor="ctr"/>
          <a:lstStyle/>
          <a:p>
            <a:pPr indent="0" marL="0">
              <a:buNone/>
            </a:pPr>
            <a:r>
              <a:rPr lang="en-US" sz="1400" dirty="0">
                <a:solidFill>
                  <a:schemeClr val="tx1"/>
                </a:solidFill>
                <a:latin typeface="Arial" pitchFamily="34" charset="0"/>
                <a:ea typeface="Arial" pitchFamily="34" charset="-122"/>
                <a:cs typeface="Arial" pitchFamily="34" charset="-120"/>
              </a:rPr>
              <a:t>Chưa chạy trên board ESP32 thật (ca TC-12 đang chờ)</a:t>
            </a:r>
            <a:endParaRPr lang="en-US" sz="1400" dirty="0"/>
          </a:p>
        </p:txBody>
      </p:sp>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6"/>
                </a:solidFill>
                <a:latin typeface="Arial"/>
                <a:ea typeface="Arial"/>
                <a:cs typeface="Aria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713232"/>
          </a:xfrm>
          <a:prstGeom prst="rect">
            <a:avLst/>
          </a:prstGeom>
          <a:noFill/>
          <a:ln/>
        </p:spPr>
        <p:txBody>
          <a:bodyPr wrap="square" lIns="0" tIns="0" rIns="0" bIns="0" rtlCol="0" anchor="b"/>
          <a:lstStyle/>
          <a:p>
            <a:pPr algn="l" indent="0" marL="0">
              <a:buNone/>
            </a:pPr>
            <a:r>
              <a:rPr lang="en-US" sz="3400" b="1" dirty="0">
                <a:solidFill>
                  <a:schemeClr val="tx2"/>
                </a:solidFill>
                <a:latin typeface="Times New Roman" pitchFamily="34" charset="0"/>
                <a:ea typeface="Times New Roman" pitchFamily="34" charset="-122"/>
                <a:cs typeface="Times New Roman" pitchFamily="34" charset="-120"/>
              </a:rPr>
              <a:t>Tồn tại và việc tiếp theo</a:t>
            </a:r>
            <a:endParaRPr lang="en-US" sz="3400" dirty="0"/>
          </a:p>
        </p:txBody>
      </p:sp>
      <p:sp>
        <p:nvSpPr>
          <p:cNvPr id="3" name="Text 0"/>
          <p:cNvSpPr/>
          <p:nvPr>
            <p:ph idx="101" type="body" hasCustomPrompt="1"/>
          </p:nvPr>
        </p:nvSpPr>
        <p:spPr>
          <a:xfrm>
            <a:off x="548640" y="1097280"/>
            <a:ext cx="11091672" cy="384048"/>
          </a:xfrm>
          <a:prstGeom prst="rect">
            <a:avLst/>
          </a:prstGeom>
          <a:noFill/>
          <a:ln/>
        </p:spPr>
        <p:txBody>
          <a:bodyPr wrap="square" lIns="0" tIns="0" rIns="0" bIns="0" rtlCol="0" anchor="t"/>
          <a:lstStyle/>
          <a:p>
            <a:pPr algn="l" indent="0" marL="0">
              <a:buNone/>
            </a:pPr>
            <a:r>
              <a:rPr lang="en-US" sz="1600" i="1" dirty="0">
                <a:solidFill>
                  <a:schemeClr val="accent6"/>
                </a:solidFill>
                <a:latin typeface="Times New Roman" pitchFamily="34" charset="0"/>
                <a:ea typeface="Times New Roman" pitchFamily="34" charset="-122"/>
                <a:cs typeface="Times New Roman" pitchFamily="34" charset="-120"/>
              </a:rPr>
              <a:t>Các điểm cần xử lý trước buổi demo</a:t>
            </a:r>
            <a:endParaRPr lang="en-US" sz="1600" dirty="0"/>
          </a:p>
        </p:txBody>
      </p:sp>
      <p:sp>
        <p:nvSpPr>
          <p:cNvPr id="4" name="issue badge 1"/>
          <p:cNvSpPr/>
          <p:nvPr/>
        </p:nvSpPr>
        <p:spPr>
          <a:xfrm>
            <a:off x="548640" y="1847088"/>
            <a:ext cx="457200" cy="457200"/>
          </a:xfrm>
          <a:prstGeom prst="ellipse">
            <a:avLst/>
          </a:prstGeom>
          <a:solidFill>
            <a:schemeClr val="accent4"/>
          </a:solidFill>
          <a:ln w="12700">
            <a:solidFill>
              <a:schemeClr val="accent4"/>
            </a:solidFill>
            <a:prstDash val="solid"/>
          </a:ln>
        </p:spPr>
      </p:sp>
      <p:sp>
        <p:nvSpPr>
          <p:cNvPr id="5" name="issue number 1"/>
          <p:cNvSpPr txBox="1"/>
          <p:nvPr/>
        </p:nvSpPr>
        <p:spPr>
          <a:xfrm>
            <a:off x="548640" y="1847088"/>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latin typeface="Times New Roman" pitchFamily="34" charset="0"/>
                <a:ea typeface="Times New Roman" pitchFamily="34" charset="-122"/>
                <a:cs typeface="Times New Roman" pitchFamily="34" charset="-120"/>
              </a:rPr>
              <a:t>1</a:t>
            </a:r>
            <a:endParaRPr lang="en-US" sz="1600" dirty="0"/>
          </a:p>
        </p:txBody>
      </p:sp>
      <p:sp>
        <p:nvSpPr>
          <p:cNvPr id="6" name="issue title 1"/>
          <p:cNvSpPr txBox="1"/>
          <p:nvPr/>
        </p:nvSpPr>
        <p:spPr>
          <a:xfrm>
            <a:off x="1188720" y="1691640"/>
            <a:ext cx="3017520" cy="768096"/>
          </a:xfrm>
          <a:prstGeom prst="rect">
            <a:avLst/>
          </a:prstGeom>
          <a:noFill/>
          <a:ln/>
        </p:spPr>
        <p:txBody>
          <a:bodyPr wrap="square" lIns="0" tIns="0" rIns="0" bIns="0" rtlCol="0" anchor="ctr"/>
          <a:lstStyle/>
          <a:p>
            <a:pPr indent="0" marL="0">
              <a:buNone/>
            </a:pPr>
            <a:r>
              <a:rPr lang="en-US" sz="1700" b="1" dirty="0">
                <a:solidFill>
                  <a:schemeClr val="tx2"/>
                </a:solidFill>
                <a:latin typeface="Times New Roman" pitchFamily="34" charset="0"/>
                <a:ea typeface="Times New Roman" pitchFamily="34" charset="-122"/>
                <a:cs typeface="Times New Roman" pitchFamily="34" charset="-120"/>
              </a:rPr>
              <a:t>Gộp 2 bộ rule đèn/quạt</a:t>
            </a:r>
            <a:endParaRPr lang="en-US" sz="1700" dirty="0"/>
          </a:p>
        </p:txBody>
      </p:sp>
      <p:sp>
        <p:nvSpPr>
          <p:cNvPr id="7" name="issue desc 1"/>
          <p:cNvSpPr txBox="1"/>
          <p:nvPr/>
        </p:nvSpPr>
        <p:spPr>
          <a:xfrm>
            <a:off x="4297680" y="1691640"/>
            <a:ext cx="7315200" cy="768096"/>
          </a:xfrm>
          <a:prstGeom prst="rect">
            <a:avLst/>
          </a:prstGeom>
          <a:noFill/>
          <a:ln/>
        </p:spPr>
        <p:txBody>
          <a:bodyPr wrap="square" lIns="0" tIns="0" rIns="0" bIns="0" rtlCol="0" anchor="ctr"/>
          <a:lstStyle/>
          <a:p>
            <a:pPr indent="0" marL="0">
              <a:buNone/>
            </a:pPr>
            <a:r>
              <a:rPr lang="en-US" sz="1300" dirty="0">
                <a:solidFill>
                  <a:schemeClr val="tx1"/>
                </a:solidFill>
                <a:latin typeface="Arial" pitchFamily="34" charset="0"/>
                <a:ea typeface="Arial" pitchFamily="34" charset="-122"/>
                <a:cs typeface="Arial" pitchFamily="34" charset="-120"/>
              </a:rPr>
              <a:t>Tab Tuần 7 và tab Người 3 cùng điều khiển đèn và quạt (giờ tắt 20:00 vs 21:00; quạt 180 s vs 60 s). Tab Người 3 gửi lệnh không qua gateway nên không dừng khi dashboard ở MANUAL.</a:t>
            </a:r>
            <a:endParaRPr lang="en-US" sz="1300" dirty="0"/>
          </a:p>
        </p:txBody>
      </p:sp>
      <p:sp>
        <p:nvSpPr>
          <p:cNvPr id="8" name="issue divider 1"/>
          <p:cNvSpPr/>
          <p:nvPr/>
        </p:nvSpPr>
        <p:spPr>
          <a:xfrm>
            <a:off x="1188720" y="2514600"/>
            <a:ext cx="10451592" cy="0"/>
          </a:xfrm>
          <a:prstGeom prst="line">
            <a:avLst/>
          </a:prstGeom>
          <a:noFill/>
          <a:ln w="9525">
            <a:solidFill>
              <a:schemeClr val="accent5"/>
            </a:solidFill>
            <a:prstDash val="solid"/>
          </a:ln>
        </p:spPr>
      </p:sp>
      <p:sp>
        <p:nvSpPr>
          <p:cNvPr id="9" name="issue badge 2"/>
          <p:cNvSpPr/>
          <p:nvPr/>
        </p:nvSpPr>
        <p:spPr>
          <a:xfrm>
            <a:off x="548640" y="2743200"/>
            <a:ext cx="457200" cy="457200"/>
          </a:xfrm>
          <a:prstGeom prst="ellipse">
            <a:avLst/>
          </a:prstGeom>
          <a:solidFill>
            <a:schemeClr val="accent4"/>
          </a:solidFill>
          <a:ln w="12700">
            <a:solidFill>
              <a:schemeClr val="accent4"/>
            </a:solidFill>
            <a:prstDash val="solid"/>
          </a:ln>
        </p:spPr>
      </p:sp>
      <p:sp>
        <p:nvSpPr>
          <p:cNvPr id="10" name="issue number 2"/>
          <p:cNvSpPr txBox="1"/>
          <p:nvPr/>
        </p:nvSpPr>
        <p:spPr>
          <a:xfrm>
            <a:off x="548640" y="274320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latin typeface="Times New Roman" pitchFamily="34" charset="0"/>
                <a:ea typeface="Times New Roman" pitchFamily="34" charset="-122"/>
                <a:cs typeface="Times New Roman" pitchFamily="34" charset="-120"/>
              </a:rPr>
              <a:t>2</a:t>
            </a:r>
            <a:endParaRPr lang="en-US" sz="1600" dirty="0"/>
          </a:p>
        </p:txBody>
      </p:sp>
      <p:sp>
        <p:nvSpPr>
          <p:cNvPr id="11" name="issue title 2"/>
          <p:cNvSpPr txBox="1"/>
          <p:nvPr/>
        </p:nvSpPr>
        <p:spPr>
          <a:xfrm>
            <a:off x="1188720" y="2587752"/>
            <a:ext cx="3017520" cy="768096"/>
          </a:xfrm>
          <a:prstGeom prst="rect">
            <a:avLst/>
          </a:prstGeom>
          <a:noFill/>
          <a:ln/>
        </p:spPr>
        <p:txBody>
          <a:bodyPr wrap="square" lIns="0" tIns="0" rIns="0" bIns="0" rtlCol="0" anchor="ctr"/>
          <a:lstStyle/>
          <a:p>
            <a:pPr indent="0" marL="0">
              <a:buNone/>
            </a:pPr>
            <a:r>
              <a:rPr lang="en-US" sz="1700" b="1" dirty="0">
                <a:solidFill>
                  <a:schemeClr val="tx2"/>
                </a:solidFill>
                <a:latin typeface="Times New Roman" pitchFamily="34" charset="0"/>
                <a:ea typeface="Times New Roman" pitchFamily="34" charset="-122"/>
                <a:cs typeface="Times New Roman" pitchFamily="34" charset="-120"/>
              </a:rPr>
              <a:t>Khoá topic config</a:t>
            </a:r>
            <a:endParaRPr lang="en-US" sz="1700" dirty="0"/>
          </a:p>
        </p:txBody>
      </p:sp>
      <p:sp>
        <p:nvSpPr>
          <p:cNvPr id="12" name="issue desc 2"/>
          <p:cNvSpPr txBox="1"/>
          <p:nvPr/>
        </p:nvSpPr>
        <p:spPr>
          <a:xfrm>
            <a:off x="4297680" y="2587752"/>
            <a:ext cx="7315200" cy="768096"/>
          </a:xfrm>
          <a:prstGeom prst="rect">
            <a:avLst/>
          </a:prstGeom>
          <a:noFill/>
          <a:ln/>
        </p:spPr>
        <p:txBody>
          <a:bodyPr wrap="square" lIns="0" tIns="0" rIns="0" bIns="0" rtlCol="0" anchor="ctr"/>
          <a:lstStyle/>
          <a:p>
            <a:pPr indent="0" marL="0">
              <a:buNone/>
            </a:pPr>
            <a:r>
              <a:rPr lang="en-US" sz="1300" dirty="0">
                <a:solidFill>
                  <a:schemeClr val="tx1"/>
                </a:solidFill>
                <a:latin typeface="Arial" pitchFamily="34" charset="0"/>
                <a:ea typeface="Arial" pitchFamily="34" charset="-122"/>
                <a:cs typeface="Arial" pitchFamily="34" charset="-120"/>
              </a:rPr>
              <a:t>Topic config cho phép đổi ngưỡng từ xa, kể cả ngưỡng nước, mà chưa kiểm tra phạm vi. Trên broker công khai, cần giới hạn hoặc tắt để không vô hiệu khoá nước.</a:t>
            </a:r>
            <a:endParaRPr lang="en-US" sz="1300" dirty="0"/>
          </a:p>
        </p:txBody>
      </p:sp>
      <p:sp>
        <p:nvSpPr>
          <p:cNvPr id="13" name="issue divider 2"/>
          <p:cNvSpPr/>
          <p:nvPr/>
        </p:nvSpPr>
        <p:spPr>
          <a:xfrm>
            <a:off x="1188720" y="3410712"/>
            <a:ext cx="10451592" cy="0"/>
          </a:xfrm>
          <a:prstGeom prst="line">
            <a:avLst/>
          </a:prstGeom>
          <a:noFill/>
          <a:ln w="9525">
            <a:solidFill>
              <a:schemeClr val="accent5"/>
            </a:solidFill>
            <a:prstDash val="solid"/>
          </a:ln>
        </p:spPr>
      </p:sp>
      <p:sp>
        <p:nvSpPr>
          <p:cNvPr id="14" name="issue badge 3"/>
          <p:cNvSpPr/>
          <p:nvPr/>
        </p:nvSpPr>
        <p:spPr>
          <a:xfrm>
            <a:off x="548640" y="3639312"/>
            <a:ext cx="457200" cy="457200"/>
          </a:xfrm>
          <a:prstGeom prst="ellipse">
            <a:avLst/>
          </a:prstGeom>
          <a:solidFill>
            <a:schemeClr val="accent1"/>
          </a:solidFill>
          <a:ln w="12700">
            <a:solidFill>
              <a:schemeClr val="accent1"/>
            </a:solidFill>
            <a:prstDash val="solid"/>
          </a:ln>
        </p:spPr>
      </p:sp>
      <p:sp>
        <p:nvSpPr>
          <p:cNvPr id="15" name="issue number 3"/>
          <p:cNvSpPr txBox="1"/>
          <p:nvPr/>
        </p:nvSpPr>
        <p:spPr>
          <a:xfrm>
            <a:off x="548640" y="3639312"/>
            <a:ext cx="457200" cy="457200"/>
          </a:xfrm>
          <a:prstGeom prst="rect">
            <a:avLst/>
          </a:prstGeom>
          <a:noFill/>
          <a:ln/>
        </p:spPr>
        <p:txBody>
          <a:bodyPr wrap="square" lIns="0" tIns="0" rIns="0" bIns="0" rtlCol="0" anchor="ctr"/>
          <a:lstStyle/>
          <a:p>
            <a:pPr algn="ctr" indent="0" marL="0">
              <a:buNone/>
            </a:pPr>
            <a:r>
              <a:rPr lang="en-US" sz="1600" b="1" dirty="0">
                <a:solidFill>
                  <a:schemeClr val="tx1"/>
                </a:solidFill>
                <a:latin typeface="Times New Roman" pitchFamily="34" charset="0"/>
                <a:ea typeface="Times New Roman" pitchFamily="34" charset="-122"/>
                <a:cs typeface="Times New Roman" pitchFamily="34" charset="-120"/>
              </a:rPr>
              <a:t>3</a:t>
            </a:r>
            <a:endParaRPr lang="en-US" sz="1600" dirty="0"/>
          </a:p>
        </p:txBody>
      </p:sp>
      <p:sp>
        <p:nvSpPr>
          <p:cNvPr id="16" name="issue title 3"/>
          <p:cNvSpPr txBox="1"/>
          <p:nvPr/>
        </p:nvSpPr>
        <p:spPr>
          <a:xfrm>
            <a:off x="1188720" y="3483864"/>
            <a:ext cx="3017520" cy="768096"/>
          </a:xfrm>
          <a:prstGeom prst="rect">
            <a:avLst/>
          </a:prstGeom>
          <a:noFill/>
          <a:ln/>
        </p:spPr>
        <p:txBody>
          <a:bodyPr wrap="square" lIns="0" tIns="0" rIns="0" bIns="0" rtlCol="0" anchor="ctr"/>
          <a:lstStyle/>
          <a:p>
            <a:pPr indent="0" marL="0">
              <a:buNone/>
            </a:pPr>
            <a:r>
              <a:rPr lang="en-US" sz="1700" b="1" dirty="0">
                <a:solidFill>
                  <a:schemeClr val="tx2"/>
                </a:solidFill>
                <a:latin typeface="Times New Roman" pitchFamily="34" charset="0"/>
                <a:ea typeface="Times New Roman" pitchFamily="34" charset="-122"/>
                <a:cs typeface="Times New Roman" pitchFamily="34" charset="-120"/>
              </a:rPr>
              <a:t>Chạy scenario Wokwi mới</a:t>
            </a:r>
            <a:endParaRPr lang="en-US" sz="1700" dirty="0"/>
          </a:p>
        </p:txBody>
      </p:sp>
      <p:sp>
        <p:nvSpPr>
          <p:cNvPr id="17" name="issue desc 3"/>
          <p:cNvSpPr txBox="1"/>
          <p:nvPr/>
        </p:nvSpPr>
        <p:spPr>
          <a:xfrm>
            <a:off x="4297680" y="3483864"/>
            <a:ext cx="7315200" cy="768096"/>
          </a:xfrm>
          <a:prstGeom prst="rect">
            <a:avLst/>
          </a:prstGeom>
          <a:noFill/>
          <a:ln/>
        </p:spPr>
        <p:txBody>
          <a:bodyPr wrap="square" lIns="0" tIns="0" rIns="0" bIns="0" rtlCol="0" anchor="ctr"/>
          <a:lstStyle/>
          <a:p>
            <a:pPr indent="0" marL="0">
              <a:buNone/>
            </a:pPr>
            <a:r>
              <a:rPr lang="en-US" sz="1300" dirty="0">
                <a:solidFill>
                  <a:schemeClr val="tx1"/>
                </a:solidFill>
                <a:latin typeface="Arial" pitchFamily="34" charset="0"/>
                <a:ea typeface="Arial" pitchFamily="34" charset="-122"/>
                <a:cs typeface="Arial" pitchFamily="34" charset="-120"/>
              </a:rPr>
              <a:t>run-tests.ps1 với WOKWI_CLI_TOKEN cho safety-faults và link-loss.</a:t>
            </a:r>
            <a:endParaRPr lang="en-US" sz="1300" dirty="0"/>
          </a:p>
        </p:txBody>
      </p:sp>
      <p:sp>
        <p:nvSpPr>
          <p:cNvPr id="18" name="issue divider 3"/>
          <p:cNvSpPr/>
          <p:nvPr/>
        </p:nvSpPr>
        <p:spPr>
          <a:xfrm>
            <a:off x="1188720" y="4306824"/>
            <a:ext cx="10451592" cy="0"/>
          </a:xfrm>
          <a:prstGeom prst="line">
            <a:avLst/>
          </a:prstGeom>
          <a:noFill/>
          <a:ln w="9525">
            <a:solidFill>
              <a:schemeClr val="accent5"/>
            </a:solidFill>
            <a:prstDash val="solid"/>
          </a:ln>
        </p:spPr>
      </p:sp>
      <p:sp>
        <p:nvSpPr>
          <p:cNvPr id="19" name="issue badge 4"/>
          <p:cNvSpPr/>
          <p:nvPr/>
        </p:nvSpPr>
        <p:spPr>
          <a:xfrm>
            <a:off x="548640" y="4535424"/>
            <a:ext cx="457200" cy="457200"/>
          </a:xfrm>
          <a:prstGeom prst="ellipse">
            <a:avLst/>
          </a:prstGeom>
          <a:solidFill>
            <a:schemeClr val="accent1"/>
          </a:solidFill>
          <a:ln w="12700">
            <a:solidFill>
              <a:schemeClr val="accent1"/>
            </a:solidFill>
            <a:prstDash val="solid"/>
          </a:ln>
        </p:spPr>
      </p:sp>
      <p:sp>
        <p:nvSpPr>
          <p:cNvPr id="20" name="issue number 4"/>
          <p:cNvSpPr txBox="1"/>
          <p:nvPr/>
        </p:nvSpPr>
        <p:spPr>
          <a:xfrm>
            <a:off x="548640" y="4535424"/>
            <a:ext cx="457200" cy="457200"/>
          </a:xfrm>
          <a:prstGeom prst="rect">
            <a:avLst/>
          </a:prstGeom>
          <a:noFill/>
          <a:ln/>
        </p:spPr>
        <p:txBody>
          <a:bodyPr wrap="square" lIns="0" tIns="0" rIns="0" bIns="0" rtlCol="0" anchor="ctr"/>
          <a:lstStyle/>
          <a:p>
            <a:pPr algn="ctr" indent="0" marL="0">
              <a:buNone/>
            </a:pPr>
            <a:r>
              <a:rPr lang="en-US" sz="1600" b="1" dirty="0">
                <a:solidFill>
                  <a:schemeClr val="tx1"/>
                </a:solidFill>
                <a:latin typeface="Times New Roman" pitchFamily="34" charset="0"/>
                <a:ea typeface="Times New Roman" pitchFamily="34" charset="-122"/>
                <a:cs typeface="Times New Roman" pitchFamily="34" charset="-120"/>
              </a:rPr>
              <a:t>4</a:t>
            </a:r>
            <a:endParaRPr lang="en-US" sz="1600" dirty="0"/>
          </a:p>
        </p:txBody>
      </p:sp>
      <p:sp>
        <p:nvSpPr>
          <p:cNvPr id="21" name="issue title 4"/>
          <p:cNvSpPr txBox="1"/>
          <p:nvPr/>
        </p:nvSpPr>
        <p:spPr>
          <a:xfrm>
            <a:off x="1188720" y="4379976"/>
            <a:ext cx="3017520" cy="768096"/>
          </a:xfrm>
          <a:prstGeom prst="rect">
            <a:avLst/>
          </a:prstGeom>
          <a:noFill/>
          <a:ln/>
        </p:spPr>
        <p:txBody>
          <a:bodyPr wrap="square" lIns="0" tIns="0" rIns="0" bIns="0" rtlCol="0" anchor="ctr"/>
          <a:lstStyle/>
          <a:p>
            <a:pPr indent="0" marL="0">
              <a:buNone/>
            </a:pPr>
            <a:r>
              <a:rPr lang="en-US" sz="1700" b="1" dirty="0">
                <a:solidFill>
                  <a:schemeClr val="tx2"/>
                </a:solidFill>
                <a:latin typeface="Times New Roman" pitchFamily="34" charset="0"/>
                <a:ea typeface="Times New Roman" pitchFamily="34" charset="-122"/>
                <a:cs typeface="Times New Roman" pitchFamily="34" charset="-120"/>
              </a:rPr>
              <a:t>Telegram + video demo</a:t>
            </a:r>
            <a:endParaRPr lang="en-US" sz="1700" dirty="0"/>
          </a:p>
        </p:txBody>
      </p:sp>
      <p:sp>
        <p:nvSpPr>
          <p:cNvPr id="22" name="issue desc 4"/>
          <p:cNvSpPr txBox="1"/>
          <p:nvPr/>
        </p:nvSpPr>
        <p:spPr>
          <a:xfrm>
            <a:off x="4297680" y="4379976"/>
            <a:ext cx="7315200" cy="768096"/>
          </a:xfrm>
          <a:prstGeom prst="rect">
            <a:avLst/>
          </a:prstGeom>
          <a:noFill/>
          <a:ln/>
        </p:spPr>
        <p:txBody>
          <a:bodyPr wrap="square" lIns="0" tIns="0" rIns="0" bIns="0" rtlCol="0" anchor="ctr"/>
          <a:lstStyle/>
          <a:p>
            <a:pPr indent="0" marL="0">
              <a:buNone/>
            </a:pPr>
            <a:r>
              <a:rPr lang="en-US" sz="1300" dirty="0">
                <a:solidFill>
                  <a:schemeClr val="tx1"/>
                </a:solidFill>
                <a:latin typeface="Arial" pitchFamily="34" charset="0"/>
                <a:ea typeface="Arial" pitchFamily="34" charset="-122"/>
                <a:cs typeface="Arial" pitchFamily="34" charset="-120"/>
              </a:rPr>
              <a:t>Cấu hình token và chat ID nhóm thật; quay video theo demo-guide-video.md.</a:t>
            </a:r>
            <a:endParaRPr lang="en-US" sz="1300" dirty="0"/>
          </a:p>
        </p:txBody>
      </p:sp>
      <p:sp>
        <p:nvSpPr>
          <p:cNvPr id="23" name="issue divider 4"/>
          <p:cNvSpPr/>
          <p:nvPr/>
        </p:nvSpPr>
        <p:spPr>
          <a:xfrm>
            <a:off x="1188720" y="5202936"/>
            <a:ext cx="10451592" cy="0"/>
          </a:xfrm>
          <a:prstGeom prst="line">
            <a:avLst/>
          </a:prstGeom>
          <a:noFill/>
          <a:ln w="9525">
            <a:solidFill>
              <a:schemeClr val="accent5"/>
            </a:solidFill>
            <a:prstDash val="solid"/>
          </a:ln>
        </p:spPr>
      </p:sp>
      <p:sp>
        <p:nvSpPr>
          <p:cNvPr id="24" name="issue badge 5"/>
          <p:cNvSpPr/>
          <p:nvPr/>
        </p:nvSpPr>
        <p:spPr>
          <a:xfrm>
            <a:off x="548640" y="5431536"/>
            <a:ext cx="457200" cy="457200"/>
          </a:xfrm>
          <a:prstGeom prst="ellipse">
            <a:avLst/>
          </a:prstGeom>
          <a:solidFill>
            <a:schemeClr val="accent2"/>
          </a:solidFill>
          <a:ln w="12700">
            <a:solidFill>
              <a:schemeClr val="accent2"/>
            </a:solidFill>
            <a:prstDash val="solid"/>
          </a:ln>
        </p:spPr>
      </p:sp>
      <p:sp>
        <p:nvSpPr>
          <p:cNvPr id="25" name="issue number 5"/>
          <p:cNvSpPr txBox="1"/>
          <p:nvPr/>
        </p:nvSpPr>
        <p:spPr>
          <a:xfrm>
            <a:off x="548640" y="5431536"/>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latin typeface="Times New Roman" pitchFamily="34" charset="0"/>
                <a:ea typeface="Times New Roman" pitchFamily="34" charset="-122"/>
                <a:cs typeface="Times New Roman" pitchFamily="34" charset="-120"/>
              </a:rPr>
              <a:t>5</a:t>
            </a:r>
            <a:endParaRPr lang="en-US" sz="1600" dirty="0"/>
          </a:p>
        </p:txBody>
      </p:sp>
      <p:sp>
        <p:nvSpPr>
          <p:cNvPr id="26" name="issue title 5"/>
          <p:cNvSpPr txBox="1"/>
          <p:nvPr/>
        </p:nvSpPr>
        <p:spPr>
          <a:xfrm>
            <a:off x="1188720" y="5276088"/>
            <a:ext cx="3017520" cy="768096"/>
          </a:xfrm>
          <a:prstGeom prst="rect">
            <a:avLst/>
          </a:prstGeom>
          <a:noFill/>
          <a:ln/>
        </p:spPr>
        <p:txBody>
          <a:bodyPr wrap="square" lIns="0" tIns="0" rIns="0" bIns="0" rtlCol="0" anchor="ctr"/>
          <a:lstStyle/>
          <a:p>
            <a:pPr indent="0" marL="0">
              <a:buNone/>
            </a:pPr>
            <a:r>
              <a:rPr lang="en-US" sz="1700" b="1" dirty="0">
                <a:solidFill>
                  <a:schemeClr val="tx2"/>
                </a:solidFill>
                <a:latin typeface="Times New Roman" pitchFamily="34" charset="0"/>
                <a:ea typeface="Times New Roman" pitchFamily="34" charset="-122"/>
                <a:cs typeface="Times New Roman" pitchFamily="34" charset="-120"/>
              </a:rPr>
              <a:t>Board thật</a:t>
            </a:r>
            <a:endParaRPr lang="en-US" sz="1700" dirty="0"/>
          </a:p>
        </p:txBody>
      </p:sp>
      <p:sp>
        <p:nvSpPr>
          <p:cNvPr id="27" name="issue desc 5"/>
          <p:cNvSpPr txBox="1"/>
          <p:nvPr/>
        </p:nvSpPr>
        <p:spPr>
          <a:xfrm>
            <a:off x="4297680" y="5276088"/>
            <a:ext cx="7315200" cy="768096"/>
          </a:xfrm>
          <a:prstGeom prst="rect">
            <a:avLst/>
          </a:prstGeom>
          <a:noFill/>
          <a:ln/>
        </p:spPr>
        <p:txBody>
          <a:bodyPr wrap="square" lIns="0" tIns="0" rIns="0" bIns="0" rtlCol="0" anchor="ctr"/>
          <a:lstStyle/>
          <a:p>
            <a:pPr indent="0" marL="0">
              <a:buNone/>
            </a:pPr>
            <a:r>
              <a:rPr lang="en-US" sz="1300" dirty="0">
                <a:solidFill>
                  <a:schemeClr val="tx1"/>
                </a:solidFill>
                <a:latin typeface="Arial" pitchFamily="34" charset="0"/>
                <a:ea typeface="Arial" pitchFamily="34" charset="-122"/>
                <a:cs typeface="Arial" pitchFamily="34" charset="-120"/>
              </a:rPr>
              <a:t>Cập nhật các khoá an toàn tuần 7 vào s3_physical.cpp và chạy trên ESP32.</a:t>
            </a:r>
            <a:endParaRPr lang="en-US" sz="1300" dirty="0"/>
          </a:p>
        </p:txBody>
      </p:sp>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6"/>
                </a:solidFill>
                <a:latin typeface="Arial"/>
                <a:ea typeface="Arial"/>
                <a:cs typeface="Aria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 name="decor orchid" descr="preencoded.png">    </p:cNvPr>
          <p:cNvPicPr>
            <a:picLocks noChangeAspect="1"/>
          </p:cNvPicPr>
          <p:nvPr/>
        </p:nvPicPr>
        <p:blipFill>
          <a:blip r:embed="rId1">
            <a:alphaModFix amt="45000"/>
          </a:blip>
          <a:stretch>
            <a:fillRect/>
          </a:stretch>
        </p:blipFill>
        <p:spPr>
          <a:xfrm>
            <a:off x="8732520" y="3429000"/>
            <a:ext cx="2926080" cy="2926080"/>
          </a:xfrm>
          <a:prstGeom prst="rect">
            <a:avLst/>
          </a:prstGeom>
        </p:spPr>
      </p:pic>
      <p:sp>
        <p:nvSpPr>
          <p:cNvPr id="3" name="thanks"/>
          <p:cNvSpPr txBox="1"/>
          <p:nvPr/>
        </p:nvSpPr>
        <p:spPr>
          <a:xfrm>
            <a:off x="822960" y="2377440"/>
            <a:ext cx="9144000" cy="1005840"/>
          </a:xfrm>
          <a:prstGeom prst="rect">
            <a:avLst/>
          </a:prstGeom>
          <a:noFill/>
          <a:ln/>
        </p:spPr>
        <p:txBody>
          <a:bodyPr wrap="square" lIns="0" tIns="0" rIns="0" bIns="0" rtlCol="0" anchor="ctr"/>
          <a:lstStyle/>
          <a:p>
            <a:pPr indent="0" marL="0">
              <a:buNone/>
            </a:pPr>
            <a:r>
              <a:rPr lang="en-US" sz="4800" b="1" dirty="0">
                <a:solidFill>
                  <a:schemeClr val="bg1"/>
                </a:solidFill>
                <a:latin typeface="Times New Roman" pitchFamily="34" charset="0"/>
                <a:ea typeface="Times New Roman" pitchFamily="34" charset="-122"/>
                <a:cs typeface="Times New Roman" pitchFamily="34" charset="-120"/>
              </a:rPr>
              <a:t>Cảm ơn quý thầy/cô</a:t>
            </a:r>
            <a:endParaRPr lang="en-US" sz="4800" dirty="0"/>
          </a:p>
        </p:txBody>
      </p:sp>
      <p:sp>
        <p:nvSpPr>
          <p:cNvPr id="4" name="questions"/>
          <p:cNvSpPr txBox="1"/>
          <p:nvPr/>
        </p:nvSpPr>
        <p:spPr>
          <a:xfrm>
            <a:off x="822960" y="3429000"/>
            <a:ext cx="9144000" cy="502920"/>
          </a:xfrm>
          <a:prstGeom prst="rect">
            <a:avLst/>
          </a:prstGeom>
          <a:noFill/>
          <a:ln/>
        </p:spPr>
        <p:txBody>
          <a:bodyPr wrap="square" lIns="0" tIns="0" rIns="0" bIns="0" rtlCol="0" anchor="ctr"/>
          <a:lstStyle/>
          <a:p>
            <a:pPr indent="0" marL="0">
              <a:buNone/>
            </a:pPr>
            <a:r>
              <a:rPr lang="en-US" sz="2200" i="1" dirty="0">
                <a:solidFill>
                  <a:schemeClr val="accent1"/>
                </a:solidFill>
                <a:latin typeface="Times New Roman" pitchFamily="34" charset="0"/>
                <a:ea typeface="Times New Roman" pitchFamily="34" charset="-122"/>
                <a:cs typeface="Times New Roman" pitchFamily="34" charset="-120"/>
              </a:rPr>
              <a:t>Câu hỏi &amp; thảo luận</a:t>
            </a:r>
            <a:endParaRPr lang="en-US" sz="2200" dirty="0"/>
          </a:p>
        </p:txBody>
      </p:sp>
      <p:sp>
        <p:nvSpPr>
          <p:cNvPr id="5" name="closing footer"/>
          <p:cNvSpPr txBox="1"/>
          <p:nvPr/>
        </p:nvSpPr>
        <p:spPr>
          <a:xfrm>
            <a:off x="822960" y="6172200"/>
            <a:ext cx="8229600" cy="320040"/>
          </a:xfrm>
          <a:prstGeom prst="rect">
            <a:avLst/>
          </a:prstGeom>
          <a:noFill/>
          <a:ln/>
        </p:spPr>
        <p:txBody>
          <a:bodyPr wrap="square" lIns="0" tIns="0" rIns="0" bIns="0" rtlCol="0" anchor="ctr"/>
          <a:lstStyle/>
          <a:p>
            <a:pPr indent="0" marL="0">
              <a:buNone/>
            </a:pPr>
            <a:r>
              <a:rPr lang="en-US" sz="1100" dirty="0">
                <a:solidFill>
                  <a:schemeClr val="accent3"/>
                </a:solidFill>
                <a:latin typeface="Arial" pitchFamily="34" charset="0"/>
                <a:ea typeface="Arial" pitchFamily="34" charset="-122"/>
                <a:cs typeface="Arial" pitchFamily="34" charset="-120"/>
              </a:rPr>
              <a:t>Dự án IoT — Hệ thống vườn ươm lan tự động · Báo cáo tiến độ tuần 6 &amp; 7</a:t>
            </a:r>
            <a:endParaRPr lang="en-US" sz="1100" dirty="0"/>
          </a:p>
        </p:txBody>
      </p:sp>
    </p:spTree>
  </p:cSld>
  <p:clrMapOvr>
    <a:masterClrMapping/>
  </p:clrMapOvr>
</p:sld>
</file>

<file path=ppt/theme/theme1.xml><?xml version="1.0" encoding="utf-8"?>
<a:theme xmlns:a="http://schemas.openxmlformats.org/drawingml/2006/main" name="Vuon Uom Lan">
  <a:themeElements>
    <a:clrScheme name="Vuon Uom Lan">
      <a:dk1>
        <a:srgbClr val="20302A"/>
      </a:dk1>
      <a:lt1>
        <a:srgbClr val="FFFFFF"/>
      </a:lt1>
      <a:dk2>
        <a:srgbClr val="1F4D36"/>
      </a:dk2>
      <a:lt2>
        <a:srgbClr val="F3F6F1"/>
      </a:lt2>
      <a:accent1>
        <a:srgbClr val="E0932E"/>
      </a:accent1>
      <a:accent2>
        <a:srgbClr val="6B8F71"/>
      </a:accent2>
      <a:accent3>
        <a:srgbClr val="AFC8B5"/>
      </a:accent3>
      <a:accent4>
        <a:srgbClr val="B0432A"/>
      </a:accent4>
      <a:accent5>
        <a:srgbClr val="D8E2DC"/>
      </a:accent5>
      <a:accent6>
        <a:srgbClr val="5C6E64"/>
      </a:accent6>
      <a:hlink>
        <a:srgbClr val="1F4D36"/>
      </a:hlink>
      <a:folHlink>
        <a:srgbClr val="6B8F71"/>
      </a:folHlink>
    </a:clrScheme>
    <a:fontScheme name="Vuon Uom Lan">
      <a:majorFont>
        <a:latin typeface="Times New Roman"/>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Báo cáo tiến độ tuần 6 &amp; 7 — Vườn ươm lan tự động</dc:title>
  <dc:subject>Tầng Application/Platform, business rules và tình huống bất thường</dc:subject>
  <dc:creator>Nhóm dự án Vườn ươm lan</dc:creator>
  <cp:lastModifiedBy>Nhóm dự án Vườn ươm lan</cp:lastModifiedBy>
  <cp:revision>1</cp:revision>
  <dcterms:created xsi:type="dcterms:W3CDTF">2026-10-17T02:48:33Z</dcterms:created>
  <dcterms:modified xsi:type="dcterms:W3CDTF">2026-10-17T02:48:33Z</dcterms:modified>
</cp:coreProperties>
</file>