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eec76b90-e498-2cd4-d51c-3c8c4dcd0236}">
          <p14:sldIdLst>
            <p14:sldId id="256"/>
            <p14:sldId id="257"/>
          </p14:sldIdLst>
        </p14:section>
        <p14:section name="Part 1: Device" id="{1fcb38e7-2eb2-25ab-0e70-fe395294b5fd}">
          <p14:sldIdLst>
            <p14:sldId id="258"/>
          </p14:sldIdLst>
        </p14:section>
        <p14:section name="Part 2: MQTT" id="{68adc79b-7d30-7f6a-e9e0-4bb000980de0}">
          <p14:sldIdLst>
            <p14:sldId id="259"/>
          </p14:sldIdLst>
        </p14:section>
        <p14:section name="Part 3: Web Server App" id="{c88f4cf2-8ca3-1c20-9924-1cd75a3f1bc8}">
          <p14:sldIdLst>
            <p14:sldId id="260"/>
            <p14:sldId id="261"/>
          </p14:sldIdLst>
        </p14:section>
        <p14:section name="Kết luận" id="{cf8d71e6-a15e-abd4-87d8-abb0cc6f940d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 3 phần của hệ thống: thiết bị ESP32 tại vườn, tầng MQTT trung gian và ứng dụng Node-RED điều hành.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Nêu bài toán chăm lan, giải pháp và 4 tầng kiến trúc. Ba phần tiếp theo đi lần lượt từ tầng thiết bị lên tầng ứng dụng.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Khung trái: 3 cảm biến và 3 relay, kèm chân GPIO trong diagram.json. Khung phải: Collect task đọc và lọc dữ liệu, Control task chạy FSM phun sương với khóa an toàn nước cạn và lệnh tay có TTL.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dịch vụ trên MQTT. Topic và payload đã chốt từ tuần 8. Mỗi lệnh đều có request_id để ghép ACK; firmware luôn là lớp an toàn cuối cùng.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Bên trái: cách dashboard hiển thị dữ liệu và trạng thái kết nối. Bên phải: toàn bộ sự kiện ghi vào orchid-history.jsonl, dùng làm bằng chứng nghiệm thu.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Bên trái: chế độ AUTO/MANUAL, các khóa nút và 3 vai trò. Bên phải: 2 luật tự động chính và cảnh báo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Tóm tắt kết quả nghiệm thu tuần 8-9 (số liệu lấy từ test-results/week8-m4 và week9-rerun) và hướng phát triển.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74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822960"/>
            <a:ext cx="8595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194560"/>
            <a:ext cx="8595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FE3D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4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i="1" dirty="0">
                <a:solidFill>
                  <a:srgbClr val="CFE3D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i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822960"/>
            <a:ext cx="8595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Vườn lan thông minh IoT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19456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6"/>
                </a:solidFill>
              </a:rPr>
              <a:t>Hệ thống tự động đo và chăm sóc vườn lan, theo dõi và điều khiển từ xa qua web</a:t>
            </a:r>
            <a:endParaRPr lang="en-US" sz="2000" dirty="0"/>
          </a:p>
        </p:txBody>
      </p:sp>
      <p:sp>
        <p:nvSpPr>
          <p:cNvPr id="4" name="cover-part1-circle"/>
          <p:cNvSpPr/>
          <p:nvPr/>
        </p:nvSpPr>
        <p:spPr>
          <a:xfrm>
            <a:off x="731520" y="32461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cover-part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3407054"/>
            <a:ext cx="409651" cy="409651"/>
          </a:xfrm>
          <a:prstGeom prst="rect">
            <a:avLst/>
          </a:prstGeom>
        </p:spPr>
      </p:pic>
      <p:sp>
        <p:nvSpPr>
          <p:cNvPr id="6" name="cover-part1-text"/>
          <p:cNvSpPr txBox="1"/>
          <p:nvPr/>
        </p:nvSpPr>
        <p:spPr>
          <a:xfrm>
            <a:off x="1645920" y="3291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Phần 1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Thiết bị ESP32</a:t>
            </a:r>
            <a:endParaRPr lang="en-US" sz="1400" dirty="0"/>
          </a:p>
        </p:txBody>
      </p:sp>
      <p:sp>
        <p:nvSpPr>
          <p:cNvPr id="7" name="cover-part2-circle"/>
          <p:cNvSpPr/>
          <p:nvPr/>
        </p:nvSpPr>
        <p:spPr>
          <a:xfrm>
            <a:off x="4297680" y="32461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cover-part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8614" y="3407054"/>
            <a:ext cx="409651" cy="409651"/>
          </a:xfrm>
          <a:prstGeom prst="rect">
            <a:avLst/>
          </a:prstGeom>
        </p:spPr>
      </p:pic>
      <p:sp>
        <p:nvSpPr>
          <p:cNvPr id="9" name="cover-part2-text"/>
          <p:cNvSpPr txBox="1"/>
          <p:nvPr/>
        </p:nvSpPr>
        <p:spPr>
          <a:xfrm>
            <a:off x="5212080" y="3291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Phần 2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Truyền tin MQTT</a:t>
            </a:r>
            <a:endParaRPr lang="en-US" sz="1400" dirty="0"/>
          </a:p>
        </p:txBody>
      </p:sp>
      <p:sp>
        <p:nvSpPr>
          <p:cNvPr id="10" name="cover-part3-circle"/>
          <p:cNvSpPr/>
          <p:nvPr/>
        </p:nvSpPr>
        <p:spPr>
          <a:xfrm>
            <a:off x="7863840" y="32461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cover-part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4774" y="3407054"/>
            <a:ext cx="409651" cy="409651"/>
          </a:xfrm>
          <a:prstGeom prst="rect">
            <a:avLst/>
          </a:prstGeom>
        </p:spPr>
      </p:pic>
      <p:sp>
        <p:nvSpPr>
          <p:cNvPr id="12" name="cover-part3-text"/>
          <p:cNvSpPr txBox="1"/>
          <p:nvPr/>
        </p:nvSpPr>
        <p:spPr>
          <a:xfrm>
            <a:off x="8778240" y="3291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Phần 3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Ứng dụng web Node-RED</a:t>
            </a:r>
            <a:endParaRPr lang="en-US" sz="1400" dirty="0"/>
          </a:p>
        </p:txBody>
      </p:sp>
      <p:pic>
        <p:nvPicPr>
          <p:cNvPr id="13" name="cover-leaf" descr="preencoded.png">    </p:cNvPr>
          <p:cNvPicPr>
            <a:picLocks noChangeAspect="1"/>
          </p:cNvPicPr>
          <p:nvPr/>
        </p:nvPicPr>
        <p:blipFill>
          <a:blip r:embed="rId4">
            <a:alphaModFix amt="60000"/>
          </a:blip>
          <a:stretch>
            <a:fillRect/>
          </a:stretch>
        </p:blipFill>
        <p:spPr>
          <a:xfrm>
            <a:off x="9509760" y="548640"/>
            <a:ext cx="2011680" cy="2011680"/>
          </a:xfrm>
          <a:prstGeom prst="rect">
            <a:avLst/>
          </a:prstGeom>
        </p:spPr>
      </p:pic>
      <p:sp>
        <p:nvSpPr>
          <p:cNvPr id="14" name="cover-team-label"/>
          <p:cNvSpPr txBox="1"/>
          <p:nvPr/>
        </p:nvSpPr>
        <p:spPr>
          <a:xfrm>
            <a:off x="73152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8D6"/>
                </a:solidFill>
              </a:rPr>
              <a:t>NHÓM THỰC HIỆN</a:t>
            </a:r>
            <a:endParaRPr lang="en-US" sz="1200" dirty="0"/>
          </a:p>
        </p:txBody>
      </p:sp>
      <p:sp>
        <p:nvSpPr>
          <p:cNvPr id="15" name="cover-member1"/>
          <p:cNvSpPr/>
          <p:nvPr/>
        </p:nvSpPr>
        <p:spPr>
          <a:xfrm>
            <a:off x="731520" y="4892040"/>
            <a:ext cx="3337560" cy="960120"/>
          </a:xfrm>
          <a:prstGeom prst="roundRect">
            <a:avLst>
              <a:gd name="adj" fmla="val 11429"/>
            </a:avLst>
          </a:prstGeom>
          <a:solidFill>
            <a:srgbClr val="21503A"/>
          </a:solidFill>
          <a:ln w="12700">
            <a:solidFill>
              <a:srgbClr val="21503A"/>
            </a:solidFill>
            <a:prstDash val="solid"/>
          </a:ln>
        </p:spPr>
      </p:sp>
      <p:sp>
        <p:nvSpPr>
          <p:cNvPr id="16" name="cover-member1-text"/>
          <p:cNvSpPr txBox="1"/>
          <p:nvPr/>
        </p:nvSpPr>
        <p:spPr>
          <a:xfrm>
            <a:off x="914400" y="5001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Người 1 – Họ và tên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Firmware ESP32, lọc tín hiệu, gửi dữ liệu lên (uplink)</a:t>
            </a:r>
            <a:endParaRPr lang="en-US" sz="1400" dirty="0"/>
          </a:p>
        </p:txBody>
      </p:sp>
      <p:sp>
        <p:nvSpPr>
          <p:cNvPr id="17" name="cover-member2"/>
          <p:cNvSpPr/>
          <p:nvPr/>
        </p:nvSpPr>
        <p:spPr>
          <a:xfrm>
            <a:off x="4297680" y="4892040"/>
            <a:ext cx="3337560" cy="960120"/>
          </a:xfrm>
          <a:prstGeom prst="roundRect">
            <a:avLst>
              <a:gd name="adj" fmla="val 11429"/>
            </a:avLst>
          </a:prstGeom>
          <a:solidFill>
            <a:srgbClr val="21503A"/>
          </a:solidFill>
          <a:ln w="12700">
            <a:solidFill>
              <a:srgbClr val="21503A"/>
            </a:solidFill>
            <a:prstDash val="solid"/>
          </a:ln>
        </p:spPr>
      </p:sp>
      <p:sp>
        <p:nvSpPr>
          <p:cNvPr id="18" name="cover-member2-text"/>
          <p:cNvSpPr txBox="1"/>
          <p:nvPr/>
        </p:nvSpPr>
        <p:spPr>
          <a:xfrm>
            <a:off x="4480560" y="5001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Người 2 – Họ và tên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Dashboard Node-RED, điều khiển xuống (downlink)</a:t>
            </a:r>
            <a:endParaRPr lang="en-US" sz="1400" dirty="0"/>
          </a:p>
        </p:txBody>
      </p:sp>
      <p:sp>
        <p:nvSpPr>
          <p:cNvPr id="19" name="cover-member3"/>
          <p:cNvSpPr/>
          <p:nvPr/>
        </p:nvSpPr>
        <p:spPr>
          <a:xfrm>
            <a:off x="7863840" y="4892040"/>
            <a:ext cx="3337560" cy="960120"/>
          </a:xfrm>
          <a:prstGeom prst="roundRect">
            <a:avLst>
              <a:gd name="adj" fmla="val 11429"/>
            </a:avLst>
          </a:prstGeom>
          <a:solidFill>
            <a:srgbClr val="21503A"/>
          </a:solidFill>
          <a:ln w="12700">
            <a:solidFill>
              <a:srgbClr val="21503A"/>
            </a:solidFill>
            <a:prstDash val="solid"/>
          </a:ln>
        </p:spPr>
      </p:sp>
      <p:sp>
        <p:nvSpPr>
          <p:cNvPr id="20" name="cover-member3-text"/>
          <p:cNvSpPr txBox="1"/>
          <p:nvPr/>
        </p:nvSpPr>
        <p:spPr>
          <a:xfrm>
            <a:off x="8046720" y="5001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Người 3 – Họ và tên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FE3D6"/>
                </a:solidFill>
              </a:rPr>
              <a:t>Cảnh báo Telegram, ghép hệ thống, kiểm thử</a:t>
            </a:r>
            <a:endParaRPr lang="en-US" sz="1400" dirty="0"/>
          </a:p>
        </p:txBody>
      </p:sp>
      <p:sp>
        <p:nvSpPr>
          <p:cNvPr id="21" name="cover-supervisor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3D6"/>
                </a:solidFill>
              </a:rPr>
              <a:t>Giảng viên hướng dẫn: …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giải pháp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Tự động giữ vi khí hậu cho vườn lan, vẫn cho người chăm sóc giám sát và can thiệp từ xa</a:t>
            </a:r>
            <a:endParaRPr lang="en-US" sz="1600" dirty="0"/>
          </a:p>
        </p:txBody>
      </p:sp>
      <p:sp>
        <p:nvSpPr>
          <p:cNvPr id="4" name="intro-problem-card"/>
          <p:cNvSpPr/>
          <p:nvPr/>
        </p:nvSpPr>
        <p:spPr>
          <a:xfrm>
            <a:off x="548640" y="1645920"/>
            <a:ext cx="5440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ntro-problem-circle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ntro-problem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39442"/>
            <a:ext cx="281635" cy="281635"/>
          </a:xfrm>
          <a:prstGeom prst="rect">
            <a:avLst/>
          </a:prstGeom>
        </p:spPr>
      </p:pic>
      <p:sp>
        <p:nvSpPr>
          <p:cNvPr id="7" name="intro-problem-title"/>
          <p:cNvSpPr txBox="1"/>
          <p:nvPr/>
        </p:nvSpPr>
        <p:spPr>
          <a:xfrm>
            <a:off x="1417320" y="18928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Vấn đề</a:t>
            </a:r>
            <a:endParaRPr lang="en-US" sz="2000" dirty="0"/>
          </a:p>
        </p:txBody>
      </p:sp>
      <p:sp>
        <p:nvSpPr>
          <p:cNvPr id="8" name="intro-problem-body"/>
          <p:cNvSpPr txBox="1"/>
          <p:nvPr/>
        </p:nvSpPr>
        <p:spPr>
          <a:xfrm>
            <a:off x="777240" y="2514600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Lan cần độ ẩm, nhiệt độ và ánh sáng ổn định; chăm tay dễ quên, dễ trễ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Phun quá nhiều hoặc để lá đọng nước lâu dễ gây thối nõn, nấm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Bơm chạy khi bình cạn nước có thể hỏng bơm</a:t>
            </a:r>
            <a:endParaRPr lang="en-US" sz="1500" dirty="0"/>
          </a:p>
        </p:txBody>
      </p:sp>
      <p:sp>
        <p:nvSpPr>
          <p:cNvPr id="9" name="intro-goal-card"/>
          <p:cNvSpPr/>
          <p:nvPr/>
        </p:nvSpPr>
        <p:spPr>
          <a:xfrm>
            <a:off x="6172200" y="1645920"/>
            <a:ext cx="5440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ntro-goal-circle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ntro-goal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939442"/>
            <a:ext cx="281635" cy="281635"/>
          </a:xfrm>
          <a:prstGeom prst="rect">
            <a:avLst/>
          </a:prstGeom>
        </p:spPr>
      </p:pic>
      <p:sp>
        <p:nvSpPr>
          <p:cNvPr id="12" name="intro-goal-title"/>
          <p:cNvSpPr txBox="1"/>
          <p:nvPr/>
        </p:nvSpPr>
        <p:spPr>
          <a:xfrm>
            <a:off x="7040880" y="18928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pháp</a:t>
            </a:r>
            <a:endParaRPr lang="en-US" sz="2000" dirty="0"/>
          </a:p>
        </p:txBody>
      </p:sp>
      <p:sp>
        <p:nvSpPr>
          <p:cNvPr id="13" name="intro-goal-body"/>
          <p:cNvSpPr txBox="1"/>
          <p:nvPr/>
        </p:nvSpPr>
        <p:spPr>
          <a:xfrm>
            <a:off x="6400800" y="2514600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ESP32 tự đo và điều khiển phun, quạt, đèn ngay tại vườn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Trang web theo dõi trực tiếp, bấm điều khiển và thấy thiết bị xác nhận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Các khóa an toàn chạy ngay trên ESP32: mất mạng vẫn tự chăm vườn an toàn</a:t>
            </a:r>
            <a:endParaRPr lang="en-US" sz="1500" dirty="0"/>
          </a:p>
        </p:txBody>
      </p:sp>
      <p:sp>
        <p:nvSpPr>
          <p:cNvPr id="14" name="intro-layers-label"/>
          <p:cNvSpPr txBox="1"/>
          <p:nvPr/>
        </p:nvSpPr>
        <p:spPr>
          <a:xfrm>
            <a:off x="54864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Kiến trúc 4 tầng</a:t>
            </a:r>
            <a:endParaRPr lang="en-US" sz="1300" dirty="0"/>
          </a:p>
        </p:txBody>
      </p:sp>
      <p:sp>
        <p:nvSpPr>
          <p:cNvPr id="15" name="intro-layer1"/>
          <p:cNvSpPr/>
          <p:nvPr/>
        </p:nvSpPr>
        <p:spPr>
          <a:xfrm>
            <a:off x="548640" y="4983480"/>
            <a:ext cx="2514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ntro-layer1-circle"/>
          <p:cNvSpPr/>
          <p:nvPr/>
        </p:nvSpPr>
        <p:spPr>
          <a:xfrm>
            <a:off x="685800" y="5166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ntro-layer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5287061"/>
            <a:ext cx="307238" cy="307238"/>
          </a:xfrm>
          <a:prstGeom prst="rect">
            <a:avLst/>
          </a:prstGeom>
        </p:spPr>
      </p:pic>
      <p:sp>
        <p:nvSpPr>
          <p:cNvPr id="18" name="intro-layer1-text"/>
          <p:cNvSpPr txBox="1"/>
          <p:nvPr/>
        </p:nvSpPr>
        <p:spPr>
          <a:xfrm>
            <a:off x="1371600" y="5120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Thiết bị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ESP32 + cảm biến + relay</a:t>
            </a:r>
            <a:endParaRPr lang="en-US" sz="1400" dirty="0"/>
          </a:p>
        </p:txBody>
      </p:sp>
      <p:sp>
        <p:nvSpPr>
          <p:cNvPr id="19" name="intro-layer-arrow1"/>
          <p:cNvSpPr/>
          <p:nvPr/>
        </p:nvSpPr>
        <p:spPr>
          <a:xfrm>
            <a:off x="3090672" y="5321808"/>
            <a:ext cx="274320" cy="237744"/>
          </a:xfrm>
          <a:prstGeom prst="left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intro-layer2"/>
          <p:cNvSpPr/>
          <p:nvPr/>
        </p:nvSpPr>
        <p:spPr>
          <a:xfrm>
            <a:off x="3383280" y="4983480"/>
            <a:ext cx="2514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intro-layer2-circle"/>
          <p:cNvSpPr/>
          <p:nvPr/>
        </p:nvSpPr>
        <p:spPr>
          <a:xfrm>
            <a:off x="3520440" y="5166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intro-layer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1141" y="5287061"/>
            <a:ext cx="307238" cy="307238"/>
          </a:xfrm>
          <a:prstGeom prst="rect">
            <a:avLst/>
          </a:prstGeom>
        </p:spPr>
      </p:pic>
      <p:sp>
        <p:nvSpPr>
          <p:cNvPr id="23" name="intro-layer2-text"/>
          <p:cNvSpPr txBox="1"/>
          <p:nvPr/>
        </p:nvSpPr>
        <p:spPr>
          <a:xfrm>
            <a:off x="4206240" y="5120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Truyền thông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MQTT broker.emqx.io</a:t>
            </a:r>
            <a:endParaRPr lang="en-US" sz="1400" dirty="0"/>
          </a:p>
        </p:txBody>
      </p:sp>
      <p:sp>
        <p:nvSpPr>
          <p:cNvPr id="24" name="intro-layer-arrow2"/>
          <p:cNvSpPr/>
          <p:nvPr/>
        </p:nvSpPr>
        <p:spPr>
          <a:xfrm>
            <a:off x="5925312" y="5321808"/>
            <a:ext cx="274320" cy="237744"/>
          </a:xfrm>
          <a:prstGeom prst="left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intro-layer3"/>
          <p:cNvSpPr/>
          <p:nvPr/>
        </p:nvSpPr>
        <p:spPr>
          <a:xfrm>
            <a:off x="6217920" y="4983480"/>
            <a:ext cx="2514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intro-layer3-circle"/>
          <p:cNvSpPr/>
          <p:nvPr/>
        </p:nvSpPr>
        <p:spPr>
          <a:xfrm>
            <a:off x="6355080" y="51663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7" name="intro-layer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781" y="5287061"/>
            <a:ext cx="307238" cy="307238"/>
          </a:xfrm>
          <a:prstGeom prst="rect">
            <a:avLst/>
          </a:prstGeom>
        </p:spPr>
      </p:pic>
      <p:sp>
        <p:nvSpPr>
          <p:cNvPr id="28" name="intro-layer3-text"/>
          <p:cNvSpPr txBox="1"/>
          <p:nvPr/>
        </p:nvSpPr>
        <p:spPr>
          <a:xfrm>
            <a:off x="7040880" y="5120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Xử lý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Node-RED: luật tự động, nhật ký</a:t>
            </a:r>
            <a:endParaRPr lang="en-US" sz="1400" dirty="0"/>
          </a:p>
        </p:txBody>
      </p:sp>
      <p:sp>
        <p:nvSpPr>
          <p:cNvPr id="29" name="intro-layer-arrow3"/>
          <p:cNvSpPr/>
          <p:nvPr/>
        </p:nvSpPr>
        <p:spPr>
          <a:xfrm>
            <a:off x="8759952" y="5321808"/>
            <a:ext cx="274320" cy="237744"/>
          </a:xfrm>
          <a:prstGeom prst="left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intro-layer4"/>
          <p:cNvSpPr/>
          <p:nvPr/>
        </p:nvSpPr>
        <p:spPr>
          <a:xfrm>
            <a:off x="9052560" y="4983480"/>
            <a:ext cx="2514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intro-layer4-circle"/>
          <p:cNvSpPr/>
          <p:nvPr/>
        </p:nvSpPr>
        <p:spPr>
          <a:xfrm>
            <a:off x="9189720" y="516636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2" name="intro-layer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0421" y="5287061"/>
            <a:ext cx="307238" cy="307238"/>
          </a:xfrm>
          <a:prstGeom prst="rect">
            <a:avLst/>
          </a:prstGeom>
        </p:spPr>
      </p:pic>
      <p:sp>
        <p:nvSpPr>
          <p:cNvPr id="33" name="intro-layer4-text"/>
          <p:cNvSpPr txBox="1"/>
          <p:nvPr/>
        </p:nvSpPr>
        <p:spPr>
          <a:xfrm>
            <a:off x="9875520" y="51206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Ứng dụng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Dashboard + Telegram</a:t>
            </a:r>
            <a:endParaRPr lang="en-US" sz="1400" dirty="0"/>
          </a:p>
        </p:txBody>
      </p:sp>
      <p:sp>
        <p:nvSpPr>
          <p:cNvPr id="34" name="intro-layers-note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Mũi tên hai chiều: số đo đi lên (uplink), lệnh điều khiển đi xuống và xác nhận quay về (downlink)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1: Thiết bị ESP32 tại vườn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Bộ não nhỏ đặt ngay tại vườn: tự đo môi trường và tự bật/tắt thiết bị, không cần chờ server</a:t>
            </a:r>
            <a:endParaRPr lang="en-US" sz="1600" dirty="0"/>
          </a:p>
        </p:txBody>
      </p:sp>
      <p:sp>
        <p:nvSpPr>
          <p:cNvPr id="4" name="p1-hw-card"/>
          <p:cNvSpPr/>
          <p:nvPr/>
        </p:nvSpPr>
        <p:spPr>
          <a:xfrm>
            <a:off x="548640" y="1600200"/>
            <a:ext cx="5120640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1-hw-title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Cảm biến và thiết bị điều khiển</a:t>
            </a:r>
            <a:endParaRPr lang="en-US" sz="2000" dirty="0"/>
          </a:p>
        </p:txBody>
      </p:sp>
      <p:sp>
        <p:nvSpPr>
          <p:cNvPr id="6" name="p1-sensor-label"/>
          <p:cNvSpPr txBox="1"/>
          <p:nvPr/>
        </p:nvSpPr>
        <p:spPr>
          <a:xfrm>
            <a:off x="822960" y="2240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CẢM BIẾN</a:t>
            </a:r>
            <a:endParaRPr lang="en-US" sz="1100" dirty="0"/>
          </a:p>
        </p:txBody>
      </p:sp>
      <p:sp>
        <p:nvSpPr>
          <p:cNvPr id="7" name="p1-actuator-label"/>
          <p:cNvSpPr txBox="1"/>
          <p:nvPr/>
        </p:nvSpPr>
        <p:spPr>
          <a:xfrm>
            <a:off x="822960" y="4206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THIẾT BỊ ĐƯỢC BẬT/TẮT (3 RELAY)</a:t>
            </a:r>
            <a:endParaRPr lang="en-US" sz="1100" dirty="0"/>
          </a:p>
        </p:txBody>
      </p:sp>
      <p:sp>
        <p:nvSpPr>
          <p:cNvPr id="8" name="p1-hw0-circle"/>
          <p:cNvSpPr/>
          <p:nvPr/>
        </p:nvSpPr>
        <p:spPr>
          <a:xfrm>
            <a:off x="82296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1-hw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6" y="2650846"/>
            <a:ext cx="230429" cy="230429"/>
          </a:xfrm>
          <a:prstGeom prst="rect">
            <a:avLst/>
          </a:prstGeom>
        </p:spPr>
      </p:pic>
      <p:sp>
        <p:nvSpPr>
          <p:cNvPr id="10" name="p1-hw0-text"/>
          <p:cNvSpPr txBox="1"/>
          <p:nvPr/>
        </p:nvSpPr>
        <p:spPr>
          <a:xfrm>
            <a:off x="1371600" y="25237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DHT22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GPIO15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Nhiệt độ và độ ẩm không khí</a:t>
            </a:r>
            <a:endParaRPr lang="en-US" sz="1400" dirty="0"/>
          </a:p>
        </p:txBody>
      </p:sp>
      <p:sp>
        <p:nvSpPr>
          <p:cNvPr id="11" name="p1-hw1-circle"/>
          <p:cNvSpPr/>
          <p:nvPr/>
        </p:nvSpPr>
        <p:spPr>
          <a:xfrm>
            <a:off x="822960" y="31089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p1-hw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86" y="3199486"/>
            <a:ext cx="230429" cy="230429"/>
          </a:xfrm>
          <a:prstGeom prst="rect">
            <a:avLst/>
          </a:prstGeom>
        </p:spPr>
      </p:pic>
      <p:sp>
        <p:nvSpPr>
          <p:cNvPr id="13" name="p1-hw1-text"/>
          <p:cNvSpPr txBox="1"/>
          <p:nvPr/>
        </p:nvSpPr>
        <p:spPr>
          <a:xfrm>
            <a:off x="1371600" y="307238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Quang trở LDR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GPIO34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Biết trời đang sáng hay tối</a:t>
            </a:r>
            <a:endParaRPr lang="en-US" sz="1400" dirty="0"/>
          </a:p>
        </p:txBody>
      </p:sp>
      <p:sp>
        <p:nvSpPr>
          <p:cNvPr id="14" name="p1-hw2-circle"/>
          <p:cNvSpPr/>
          <p:nvPr/>
        </p:nvSpPr>
        <p:spPr>
          <a:xfrm>
            <a:off x="822960" y="3657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1-hw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6" y="3748126"/>
            <a:ext cx="230429" cy="230429"/>
          </a:xfrm>
          <a:prstGeom prst="rect">
            <a:avLst/>
          </a:prstGeom>
        </p:spPr>
      </p:pic>
      <p:sp>
        <p:nvSpPr>
          <p:cNvPr id="16" name="p1-hw2-text"/>
          <p:cNvSpPr txBox="1"/>
          <p:nvPr/>
        </p:nvSpPr>
        <p:spPr>
          <a:xfrm>
            <a:off x="1371600" y="36210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Cảm biến mực nước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GPIO35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Biết bình nước còn đủ hay sắp cạn</a:t>
            </a:r>
            <a:endParaRPr lang="en-US" sz="1400" dirty="0"/>
          </a:p>
        </p:txBody>
      </p:sp>
      <p:sp>
        <p:nvSpPr>
          <p:cNvPr id="17" name="p1-hw3-circle"/>
          <p:cNvSpPr/>
          <p:nvPr/>
        </p:nvSpPr>
        <p:spPr>
          <a:xfrm>
            <a:off x="822960" y="452628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p1-hw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6" y="4616806"/>
            <a:ext cx="230429" cy="230429"/>
          </a:xfrm>
          <a:prstGeom prst="rect">
            <a:avLst/>
          </a:prstGeom>
        </p:spPr>
      </p:pic>
      <p:sp>
        <p:nvSpPr>
          <p:cNvPr id="19" name="p1-hw3-text"/>
          <p:cNvSpPr txBox="1"/>
          <p:nvPr/>
        </p:nvSpPr>
        <p:spPr>
          <a:xfrm>
            <a:off x="1371600" y="4489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Relay bơm phun sương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GPIO25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Phun sương để tăng độ ẩm, làm mát</a:t>
            </a:r>
            <a:endParaRPr lang="en-US" sz="1400" dirty="0"/>
          </a:p>
        </p:txBody>
      </p:sp>
      <p:sp>
        <p:nvSpPr>
          <p:cNvPr id="20" name="p1-hw4-circle"/>
          <p:cNvSpPr/>
          <p:nvPr/>
        </p:nvSpPr>
        <p:spPr>
          <a:xfrm>
            <a:off x="822960" y="507492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p1-hw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86" y="5165446"/>
            <a:ext cx="230429" cy="230429"/>
          </a:xfrm>
          <a:prstGeom prst="rect">
            <a:avLst/>
          </a:prstGeom>
        </p:spPr>
      </p:pic>
      <p:sp>
        <p:nvSpPr>
          <p:cNvPr id="22" name="p1-hw4-text"/>
          <p:cNvSpPr txBox="1"/>
          <p:nvPr/>
        </p:nvSpPr>
        <p:spPr>
          <a:xfrm>
            <a:off x="1371600" y="50383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Relay quạt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GPIO26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Thông gió, làm khô nước đọng trên lá</a:t>
            </a:r>
            <a:endParaRPr lang="en-US" sz="1400" dirty="0"/>
          </a:p>
        </p:txBody>
      </p:sp>
      <p:sp>
        <p:nvSpPr>
          <p:cNvPr id="23" name="p1-hw5-circle"/>
          <p:cNvSpPr/>
          <p:nvPr/>
        </p:nvSpPr>
        <p:spPr>
          <a:xfrm>
            <a:off x="822960" y="562356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p1-hw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486" y="5714086"/>
            <a:ext cx="230429" cy="230429"/>
          </a:xfrm>
          <a:prstGeom prst="rect">
            <a:avLst/>
          </a:prstGeom>
        </p:spPr>
      </p:pic>
      <p:sp>
        <p:nvSpPr>
          <p:cNvPr id="25" name="p1-hw5-text"/>
          <p:cNvSpPr txBox="1"/>
          <p:nvPr/>
        </p:nvSpPr>
        <p:spPr>
          <a:xfrm>
            <a:off x="1371600" y="558698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Relay đèn 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GPIO27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Đèn LED bù sáng khi trời tối</a:t>
            </a:r>
            <a:endParaRPr lang="en-US" sz="1400" dirty="0"/>
          </a:p>
        </p:txBody>
      </p:sp>
      <p:sp>
        <p:nvSpPr>
          <p:cNvPr id="26" name="p1-fw-title"/>
          <p:cNvSpPr txBox="1"/>
          <p:nvPr/>
        </p:nvSpPr>
        <p:spPr>
          <a:xfrm>
            <a:off x="6035040" y="16459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Chương trình trên ESP32 làm 2 việc chính</a:t>
            </a:r>
            <a:endParaRPr lang="en-US" sz="2000" dirty="0"/>
          </a:p>
        </p:txBody>
      </p:sp>
      <p:sp>
        <p:nvSpPr>
          <p:cNvPr id="27" name="p1-collect-card"/>
          <p:cNvSpPr/>
          <p:nvPr/>
        </p:nvSpPr>
        <p:spPr>
          <a:xfrm>
            <a:off x="6035040" y="2148840"/>
            <a:ext cx="26974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1-collect-circle"/>
          <p:cNvSpPr/>
          <p:nvPr/>
        </p:nvSpPr>
        <p:spPr>
          <a:xfrm>
            <a:off x="6263640" y="23317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p1-collect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2432304"/>
            <a:ext cx="256032" cy="256032"/>
          </a:xfrm>
          <a:prstGeom prst="rect">
            <a:avLst/>
          </a:prstGeom>
        </p:spPr>
      </p:pic>
      <p:sp>
        <p:nvSpPr>
          <p:cNvPr id="30" name="p1-collect-title"/>
          <p:cNvSpPr txBox="1"/>
          <p:nvPr/>
        </p:nvSpPr>
        <p:spPr>
          <a:xfrm>
            <a:off x="6812280" y="2395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1. Đọc cảm biến</a:t>
            </a:r>
            <a:endParaRPr lang="en-US" sz="1600" dirty="0"/>
          </a:p>
        </p:txBody>
      </p:sp>
      <p:sp>
        <p:nvSpPr>
          <p:cNvPr id="31" name="p1-collect-body"/>
          <p:cNvSpPr txBox="1"/>
          <p:nvPr/>
        </p:nvSpPr>
        <p:spPr>
          <a:xfrm>
            <a:off x="6263640" y="292608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Đo 2,5 giây một lần, không dừng chương trình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Lọc nhiễu: bỏ số nhảy vọt, lấy trung bình 5 lần đo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Lỗi 3 lần liền → báo hỏng (SENSOR_FAULT)</a:t>
            </a:r>
            <a:endParaRPr lang="en-US" sz="1300" dirty="0"/>
          </a:p>
        </p:txBody>
      </p:sp>
      <p:sp>
        <p:nvSpPr>
          <p:cNvPr id="32" name="p1-control-card"/>
          <p:cNvSpPr/>
          <p:nvPr/>
        </p:nvSpPr>
        <p:spPr>
          <a:xfrm>
            <a:off x="8915400" y="2148840"/>
            <a:ext cx="26974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p1-control-circle"/>
          <p:cNvSpPr/>
          <p:nvPr/>
        </p:nvSpPr>
        <p:spPr>
          <a:xfrm>
            <a:off x="9144000" y="2331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p1-control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4584" y="2432304"/>
            <a:ext cx="256032" cy="256032"/>
          </a:xfrm>
          <a:prstGeom prst="rect">
            <a:avLst/>
          </a:prstGeom>
        </p:spPr>
      </p:pic>
      <p:sp>
        <p:nvSpPr>
          <p:cNvPr id="35" name="p1-control-title"/>
          <p:cNvSpPr txBox="1"/>
          <p:nvPr/>
        </p:nvSpPr>
        <p:spPr>
          <a:xfrm>
            <a:off x="9692640" y="2395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2. Điều khiển an toàn</a:t>
            </a:r>
            <a:endParaRPr lang="en-US" sz="1600" dirty="0"/>
          </a:p>
        </p:txBody>
      </p:sp>
      <p:sp>
        <p:nvSpPr>
          <p:cNvPr id="36" name="p1-control-body"/>
          <p:cNvSpPr txBox="1"/>
          <p:nvPr/>
        </p:nvSpPr>
        <p:spPr>
          <a:xfrm>
            <a:off x="9144000" y="292608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Bơm chạy theo các trạng thái bên dưới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Bình cạn: tắt bơm, không cho bật phun kể cả lệnh từ xa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Lệnh bấm tay có hạn, hết giờ tự về tự động</a:t>
            </a:r>
            <a:endParaRPr lang="en-US" sz="1300" dirty="0"/>
          </a:p>
        </p:txBody>
      </p:sp>
      <p:sp>
        <p:nvSpPr>
          <p:cNvPr id="37" name="p1-fsm-label"/>
          <p:cNvSpPr txBox="1"/>
          <p:nvPr/>
        </p:nvSpPr>
        <p:spPr>
          <a:xfrm>
            <a:off x="60350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Các trạng thái của bơm phun sương</a:t>
            </a:r>
            <a:endParaRPr lang="en-US" sz="1300" dirty="0"/>
          </a:p>
        </p:txBody>
      </p:sp>
      <p:sp>
        <p:nvSpPr>
          <p:cNvPr id="38" name="p1-fsm-IDLE"/>
          <p:cNvSpPr/>
          <p:nvPr/>
        </p:nvSpPr>
        <p:spPr>
          <a:xfrm>
            <a:off x="6035040" y="502920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9" name="p1-fsm-IDLE-text"/>
          <p:cNvSpPr txBox="1"/>
          <p:nvPr/>
        </p:nvSpPr>
        <p:spPr>
          <a:xfrm>
            <a:off x="6035040" y="5029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IDLE</a:t>
            </a:r>
            <a:endParaRPr lang="en-US" sz="1300" dirty="0"/>
          </a:p>
        </p:txBody>
      </p:sp>
      <p:sp>
        <p:nvSpPr>
          <p:cNvPr id="40" name="p1-fsm-IDLE-vi"/>
          <p:cNvSpPr txBox="1"/>
          <p:nvPr/>
        </p:nvSpPr>
        <p:spPr>
          <a:xfrm>
            <a:off x="6035040" y="5532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chờ</a:t>
            </a:r>
            <a:endParaRPr lang="en-US" sz="1200" dirty="0"/>
          </a:p>
        </p:txBody>
      </p:sp>
      <p:sp>
        <p:nvSpPr>
          <p:cNvPr id="41" name="p1-fsm-arrow0"/>
          <p:cNvSpPr/>
          <p:nvPr/>
        </p:nvSpPr>
        <p:spPr>
          <a:xfrm>
            <a:off x="7543800" y="5138928"/>
            <a:ext cx="365760" cy="237744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p1-fsm-RUNNING"/>
          <p:cNvSpPr/>
          <p:nvPr/>
        </p:nvSpPr>
        <p:spPr>
          <a:xfrm>
            <a:off x="7955280" y="502920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p1-fsm-RUNNING-text"/>
          <p:cNvSpPr txBox="1"/>
          <p:nvPr/>
        </p:nvSpPr>
        <p:spPr>
          <a:xfrm>
            <a:off x="7955280" y="5029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RUNNING</a:t>
            </a:r>
            <a:endParaRPr lang="en-US" sz="1300" dirty="0"/>
          </a:p>
        </p:txBody>
      </p:sp>
      <p:sp>
        <p:nvSpPr>
          <p:cNvPr id="44" name="p1-fsm-RUNNING-vi"/>
          <p:cNvSpPr txBox="1"/>
          <p:nvPr/>
        </p:nvSpPr>
        <p:spPr>
          <a:xfrm>
            <a:off x="7955280" y="5532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đang phun</a:t>
            </a:r>
            <a:endParaRPr lang="en-US" sz="1200" dirty="0"/>
          </a:p>
        </p:txBody>
      </p:sp>
      <p:sp>
        <p:nvSpPr>
          <p:cNvPr id="45" name="p1-fsm-arrow1"/>
          <p:cNvSpPr/>
          <p:nvPr/>
        </p:nvSpPr>
        <p:spPr>
          <a:xfrm>
            <a:off x="9464040" y="5138928"/>
            <a:ext cx="365760" cy="237744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6" name="p1-fsm-COOLDOWN"/>
          <p:cNvSpPr/>
          <p:nvPr/>
        </p:nvSpPr>
        <p:spPr>
          <a:xfrm>
            <a:off x="9875520" y="502920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7" name="p1-fsm-COOLDOWN-text"/>
          <p:cNvSpPr txBox="1"/>
          <p:nvPr/>
        </p:nvSpPr>
        <p:spPr>
          <a:xfrm>
            <a:off x="9875520" y="5029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COOLDOWN</a:t>
            </a:r>
            <a:endParaRPr lang="en-US" sz="1300" dirty="0"/>
          </a:p>
        </p:txBody>
      </p:sp>
      <p:sp>
        <p:nvSpPr>
          <p:cNvPr id="48" name="p1-fsm-COOLDOWN-vi"/>
          <p:cNvSpPr txBox="1"/>
          <p:nvPr/>
        </p:nvSpPr>
        <p:spPr>
          <a:xfrm>
            <a:off x="9875520" y="5532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nghỉ cho bơm</a:t>
            </a:r>
            <a:endParaRPr lang="en-US" sz="1200" dirty="0"/>
          </a:p>
        </p:txBody>
      </p:sp>
      <p:sp>
        <p:nvSpPr>
          <p:cNvPr id="49" name="p1-fsm-back"/>
          <p:cNvSpPr txBox="1"/>
          <p:nvPr/>
        </p:nvSpPr>
        <p:spPr>
          <a:xfrm>
            <a:off x="9921240" y="4709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nghỉ xong → quay về chờ</a:t>
            </a:r>
            <a:endParaRPr lang="en-US" sz="1100" dirty="0"/>
          </a:p>
        </p:txBody>
      </p:sp>
      <p:sp>
        <p:nvSpPr>
          <p:cNvPr id="50" name="p1-fsm-fault"/>
          <p:cNvSpPr/>
          <p:nvPr/>
        </p:nvSpPr>
        <p:spPr>
          <a:xfrm>
            <a:off x="6035040" y="5897880"/>
            <a:ext cx="5577840" cy="457200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12700">
            <a:solidFill>
              <a:srgbClr val="FBE3E0"/>
            </a:solidFill>
            <a:prstDash val="solid"/>
          </a:ln>
        </p:spPr>
      </p:sp>
      <p:sp>
        <p:nvSpPr>
          <p:cNvPr id="51" name="p1-fsm-fault-text"/>
          <p:cNvSpPr txBox="1"/>
          <p:nvPr/>
        </p:nvSpPr>
        <p:spPr>
          <a:xfrm>
            <a:off x="6217920" y="58978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Cạn nước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hoặc </a:t>
            </a:r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hỏng cảm biến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: bơm tắt ngay, dù đang ở trạng thái nào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2: Truyền tin qua MQTT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MQTT giống một bưu điện: ESP32 và server gửi tin qua broker broker.emqx.io, mỗi loại tin có một địa chỉ riêng (topic)</a:t>
            </a:r>
            <a:endParaRPr lang="en-US" sz="1600" dirty="0"/>
          </a:p>
        </p:txBody>
      </p:sp>
      <p:sp>
        <p:nvSpPr>
          <p:cNvPr id="4" name="p2-svc1"/>
          <p:cNvSpPr/>
          <p:nvPr/>
        </p:nvSpPr>
        <p:spPr>
          <a:xfrm>
            <a:off x="548640" y="164592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2-svc1-circle"/>
          <p:cNvSpPr/>
          <p:nvPr/>
        </p:nvSpPr>
        <p:spPr>
          <a:xfrm>
            <a:off x="777240" y="18470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2-svc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57730"/>
            <a:ext cx="281635" cy="281635"/>
          </a:xfrm>
          <a:prstGeom prst="rect">
            <a:avLst/>
          </a:prstGeom>
        </p:spPr>
      </p:pic>
      <p:sp>
        <p:nvSpPr>
          <p:cNvPr id="7" name="p2-svc1-head"/>
          <p:cNvSpPr txBox="1"/>
          <p:nvPr/>
        </p:nvSpPr>
        <p:spPr>
          <a:xfrm>
            <a:off x="1417320" y="181051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1) Báo thiết bị còn hoạt động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Server luôn biết ESP32 đang chạy hay đã mất kết nối</a:t>
            </a:r>
            <a:endParaRPr lang="en-US" sz="1400" dirty="0"/>
          </a:p>
        </p:txBody>
      </p:sp>
      <p:sp>
        <p:nvSpPr>
          <p:cNvPr id="8" name="p2-svc1-steps"/>
          <p:cNvSpPr txBox="1"/>
          <p:nvPr/>
        </p:nvSpPr>
        <p:spPr>
          <a:xfrm>
            <a:off x="82296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availability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báo "online" khi vừa kết nối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LWT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mất điện, mất mạng đột ngột: broker tự báo "offline" thay nó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Quá 15 giây không có dữ liệu mới: báo STALE (dữ liệu cũ)</a:t>
            </a:r>
            <a:endParaRPr lang="en-US" sz="1400" dirty="0"/>
          </a:p>
        </p:txBody>
      </p:sp>
      <p:sp>
        <p:nvSpPr>
          <p:cNvPr id="9" name="p2-svc2"/>
          <p:cNvSpPr/>
          <p:nvPr/>
        </p:nvSpPr>
        <p:spPr>
          <a:xfrm>
            <a:off x="6172200" y="164592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2-svc2-circle"/>
          <p:cNvSpPr/>
          <p:nvPr/>
        </p:nvSpPr>
        <p:spPr>
          <a:xfrm>
            <a:off x="6400800" y="184708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p2-svc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957730"/>
            <a:ext cx="281635" cy="281635"/>
          </a:xfrm>
          <a:prstGeom prst="rect">
            <a:avLst/>
          </a:prstGeom>
        </p:spPr>
      </p:pic>
      <p:sp>
        <p:nvSpPr>
          <p:cNvPr id="12" name="p2-svc2-head"/>
          <p:cNvSpPr txBox="1"/>
          <p:nvPr/>
        </p:nvSpPr>
        <p:spPr>
          <a:xfrm>
            <a:off x="7040880" y="181051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2) Gửi số đo cảm biến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Đưa số đo và tình trạng thiết bị lên server</a:t>
            </a:r>
            <a:endParaRPr lang="en-US" sz="1400" dirty="0"/>
          </a:p>
        </p:txBody>
      </p:sp>
      <p:sp>
        <p:nvSpPr>
          <p:cNvPr id="13" name="p2-svc2-steps"/>
          <p:cNvSpPr txBox="1"/>
          <p:nvPr/>
        </p:nvSpPr>
        <p:spPr>
          <a:xfrm>
            <a:off x="644652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Cứ 2,5 giây gửi nhiệt độ, độ ẩm, ánh sáng, mực nước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Bơm, quạt, đèn đang bật hay tắt; chế độ tự động hay bấm tay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Nhận tin và cập nhật lên dashboard</a:t>
            </a:r>
            <a:endParaRPr lang="en-US" sz="1400" dirty="0"/>
          </a:p>
        </p:txBody>
      </p:sp>
      <p:sp>
        <p:nvSpPr>
          <p:cNvPr id="14" name="p2-svc3"/>
          <p:cNvSpPr/>
          <p:nvPr/>
        </p:nvSpPr>
        <p:spPr>
          <a:xfrm>
            <a:off x="548640" y="406908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2-svc3-circle"/>
          <p:cNvSpPr/>
          <p:nvPr/>
        </p:nvSpPr>
        <p:spPr>
          <a:xfrm>
            <a:off x="777240" y="427024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p2-svc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4380890"/>
            <a:ext cx="281635" cy="281635"/>
          </a:xfrm>
          <a:prstGeom prst="rect">
            <a:avLst/>
          </a:prstGeom>
        </p:spPr>
      </p:pic>
      <p:sp>
        <p:nvSpPr>
          <p:cNvPr id="17" name="p2-svc3-head"/>
          <p:cNvSpPr txBox="1"/>
          <p:nvPr/>
        </p:nvSpPr>
        <p:spPr>
          <a:xfrm>
            <a:off x="1417320" y="42336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3) Điều khiển có xác nhận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Gửi lệnh bật/tắt xuống và chờ ESP32 trả lời đã làm chưa (ACK)</a:t>
            </a:r>
            <a:endParaRPr lang="en-US" sz="1400" dirty="0"/>
          </a:p>
        </p:txBody>
      </p:sp>
      <p:sp>
        <p:nvSpPr>
          <p:cNvPr id="18" name="p2-svc3-steps"/>
          <p:cNvSpPr txBox="1"/>
          <p:nvPr/>
        </p:nvSpPr>
        <p:spPr>
          <a:xfrm>
            <a:off x="822960" y="50292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cmd/…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Lệnh gồm: mã lệnh, chế độ, bật hay tắt, thời hạn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trả lời: đã làm (APPLIED) hoặc từ chối kèm lý do, ví dụ đang cạn nước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Quá 6 giây không có trả lời: báo NO_ACK</a:t>
            </a:r>
            <a:endParaRPr lang="en-US" sz="1400" dirty="0"/>
          </a:p>
        </p:txBody>
      </p:sp>
      <p:sp>
        <p:nvSpPr>
          <p:cNvPr id="19" name="p2-svc4"/>
          <p:cNvSpPr/>
          <p:nvPr/>
        </p:nvSpPr>
        <p:spPr>
          <a:xfrm>
            <a:off x="6172200" y="4069080"/>
            <a:ext cx="54406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2-svc4-circle"/>
          <p:cNvSpPr/>
          <p:nvPr/>
        </p:nvSpPr>
        <p:spPr>
          <a:xfrm>
            <a:off x="6400800" y="42702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p2-svc4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442" y="4380890"/>
            <a:ext cx="281635" cy="281635"/>
          </a:xfrm>
          <a:prstGeom prst="rect">
            <a:avLst/>
          </a:prstGeom>
        </p:spPr>
      </p:pic>
      <p:sp>
        <p:nvSpPr>
          <p:cNvPr id="22" name="p2-svc4-head"/>
          <p:cNvSpPr txBox="1"/>
          <p:nvPr/>
        </p:nvSpPr>
        <p:spPr>
          <a:xfrm>
            <a:off x="7040880" y="42336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4) Đổi ngưỡng từ xa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Chỉnh mức độ ẩm, nhiệt độ, ánh sáng, nước mà không phải nạp lại chương trình</a:t>
            </a:r>
            <a:endParaRPr lang="en-US" sz="1400" dirty="0"/>
          </a:p>
        </p:txBody>
      </p:sp>
      <p:sp>
        <p:nvSpPr>
          <p:cNvPr id="23" name="p2-svc4-steps"/>
          <p:cNvSpPr txBox="1"/>
          <p:nvPr/>
        </p:nvSpPr>
        <p:spPr>
          <a:xfrm>
            <a:off x="6446520" y="50292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Server gửi ngưỡng mới, ESP32 trả lời đã áp dụng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giới hạn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ESP32 từ chối ngưỡng nguy hiểm, ví dụ mức báo cạn nước không được dưới 1200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3: Ứng dụng web – Theo dõi và lưu dữ liệu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Node-RED là phần mềm trung tâm trên server: nhận dữ liệu, chạy luật tự động và tạo trang dashboard</a:t>
            </a:r>
            <a:endParaRPr lang="en-US" sz="1600" dirty="0"/>
          </a:p>
        </p:txBody>
      </p:sp>
      <p:sp>
        <p:nvSpPr>
          <p:cNvPr id="4" name="p3a-rep-circle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3a-rep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1756562"/>
            <a:ext cx="281635" cy="281635"/>
          </a:xfrm>
          <a:prstGeom prst="rect">
            <a:avLst/>
          </a:prstGeom>
        </p:spPr>
      </p:pic>
      <p:sp>
        <p:nvSpPr>
          <p:cNvPr id="6" name="p3a-rep-title"/>
          <p:cNvSpPr txBox="1"/>
          <p:nvPr/>
        </p:nvSpPr>
        <p:spPr>
          <a:xfrm>
            <a:off x="1188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Hiển thị dữ liệu</a:t>
            </a:r>
            <a:endParaRPr lang="en-US" sz="2000" dirty="0"/>
          </a:p>
        </p:txBody>
      </p:sp>
      <p:sp>
        <p:nvSpPr>
          <p:cNvPr id="7" name="p3a-rep-body"/>
          <p:cNvSpPr txBox="1"/>
          <p:nvPr/>
        </p:nvSpPr>
        <p:spPr>
          <a:xfrm>
            <a:off x="548640" y="233172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Mở được trên máy tính và điện thoại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Số đo trực tiếp: nhiệt độ (°C), độ ẩm (%), ánh sáng, mực nước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 biểu đồ cho thấy diễn biến trong 1 giờ gần nhất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Cảm biến hỏng thì hiện chữ "DHT fault", không hiện số sai</a:t>
            </a:r>
            <a:endParaRPr lang="en-US" sz="1500" dirty="0"/>
          </a:p>
        </p:txBody>
      </p:sp>
      <p:sp>
        <p:nvSpPr>
          <p:cNvPr id="8" name="p3a-conn-label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Trạng thái kết nối</a:t>
            </a:r>
            <a:endParaRPr lang="en-US" sz="1300" dirty="0"/>
          </a:p>
        </p:txBody>
      </p:sp>
      <p:sp>
        <p:nvSpPr>
          <p:cNvPr id="9" name="p3a-conn-ONLINE"/>
          <p:cNvSpPr/>
          <p:nvPr/>
        </p:nvSpPr>
        <p:spPr>
          <a:xfrm>
            <a:off x="5486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p3a-conn-ONLINE-text"/>
          <p:cNvSpPr txBox="1"/>
          <p:nvPr/>
        </p:nvSpPr>
        <p:spPr>
          <a:xfrm>
            <a:off x="5486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ONLINE</a:t>
            </a:r>
            <a:endParaRPr lang="en-US" sz="1400" dirty="0"/>
          </a:p>
        </p:txBody>
      </p:sp>
      <p:sp>
        <p:nvSpPr>
          <p:cNvPr id="11" name="p3a-conn-ONLINE-desc"/>
          <p:cNvSpPr txBox="1"/>
          <p:nvPr/>
        </p:nvSpPr>
        <p:spPr>
          <a:xfrm>
            <a:off x="5486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đang nhận dữ liệu</a:t>
            </a:r>
            <a:endParaRPr lang="en-US" sz="1100" dirty="0"/>
          </a:p>
        </p:txBody>
      </p:sp>
      <p:sp>
        <p:nvSpPr>
          <p:cNvPr id="12" name="p3a-conn-STALE"/>
          <p:cNvSpPr/>
          <p:nvPr/>
        </p:nvSpPr>
        <p:spPr>
          <a:xfrm>
            <a:off x="23774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p3a-conn-STALE-text"/>
          <p:cNvSpPr txBox="1"/>
          <p:nvPr/>
        </p:nvSpPr>
        <p:spPr>
          <a:xfrm>
            <a:off x="23774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STALE</a:t>
            </a:r>
            <a:endParaRPr lang="en-US" sz="1400" dirty="0"/>
          </a:p>
        </p:txBody>
      </p:sp>
      <p:sp>
        <p:nvSpPr>
          <p:cNvPr id="14" name="p3a-conn-STALE-desc"/>
          <p:cNvSpPr txBox="1"/>
          <p:nvPr/>
        </p:nvSpPr>
        <p:spPr>
          <a:xfrm>
            <a:off x="23774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15 s chưa có số mới</a:t>
            </a:r>
            <a:endParaRPr lang="en-US" sz="1100" dirty="0"/>
          </a:p>
        </p:txBody>
      </p:sp>
      <p:sp>
        <p:nvSpPr>
          <p:cNvPr id="15" name="p3a-conn-OFFLINE"/>
          <p:cNvSpPr/>
          <p:nvPr/>
        </p:nvSpPr>
        <p:spPr>
          <a:xfrm>
            <a:off x="4206240" y="4526280"/>
            <a:ext cx="164592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p3a-conn-OFFLINE-text"/>
          <p:cNvSpPr txBox="1"/>
          <p:nvPr/>
        </p:nvSpPr>
        <p:spPr>
          <a:xfrm>
            <a:off x="4206240" y="4526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OFFLINE</a:t>
            </a:r>
            <a:endParaRPr lang="en-US" sz="1400" dirty="0"/>
          </a:p>
        </p:txBody>
      </p:sp>
      <p:sp>
        <p:nvSpPr>
          <p:cNvPr id="17" name="p3a-conn-OFFLINE-desc"/>
          <p:cNvSpPr txBox="1"/>
          <p:nvPr/>
        </p:nvSpPr>
        <p:spPr>
          <a:xfrm>
            <a:off x="4206240" y="505663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thiết bị mất kết nối</a:t>
            </a:r>
            <a:endParaRPr lang="en-US" sz="1100" dirty="0"/>
          </a:p>
        </p:txBody>
      </p:sp>
      <p:sp>
        <p:nvSpPr>
          <p:cNvPr id="18" name="p3a-mgmt-card"/>
          <p:cNvSpPr/>
          <p:nvPr/>
        </p:nvSpPr>
        <p:spPr>
          <a:xfrm>
            <a:off x="6400800" y="1645920"/>
            <a:ext cx="5212080" cy="393192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3a-mgmt-circle"/>
          <p:cNvSpPr/>
          <p:nvPr/>
        </p:nvSpPr>
        <p:spPr>
          <a:xfrm>
            <a:off x="6675120" y="1874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p3a-mgm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762" y="1985162"/>
            <a:ext cx="281635" cy="281635"/>
          </a:xfrm>
          <a:prstGeom prst="rect">
            <a:avLst/>
          </a:prstGeom>
        </p:spPr>
      </p:pic>
      <p:sp>
        <p:nvSpPr>
          <p:cNvPr id="21" name="p3a-mgmt-title"/>
          <p:cNvSpPr txBox="1"/>
          <p:nvPr/>
        </p:nvSpPr>
        <p:spPr>
          <a:xfrm>
            <a:off x="7315200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Lưu nhật ký</a:t>
            </a:r>
            <a:endParaRPr lang="en-US" sz="2000" dirty="0"/>
          </a:p>
        </p:txBody>
      </p:sp>
      <p:sp>
        <p:nvSpPr>
          <p:cNvPr id="22" name="p3a-mgmt-lead"/>
          <p:cNvSpPr txBox="1"/>
          <p:nvPr/>
        </p:nvSpPr>
        <p:spPr>
          <a:xfrm>
            <a:off x="6675120" y="25603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Không cần cơ sở dữ liệu: mọi sự kiện được ghi nối tiếp vào một file nhật ký</a:t>
            </a:r>
            <a:endParaRPr lang="en-US" sz="1400" dirty="0"/>
          </a:p>
        </p:txBody>
      </p:sp>
      <p:sp>
        <p:nvSpPr>
          <p:cNvPr id="23" name="p3a-file"/>
          <p:cNvSpPr/>
          <p:nvPr/>
        </p:nvSpPr>
        <p:spPr>
          <a:xfrm>
            <a:off x="6675120" y="3291840"/>
            <a:ext cx="46634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p3a-file-text"/>
          <p:cNvSpPr txBox="1"/>
          <p:nvPr/>
        </p:nvSpPr>
        <p:spPr>
          <a:xfrm>
            <a:off x="6812280" y="3291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orchid-history.jsonl</a:t>
            </a:r>
            <a:endParaRPr lang="en-US" sz="1400" dirty="0"/>
          </a:p>
        </p:txBody>
      </p:sp>
      <p:sp>
        <p:nvSpPr>
          <p:cNvPr id="25" name="p3a-mgmt-body"/>
          <p:cNvSpPr txBox="1"/>
          <p:nvPr/>
        </p:nvSpPr>
        <p:spPr>
          <a:xfrm>
            <a:off x="6675120" y="393192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Mỗi dòng một sự kiện: lúc nào, ai bấm, lệnh gì, kết quả, mất bao lâu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Ghi cả sự cố: cảm biến hỏng, cạn nước, mất kết nối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Dùng làm bằng chứng khi nghiệm thu và khi tìm lỗi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3: Ứng dụng web – Điều khiển và tự động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Người dùng bấm điều khiển được, nhưng hệ thống tự khóa những thao tác có thể gây hại cho lan</a:t>
            </a:r>
            <a:endParaRPr lang="en-US" sz="1600" dirty="0"/>
          </a:p>
        </p:txBody>
      </p:sp>
      <p:sp>
        <p:nvSpPr>
          <p:cNvPr id="4" name="p3b-ctrl-circle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p3b-ctrl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1756562"/>
            <a:ext cx="281635" cy="281635"/>
          </a:xfrm>
          <a:prstGeom prst="rect">
            <a:avLst/>
          </a:prstGeom>
        </p:spPr>
      </p:pic>
      <p:sp>
        <p:nvSpPr>
          <p:cNvPr id="6" name="p3b-ctrl-title"/>
          <p:cNvSpPr txBox="1"/>
          <p:nvPr/>
        </p:nvSpPr>
        <p:spPr>
          <a:xfrm>
            <a:off x="118872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Điều khiển và phân quyền</a:t>
            </a:r>
            <a:endParaRPr lang="en-US" sz="2000" dirty="0"/>
          </a:p>
        </p:txBody>
      </p:sp>
      <p:sp>
        <p:nvSpPr>
          <p:cNvPr id="7" name="p3b-ctrl-body"/>
          <p:cNvSpPr txBox="1"/>
          <p:nvPr/>
        </p:nvSpPr>
        <p:spPr>
          <a:xfrm>
            <a:off x="548640" y="22860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AUTO: hệ thống tự làm theo luật. MANUAL: người dùng bấm tay, có hạn 1–60 phút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Đang AUTO hoặc thiết bị mất kết nối: khóa hết nút bấm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Cạn nước, bơm đang nghỉ hoặc cảm biến hỏng: khóa riêng nút bật phun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Bấm xong phải chờ ESP32 xác nhận mới bấm tiếp được</a:t>
            </a:r>
            <a:endParaRPr lang="en-US" sz="1500" dirty="0"/>
          </a:p>
        </p:txBody>
      </p:sp>
      <p:sp>
        <p:nvSpPr>
          <p:cNvPr id="8" name="p3b-roles-label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Phân quyền tài khoản</a:t>
            </a:r>
            <a:endParaRPr lang="en-US" sz="1300" dirty="0"/>
          </a:p>
        </p:txBody>
      </p:sp>
      <p:sp>
        <p:nvSpPr>
          <p:cNvPr id="9" name="p3b-role-admin"/>
          <p:cNvSpPr/>
          <p:nvPr/>
        </p:nvSpPr>
        <p:spPr>
          <a:xfrm>
            <a:off x="5486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3b-role-admin-text"/>
          <p:cNvSpPr txBox="1"/>
          <p:nvPr/>
        </p:nvSpPr>
        <p:spPr>
          <a:xfrm>
            <a:off x="6858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admin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toàn quyền, sửa cấu hình</a:t>
            </a:r>
            <a:endParaRPr lang="en-US" sz="1400" dirty="0"/>
          </a:p>
        </p:txBody>
      </p:sp>
      <p:sp>
        <p:nvSpPr>
          <p:cNvPr id="11" name="p3b-role-operator"/>
          <p:cNvSpPr/>
          <p:nvPr/>
        </p:nvSpPr>
        <p:spPr>
          <a:xfrm>
            <a:off x="23774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3b-role-operator-text"/>
          <p:cNvSpPr txBox="1"/>
          <p:nvPr/>
        </p:nvSpPr>
        <p:spPr>
          <a:xfrm>
            <a:off x="25146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operator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được bấm điều khiển</a:t>
            </a:r>
            <a:endParaRPr lang="en-US" sz="1400" dirty="0"/>
          </a:p>
        </p:txBody>
      </p:sp>
      <p:sp>
        <p:nvSpPr>
          <p:cNvPr id="13" name="p3b-role-viewer"/>
          <p:cNvSpPr/>
          <p:nvPr/>
        </p:nvSpPr>
        <p:spPr>
          <a:xfrm>
            <a:off x="4206240" y="4892040"/>
            <a:ext cx="16916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3b-role-viewer-text"/>
          <p:cNvSpPr txBox="1"/>
          <p:nvPr/>
        </p:nvSpPr>
        <p:spPr>
          <a:xfrm>
            <a:off x="4343400" y="4983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viewer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chỉ được xem</a:t>
            </a:r>
            <a:endParaRPr lang="en-US" sz="1400" dirty="0"/>
          </a:p>
        </p:txBody>
      </p:sp>
      <p:sp>
        <p:nvSpPr>
          <p:cNvPr id="15" name="p3b-rule-circle"/>
          <p:cNvSpPr/>
          <p:nvPr/>
        </p:nvSpPr>
        <p:spPr>
          <a:xfrm>
            <a:off x="6400800" y="1645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p3b-rul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756562"/>
            <a:ext cx="281635" cy="281635"/>
          </a:xfrm>
          <a:prstGeom prst="rect">
            <a:avLst/>
          </a:prstGeom>
        </p:spPr>
      </p:pic>
      <p:sp>
        <p:nvSpPr>
          <p:cNvPr id="17" name="p3b-rule-title"/>
          <p:cNvSpPr txBox="1"/>
          <p:nvPr/>
        </p:nvSpPr>
        <p:spPr>
          <a:xfrm>
            <a:off x="704088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Luật tự động</a:t>
            </a:r>
            <a:endParaRPr lang="en-US" sz="2000" dirty="0"/>
          </a:p>
        </p:txBody>
      </p:sp>
      <p:sp>
        <p:nvSpPr>
          <p:cNvPr id="18" name="p3b-rule1"/>
          <p:cNvSpPr/>
          <p:nvPr/>
        </p:nvSpPr>
        <p:spPr>
          <a:xfrm>
            <a:off x="6400800" y="233172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3b-rule1-circle"/>
          <p:cNvSpPr/>
          <p:nvPr/>
        </p:nvSpPr>
        <p:spPr>
          <a:xfrm>
            <a:off x="658368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p3b-rule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381" y="2726741"/>
            <a:ext cx="307238" cy="307238"/>
          </a:xfrm>
          <a:prstGeom prst="rect">
            <a:avLst/>
          </a:prstGeom>
        </p:spPr>
      </p:pic>
      <p:sp>
        <p:nvSpPr>
          <p:cNvPr id="21" name="p3b-rule1-text"/>
          <p:cNvSpPr txBox="1"/>
          <p:nvPr/>
        </p:nvSpPr>
        <p:spPr>
          <a:xfrm>
            <a:off x="7315200" y="245059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Luật 1 – Đèn bù sáng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Chỉ bật từ 06:00 đến 21:00 khi trời tối, tắt khi đủ sáng. Ban đêm không bật để lan nghỉ; tối đa 4 giờ/ngày</a:t>
            </a:r>
            <a:endParaRPr lang="en-US" sz="1400" dirty="0"/>
          </a:p>
        </p:txBody>
      </p:sp>
      <p:sp>
        <p:nvSpPr>
          <p:cNvPr id="22" name="p3b-rule2"/>
          <p:cNvSpPr/>
          <p:nvPr/>
        </p:nvSpPr>
        <p:spPr>
          <a:xfrm>
            <a:off x="6400800" y="365760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p3b-rule2-circle"/>
          <p:cNvSpPr/>
          <p:nvPr/>
        </p:nvSpPr>
        <p:spPr>
          <a:xfrm>
            <a:off x="6583680" y="3931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p3b-rule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1" y="4052621"/>
            <a:ext cx="307238" cy="307238"/>
          </a:xfrm>
          <a:prstGeom prst="rect">
            <a:avLst/>
          </a:prstGeom>
        </p:spPr>
      </p:pic>
      <p:sp>
        <p:nvSpPr>
          <p:cNvPr id="25" name="p3b-rule2-text"/>
          <p:cNvSpPr txBox="1"/>
          <p:nvPr/>
        </p:nvSpPr>
        <p:spPr>
          <a:xfrm>
            <a:off x="7315200" y="377647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Luật 2 – Quạt sau khi phun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Phun xong, quạt chạy 60 giây cho lá khô, tránh thối nõn và nấm</a:t>
            </a:r>
            <a:endParaRPr lang="en-US" sz="1400" dirty="0"/>
          </a:p>
        </p:txBody>
      </p:sp>
      <p:sp>
        <p:nvSpPr>
          <p:cNvPr id="26" name="p3b-rule3"/>
          <p:cNvSpPr/>
          <p:nvPr/>
        </p:nvSpPr>
        <p:spPr>
          <a:xfrm>
            <a:off x="6400800" y="4983480"/>
            <a:ext cx="52120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p3b-rule3-circle"/>
          <p:cNvSpPr/>
          <p:nvPr/>
        </p:nvSpPr>
        <p:spPr>
          <a:xfrm>
            <a:off x="6583680" y="5257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p3b-rule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4381" y="5378501"/>
            <a:ext cx="307238" cy="307238"/>
          </a:xfrm>
          <a:prstGeom prst="rect">
            <a:avLst/>
          </a:prstGeom>
        </p:spPr>
      </p:pic>
      <p:sp>
        <p:nvSpPr>
          <p:cNvPr id="29" name="p3b-rule3-text"/>
          <p:cNvSpPr txBox="1"/>
          <p:nvPr/>
        </p:nvSpPr>
        <p:spPr>
          <a:xfrm>
            <a:off x="7315200" y="5102352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Cảnh báo qua Telegram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Nhắn vào nhóm chat khi bình cạn nước hoặc thiết bị mất kết nối quá 5 phút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6"/>
                </a:solidFill>
              </a:rPr>
              <a:t>Dữ liệu đi lên và lệnh đi xuống đều chạy ổn định, kiểm chứng trên mô phỏng Wokwi với broker và dashboard thật</a:t>
            </a:r>
            <a:endParaRPr lang="en-US" sz="1800" dirty="0"/>
          </a:p>
        </p:txBody>
      </p:sp>
      <p:sp>
        <p:nvSpPr>
          <p:cNvPr id="4" name="close-stat1"/>
          <p:cNvSpPr txBox="1"/>
          <p:nvPr/>
        </p:nvSpPr>
        <p:spPr>
          <a:xfrm>
            <a:off x="73152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B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199/199</a:t>
            </a:r>
            <a:endParaRPr lang="en-US" sz="4000" dirty="0"/>
          </a:p>
        </p:txBody>
      </p:sp>
      <p:sp>
        <p:nvSpPr>
          <p:cNvPr id="5" name="close-stat1-label"/>
          <p:cNvSpPr txBox="1"/>
          <p:nvPr/>
        </p:nvSpPr>
        <p:spPr>
          <a:xfrm>
            <a:off x="7315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D6"/>
                </a:solidFill>
              </a:rPr>
              <a:t>lần đo gửi lên server khớp đúng số trên thiết bị (chạy liên tục 12 phút)</a:t>
            </a:r>
            <a:endParaRPr lang="en-US" sz="1400" dirty="0"/>
          </a:p>
        </p:txBody>
      </p:sp>
      <p:sp>
        <p:nvSpPr>
          <p:cNvPr id="6" name="close-stat2"/>
          <p:cNvSpPr txBox="1"/>
          <p:nvPr/>
        </p:nvSpPr>
        <p:spPr>
          <a:xfrm>
            <a:off x="347472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B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4000" dirty="0"/>
          </a:p>
        </p:txBody>
      </p:sp>
      <p:sp>
        <p:nvSpPr>
          <p:cNvPr id="7" name="close-stat2-label"/>
          <p:cNvSpPr txBox="1"/>
          <p:nvPr/>
        </p:nvSpPr>
        <p:spPr>
          <a:xfrm>
            <a:off x="34747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D6"/>
                </a:solidFill>
              </a:rPr>
              <a:t>tình huống điều khiển chạy đúng, kể cả lúc cạn nước và mất mạng</a:t>
            </a:r>
            <a:endParaRPr lang="en-US" sz="1400" dirty="0"/>
          </a:p>
        </p:txBody>
      </p:sp>
      <p:sp>
        <p:nvSpPr>
          <p:cNvPr id="8" name="close-stat3"/>
          <p:cNvSpPr txBox="1"/>
          <p:nvPr/>
        </p:nvSpPr>
        <p:spPr>
          <a:xfrm>
            <a:off x="621792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B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3/3</a:t>
            </a:r>
            <a:endParaRPr lang="en-US" sz="4000" dirty="0"/>
          </a:p>
        </p:txBody>
      </p:sp>
      <p:sp>
        <p:nvSpPr>
          <p:cNvPr id="9" name="close-stat3-label"/>
          <p:cNvSpPr txBox="1"/>
          <p:nvPr/>
        </p:nvSpPr>
        <p:spPr>
          <a:xfrm>
            <a:off x="62179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D6"/>
                </a:solidFill>
              </a:rPr>
              <a:t>lần chạy lại toàn bộ đều đạt, kết quả giống nhau</a:t>
            </a:r>
            <a:endParaRPr lang="en-US" sz="1400" dirty="0"/>
          </a:p>
        </p:txBody>
      </p:sp>
      <p:sp>
        <p:nvSpPr>
          <p:cNvPr id="10" name="close-stat4"/>
          <p:cNvSpPr txBox="1"/>
          <p:nvPr/>
        </p:nvSpPr>
        <p:spPr>
          <a:xfrm>
            <a:off x="8961120" y="2011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B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~0,6 s</a:t>
            </a:r>
            <a:endParaRPr lang="en-US" sz="4000" dirty="0"/>
          </a:p>
        </p:txBody>
      </p:sp>
      <p:sp>
        <p:nvSpPr>
          <p:cNvPr id="11" name="close-stat4-label"/>
          <p:cNvSpPr txBox="1"/>
          <p:nvPr/>
        </p:nvSpPr>
        <p:spPr>
          <a:xfrm>
            <a:off x="89611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D6"/>
                </a:solidFill>
              </a:rPr>
              <a:t>từ lúc bấm nút đến khi thấy thiết bị xác nhận</a:t>
            </a:r>
            <a:endParaRPr lang="en-US" sz="1400" dirty="0"/>
          </a:p>
        </p:txBody>
      </p:sp>
      <p:sp>
        <p:nvSpPr>
          <p:cNvPr id="12" name="close-next-title"/>
          <p:cNvSpPr txBox="1"/>
          <p:nvPr/>
        </p:nvSpPr>
        <p:spPr>
          <a:xfrm>
            <a:off x="731520" y="4069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2000" dirty="0"/>
          </a:p>
        </p:txBody>
      </p:sp>
      <p:sp>
        <p:nvSpPr>
          <p:cNvPr id="13" name="close-next1-circle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close-next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4784141"/>
            <a:ext cx="307238" cy="307238"/>
          </a:xfrm>
          <a:prstGeom prst="rect">
            <a:avLst/>
          </a:prstGeom>
        </p:spPr>
      </p:pic>
      <p:sp>
        <p:nvSpPr>
          <p:cNvPr id="15" name="close-next1-text"/>
          <p:cNvSpPr txBox="1"/>
          <p:nvPr/>
        </p:nvSpPr>
        <p:spPr>
          <a:xfrm>
            <a:off x="14630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Chạy trên board ESP32-S3 thật thay cho mô phỏng</a:t>
            </a:r>
            <a:endParaRPr lang="en-US" sz="1400" dirty="0"/>
          </a:p>
        </p:txBody>
      </p:sp>
      <p:sp>
        <p:nvSpPr>
          <p:cNvPr id="16" name="close-next2-circle"/>
          <p:cNvSpPr/>
          <p:nvPr/>
        </p:nvSpPr>
        <p:spPr>
          <a:xfrm>
            <a:off x="4389120" y="4663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close-next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821" y="4784141"/>
            <a:ext cx="307238" cy="307238"/>
          </a:xfrm>
          <a:prstGeom prst="rect">
            <a:avLst/>
          </a:prstGeom>
        </p:spPr>
      </p:pic>
      <p:sp>
        <p:nvSpPr>
          <p:cNvPr id="18" name="close-next2-text"/>
          <p:cNvSpPr txBox="1"/>
          <p:nvPr/>
        </p:nvSpPr>
        <p:spPr>
          <a:xfrm>
            <a:off x="51206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Dùng broker riêng có mật khẩu và mã hóa</a:t>
            </a:r>
            <a:endParaRPr lang="en-US" sz="1400" dirty="0"/>
          </a:p>
        </p:txBody>
      </p:sp>
      <p:sp>
        <p:nvSpPr>
          <p:cNvPr id="19" name="close-next3-circle"/>
          <p:cNvSpPr/>
          <p:nvPr/>
        </p:nvSpPr>
        <p:spPr>
          <a:xfrm>
            <a:off x="8046720" y="46634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close-next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421" y="4784141"/>
            <a:ext cx="307238" cy="307238"/>
          </a:xfrm>
          <a:prstGeom prst="rect">
            <a:avLst/>
          </a:prstGeom>
        </p:spPr>
      </p:pic>
      <p:sp>
        <p:nvSpPr>
          <p:cNvPr id="21" name="close-next3-text"/>
          <p:cNvSpPr txBox="1"/>
          <p:nvPr/>
        </p:nvSpPr>
        <p:spPr>
          <a:xfrm>
            <a:off x="87782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Lưu dữ liệu lâu dài để xem xu hướng theo mùa</a:t>
            </a:r>
            <a:endParaRPr lang="en-US" sz="1400" dirty="0"/>
          </a:p>
        </p:txBody>
      </p:sp>
      <p:sp>
        <p:nvSpPr>
          <p:cNvPr id="22" name="close-thanks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FE3D6"/>
                </a:solidFill>
              </a:rPr>
              <a:t>Cảm ơn thầy cô và các bạn đã lắng nghe!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D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chid Garden">
  <a:themeElements>
    <a:clrScheme name="Orchid Garden">
      <a:dk1>
        <a:srgbClr val="1C2B22"/>
      </a:dk1>
      <a:lt1>
        <a:srgbClr val="FFFFFF"/>
      </a:lt1>
      <a:dk2>
        <a:srgbClr val="17402C"/>
      </a:dk2>
      <a:lt2>
        <a:srgbClr val="EEF4EF"/>
      </a:lt2>
      <a:accent1>
        <a:srgbClr val="2E7D4F"/>
      </a:accent1>
      <a:accent2>
        <a:srgbClr val="B5367A"/>
      </a:accent2>
      <a:accent3>
        <a:srgbClr val="D98E04"/>
      </a:accent3>
      <a:accent4>
        <a:srgbClr val="C0392B"/>
      </a:accent4>
      <a:accent5>
        <a:srgbClr val="5B7F6B"/>
      </a:accent5>
      <a:accent6>
        <a:srgbClr val="8FBF9F"/>
      </a:accent6>
      <a:hlink>
        <a:srgbClr val="2E7D4F"/>
      </a:hlink>
      <a:folHlink>
        <a:srgbClr val="5B7F6B"/>
      </a:folHlink>
    </a:clrScheme>
    <a:fontScheme name="Orchid Gard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Kiến trúc hệ thống vườn lan IoT</dc:title>
  <dc:subject>PptxGenJS Presentation</dc:subject>
  <dc:creator>Nhóm Orchid</dc:creator>
  <cp:lastModifiedBy>Nhóm Orchid</cp:lastModifiedBy>
  <cp:revision>1</cp:revision>
  <dcterms:created xsi:type="dcterms:W3CDTF">2026-10-24T00:43:08Z</dcterms:created>
  <dcterms:modified xsi:type="dcterms:W3CDTF">2026-10-24T00:43:08Z</dcterms:modified>
</cp:coreProperties>
</file>