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2ebc0e7e-ae78-d958-d459-b037b1fdd22f}">
          <p14:sldIdLst>
            <p14:sldId id="256"/>
            <p14:sldId id="257"/>
          </p14:sldIdLst>
        </p14:section>
        <p14:section name="Part 1: Device" id="{e5beb859-e7e7-3875-74d0-eadaddc483ba}">
          <p14:sldIdLst>
            <p14:sldId id="258"/>
            <p14:sldId id="259"/>
          </p14:sldIdLst>
        </p14:section>
        <p14:section name="Part 2: MQTT" id="{3a2dc56b-8f21-cd53-1f77-f290baffff18}">
          <p14:sldIdLst>
            <p14:sldId id="260"/>
            <p14:sldId id="261"/>
          </p14:sldIdLst>
        </p14:section>
        <p14:section name="Part 3: Web Server App" id="{d794913b-a080-1b27-bea8-7060063037a5}">
          <p14:sldIdLst>
            <p14:sldId id="262"/>
            <p14:sldId id="263"/>
          </p14:sldIdLst>
        </p14:section>
        <p14:section name="Kết luận" id="{6ee9ea24-75e1-4a66-0da0-513be593e2ed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3 phần của hệ thống: thiết bị ESP32 tại vườn, tầng MQTT trung gian và ứng dụng Node-RED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Nêu bài toán chăm lan, giải pháp và 4 tầng kiến trúc. Ba phần tiếp theo đi lần lượt từ tầng thiết bị lên tầng ứng dụng.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cảm biến đưa dữ liệu vào ESP32, ESP32 quyết định rồi bật/tắt 3 relay. Số GPIO là chân nối trên mạch (diagram.json).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Việc 1 đọc và lọc số đo. Việc 2 quyết định bật tắt bơm theo các trạng thái: chờ, đang phun, nghỉ. Thời gian phun tối đa và thời gian nghỉ giúp bơm không chạy liên tục.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Mọi topic có chung tiền tố garden/orchid/orchid-01/. Gửi tin gọi là publish, đăng ký nhận tin gọi là subscribe. Tên topic và nội dung tin đã chốt từ tuần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dịch vụ trên MQTT. Topic và payload đã chốt từ tuần 8. Mỗi lệnh đều có request_id để ghép ACK; firmware luôn là lớp an toàn cuối cùng.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cách dashboard hiển thị dữ liệu và trạng thái kết nối. Bên phải: toàn bộ sự kiện ghi vào orchid-history.jsonl, dùng làm bằng chứng nghiệm thu.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chế độ AUTO/MANUAL, các khóa nút và 3 vai trò. Bên phải: 2 luật tự động chính và cảnh báo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Tóm tắt kết quả nghiệm thu tuần 8-9 (số liệu lấy từ test-results/week8-m4 và week9-rerun) và hướng phát triển.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74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8595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FE3D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4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i="1" dirty="0">
                <a:solidFill>
                  <a:srgbClr val="CFE3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Vườn lan thông minh IoT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6"/>
                </a:solidFill>
              </a:rPr>
              <a:t>Hệ thống tự động đo và chăm sóc vườn lan, theo dõi và điều khiển từ xa qua web</a:t>
            </a:r>
            <a:endParaRPr lang="en-US" sz="2000" dirty="0"/>
          </a:p>
        </p:txBody>
      </p:sp>
      <p:sp>
        <p:nvSpPr>
          <p:cNvPr id="4" name="cover-part1-circle"/>
          <p:cNvSpPr/>
          <p:nvPr/>
        </p:nvSpPr>
        <p:spPr>
          <a:xfrm>
            <a:off x="731520" y="32461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cover-par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3407054"/>
            <a:ext cx="409651" cy="409651"/>
          </a:xfrm>
          <a:prstGeom prst="rect">
            <a:avLst/>
          </a:prstGeom>
        </p:spPr>
      </p:pic>
      <p:sp>
        <p:nvSpPr>
          <p:cNvPr id="6" name="cover-part1-text"/>
          <p:cNvSpPr txBox="1"/>
          <p:nvPr/>
        </p:nvSpPr>
        <p:spPr>
          <a:xfrm>
            <a:off x="164592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1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Thiết bị ESP32</a:t>
            </a:r>
            <a:endParaRPr lang="en-US" sz="1400" dirty="0"/>
          </a:p>
        </p:txBody>
      </p:sp>
      <p:sp>
        <p:nvSpPr>
          <p:cNvPr id="7" name="cover-part2-circle"/>
          <p:cNvSpPr/>
          <p:nvPr/>
        </p:nvSpPr>
        <p:spPr>
          <a:xfrm>
            <a:off x="4297680" y="32461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over-part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614" y="3407054"/>
            <a:ext cx="409651" cy="409651"/>
          </a:xfrm>
          <a:prstGeom prst="rect">
            <a:avLst/>
          </a:prstGeom>
        </p:spPr>
      </p:pic>
      <p:sp>
        <p:nvSpPr>
          <p:cNvPr id="9" name="cover-part2-text"/>
          <p:cNvSpPr txBox="1"/>
          <p:nvPr/>
        </p:nvSpPr>
        <p:spPr>
          <a:xfrm>
            <a:off x="521208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2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Truyền tin MQTT</a:t>
            </a:r>
            <a:endParaRPr lang="en-US" sz="1400" dirty="0"/>
          </a:p>
        </p:txBody>
      </p:sp>
      <p:sp>
        <p:nvSpPr>
          <p:cNvPr id="10" name="cover-part3-circle"/>
          <p:cNvSpPr/>
          <p:nvPr/>
        </p:nvSpPr>
        <p:spPr>
          <a:xfrm>
            <a:off x="7863840" y="32461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cover-part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774" y="3407054"/>
            <a:ext cx="409651" cy="409651"/>
          </a:xfrm>
          <a:prstGeom prst="rect">
            <a:avLst/>
          </a:prstGeom>
        </p:spPr>
      </p:pic>
      <p:sp>
        <p:nvSpPr>
          <p:cNvPr id="12" name="cover-part3-text"/>
          <p:cNvSpPr txBox="1"/>
          <p:nvPr/>
        </p:nvSpPr>
        <p:spPr>
          <a:xfrm>
            <a:off x="877824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3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Ứng dụng web Node-RED</a:t>
            </a:r>
            <a:endParaRPr lang="en-US" sz="1400" dirty="0"/>
          </a:p>
        </p:txBody>
      </p:sp>
      <p:pic>
        <p:nvPicPr>
          <p:cNvPr id="13" name="cover-leaf" descr="preencoded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9509760" y="548640"/>
            <a:ext cx="2011680" cy="2011680"/>
          </a:xfrm>
          <a:prstGeom prst="rect">
            <a:avLst/>
          </a:prstGeom>
        </p:spPr>
      </p:pic>
      <p:sp>
        <p:nvSpPr>
          <p:cNvPr id="14" name="cover-team-label"/>
          <p:cNvSpPr txBox="1"/>
          <p:nvPr/>
        </p:nvSpPr>
        <p:spPr>
          <a:xfrm>
            <a:off x="73152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8D6"/>
                </a:solidFill>
              </a:rPr>
              <a:t>NHÓM THỰC HIỆN</a:t>
            </a:r>
            <a:endParaRPr lang="en-US" sz="1200" dirty="0"/>
          </a:p>
        </p:txBody>
      </p:sp>
      <p:sp>
        <p:nvSpPr>
          <p:cNvPr id="15" name="cover-member1"/>
          <p:cNvSpPr/>
          <p:nvPr/>
        </p:nvSpPr>
        <p:spPr>
          <a:xfrm>
            <a:off x="73152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16" name="cover-member1-text"/>
          <p:cNvSpPr txBox="1"/>
          <p:nvPr/>
        </p:nvSpPr>
        <p:spPr>
          <a:xfrm>
            <a:off x="91440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1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Firmware ESP32, lọc tín hiệu, gửi dữ liệu lên (uplink)</a:t>
            </a:r>
            <a:endParaRPr lang="en-US" sz="1400" dirty="0"/>
          </a:p>
        </p:txBody>
      </p:sp>
      <p:sp>
        <p:nvSpPr>
          <p:cNvPr id="17" name="cover-member2"/>
          <p:cNvSpPr/>
          <p:nvPr/>
        </p:nvSpPr>
        <p:spPr>
          <a:xfrm>
            <a:off x="429768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18" name="cover-member2-text"/>
          <p:cNvSpPr txBox="1"/>
          <p:nvPr/>
        </p:nvSpPr>
        <p:spPr>
          <a:xfrm>
            <a:off x="448056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2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Dashboard Node-RED, điều khiển xuống (downlink)</a:t>
            </a:r>
            <a:endParaRPr lang="en-US" sz="1400" dirty="0"/>
          </a:p>
        </p:txBody>
      </p:sp>
      <p:sp>
        <p:nvSpPr>
          <p:cNvPr id="19" name="cover-member3"/>
          <p:cNvSpPr/>
          <p:nvPr/>
        </p:nvSpPr>
        <p:spPr>
          <a:xfrm>
            <a:off x="786384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20" name="cover-member3-text"/>
          <p:cNvSpPr txBox="1"/>
          <p:nvPr/>
        </p:nvSpPr>
        <p:spPr>
          <a:xfrm>
            <a:off x="804672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3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Cảnh báo Telegram, ghép hệ thống, kiểm thử</a:t>
            </a:r>
            <a:endParaRPr lang="en-US" sz="1400" dirty="0"/>
          </a:p>
        </p:txBody>
      </p:sp>
      <p:sp>
        <p:nvSpPr>
          <p:cNvPr id="21" name="cover-supervisor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Giảng viên hướng dẫn: …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giải pháp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Tự động giữ vi khí hậu cho vườn lan, vẫn cho người chăm sóc giám sát và can thiệp từ xa</a:t>
            </a:r>
            <a:endParaRPr lang="en-US" sz="1600" dirty="0"/>
          </a:p>
        </p:txBody>
      </p:sp>
      <p:sp>
        <p:nvSpPr>
          <p:cNvPr id="4" name="intro-problem-card"/>
          <p:cNvSpPr/>
          <p:nvPr/>
        </p:nvSpPr>
        <p:spPr>
          <a:xfrm>
            <a:off x="548640" y="1645920"/>
            <a:ext cx="5440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ntro-problem-circle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ntro-problem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39442"/>
            <a:ext cx="281635" cy="281635"/>
          </a:xfrm>
          <a:prstGeom prst="rect">
            <a:avLst/>
          </a:prstGeom>
        </p:spPr>
      </p:pic>
      <p:sp>
        <p:nvSpPr>
          <p:cNvPr id="7" name="intro-problem-title"/>
          <p:cNvSpPr txBox="1"/>
          <p:nvPr/>
        </p:nvSpPr>
        <p:spPr>
          <a:xfrm>
            <a:off x="1417320" y="18928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Vấn đề</a:t>
            </a:r>
            <a:endParaRPr lang="en-US" sz="2000" dirty="0"/>
          </a:p>
        </p:txBody>
      </p:sp>
      <p:sp>
        <p:nvSpPr>
          <p:cNvPr id="8" name="intro-problem-body"/>
          <p:cNvSpPr txBox="1"/>
          <p:nvPr/>
        </p:nvSpPr>
        <p:spPr>
          <a:xfrm>
            <a:off x="777240" y="251460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Lan cần độ ẩm, nhiệt độ và ánh sáng ổn định; chăm tay dễ quên, dễ trễ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Phun quá nhiều hoặc để lá đọng nước lâu dễ gây thối nõn, nấm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Bơm chạy khi bình cạn nước có thể hỏng bơm</a:t>
            </a:r>
            <a:endParaRPr lang="en-US" sz="1500" dirty="0"/>
          </a:p>
        </p:txBody>
      </p:sp>
      <p:sp>
        <p:nvSpPr>
          <p:cNvPr id="9" name="intro-goal-card"/>
          <p:cNvSpPr/>
          <p:nvPr/>
        </p:nvSpPr>
        <p:spPr>
          <a:xfrm>
            <a:off x="6172200" y="1645920"/>
            <a:ext cx="5440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ntro-goal-circle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ntro-goal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39442"/>
            <a:ext cx="281635" cy="281635"/>
          </a:xfrm>
          <a:prstGeom prst="rect">
            <a:avLst/>
          </a:prstGeom>
        </p:spPr>
      </p:pic>
      <p:sp>
        <p:nvSpPr>
          <p:cNvPr id="12" name="intro-goal-title"/>
          <p:cNvSpPr txBox="1"/>
          <p:nvPr/>
        </p:nvSpPr>
        <p:spPr>
          <a:xfrm>
            <a:off x="7040880" y="18928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</a:t>
            </a:r>
            <a:endParaRPr lang="en-US" sz="2000" dirty="0"/>
          </a:p>
        </p:txBody>
      </p:sp>
      <p:sp>
        <p:nvSpPr>
          <p:cNvPr id="13" name="intro-goal-body"/>
          <p:cNvSpPr txBox="1"/>
          <p:nvPr/>
        </p:nvSpPr>
        <p:spPr>
          <a:xfrm>
            <a:off x="6400800" y="251460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ESP32 tự đo và điều khiển phun, quạt, đèn ngay tại vườn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Trang web theo dõi trực tiếp, bấm điều khiển và thấy thiết bị xác nhận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Các khóa an toàn chạy ngay trên ESP32: mất mạng vẫn tự chăm vườn an toàn</a:t>
            </a:r>
            <a:endParaRPr lang="en-US" sz="1500" dirty="0"/>
          </a:p>
        </p:txBody>
      </p:sp>
      <p:sp>
        <p:nvSpPr>
          <p:cNvPr id="14" name="intro-layers-label"/>
          <p:cNvSpPr txBox="1"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Kiến trúc 4 tầng</a:t>
            </a:r>
            <a:endParaRPr lang="en-US" sz="1300" dirty="0"/>
          </a:p>
        </p:txBody>
      </p:sp>
      <p:sp>
        <p:nvSpPr>
          <p:cNvPr id="15" name="intro-layer1"/>
          <p:cNvSpPr/>
          <p:nvPr/>
        </p:nvSpPr>
        <p:spPr>
          <a:xfrm>
            <a:off x="54864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ntro-layer1-circle"/>
          <p:cNvSpPr/>
          <p:nvPr/>
        </p:nvSpPr>
        <p:spPr>
          <a:xfrm>
            <a:off x="685800" y="5166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ntro-layer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5287061"/>
            <a:ext cx="307238" cy="307238"/>
          </a:xfrm>
          <a:prstGeom prst="rect">
            <a:avLst/>
          </a:prstGeom>
        </p:spPr>
      </p:pic>
      <p:sp>
        <p:nvSpPr>
          <p:cNvPr id="18" name="intro-layer1-text"/>
          <p:cNvSpPr txBox="1"/>
          <p:nvPr/>
        </p:nvSpPr>
        <p:spPr>
          <a:xfrm>
            <a:off x="137160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Thiết bị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ESP32 + cảm biến + relay</a:t>
            </a:r>
            <a:endParaRPr lang="en-US" sz="1400" dirty="0"/>
          </a:p>
        </p:txBody>
      </p:sp>
      <p:sp>
        <p:nvSpPr>
          <p:cNvPr id="19" name="intro-layer-arrow1"/>
          <p:cNvSpPr/>
          <p:nvPr/>
        </p:nvSpPr>
        <p:spPr>
          <a:xfrm>
            <a:off x="309067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intro-layer2"/>
          <p:cNvSpPr/>
          <p:nvPr/>
        </p:nvSpPr>
        <p:spPr>
          <a:xfrm>
            <a:off x="338328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intro-layer2-circle"/>
          <p:cNvSpPr/>
          <p:nvPr/>
        </p:nvSpPr>
        <p:spPr>
          <a:xfrm>
            <a:off x="3520440" y="5166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ntro-layer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141" y="5287061"/>
            <a:ext cx="307238" cy="307238"/>
          </a:xfrm>
          <a:prstGeom prst="rect">
            <a:avLst/>
          </a:prstGeom>
        </p:spPr>
      </p:pic>
      <p:sp>
        <p:nvSpPr>
          <p:cNvPr id="23" name="intro-layer2-text"/>
          <p:cNvSpPr txBox="1"/>
          <p:nvPr/>
        </p:nvSpPr>
        <p:spPr>
          <a:xfrm>
            <a:off x="420624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Truyền thông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MQTT broker.emqx.io</a:t>
            </a:r>
            <a:endParaRPr lang="en-US" sz="1400" dirty="0"/>
          </a:p>
        </p:txBody>
      </p:sp>
      <p:sp>
        <p:nvSpPr>
          <p:cNvPr id="24" name="intro-layer-arrow2"/>
          <p:cNvSpPr/>
          <p:nvPr/>
        </p:nvSpPr>
        <p:spPr>
          <a:xfrm>
            <a:off x="592531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intro-layer3"/>
          <p:cNvSpPr/>
          <p:nvPr/>
        </p:nvSpPr>
        <p:spPr>
          <a:xfrm>
            <a:off x="621792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intro-layer3-circle"/>
          <p:cNvSpPr/>
          <p:nvPr/>
        </p:nvSpPr>
        <p:spPr>
          <a:xfrm>
            <a:off x="6355080" y="51663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intro-layer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781" y="5287061"/>
            <a:ext cx="307238" cy="307238"/>
          </a:xfrm>
          <a:prstGeom prst="rect">
            <a:avLst/>
          </a:prstGeom>
        </p:spPr>
      </p:pic>
      <p:sp>
        <p:nvSpPr>
          <p:cNvPr id="28" name="intro-layer3-text"/>
          <p:cNvSpPr txBox="1"/>
          <p:nvPr/>
        </p:nvSpPr>
        <p:spPr>
          <a:xfrm>
            <a:off x="704088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Xử lý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Node-RED: luật tự động, nhật ký</a:t>
            </a:r>
            <a:endParaRPr lang="en-US" sz="1400" dirty="0"/>
          </a:p>
        </p:txBody>
      </p:sp>
      <p:sp>
        <p:nvSpPr>
          <p:cNvPr id="29" name="intro-layer-arrow3"/>
          <p:cNvSpPr/>
          <p:nvPr/>
        </p:nvSpPr>
        <p:spPr>
          <a:xfrm>
            <a:off x="875995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intro-layer4"/>
          <p:cNvSpPr/>
          <p:nvPr/>
        </p:nvSpPr>
        <p:spPr>
          <a:xfrm>
            <a:off x="905256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intro-layer4-circle"/>
          <p:cNvSpPr/>
          <p:nvPr/>
        </p:nvSpPr>
        <p:spPr>
          <a:xfrm>
            <a:off x="9189720" y="516636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2" name="intro-layer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0421" y="5287061"/>
            <a:ext cx="307238" cy="307238"/>
          </a:xfrm>
          <a:prstGeom prst="rect">
            <a:avLst/>
          </a:prstGeom>
        </p:spPr>
      </p:pic>
      <p:sp>
        <p:nvSpPr>
          <p:cNvPr id="33" name="intro-layer4-text"/>
          <p:cNvSpPr txBox="1"/>
          <p:nvPr/>
        </p:nvSpPr>
        <p:spPr>
          <a:xfrm>
            <a:off x="987552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Ứng dụng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+ Telegram</a:t>
            </a:r>
            <a:endParaRPr lang="en-US" sz="1400" dirty="0"/>
          </a:p>
        </p:txBody>
      </p:sp>
      <p:sp>
        <p:nvSpPr>
          <p:cNvPr id="34" name="intro-layers-note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Mũi tên hai chiều: số đo đi lên (uplink), lệnh điều khiển đi xuống và xác nhận quay về (downlink)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1: Thiết bị ESP32 tại vườn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Bộ não nhỏ đặt ngay tại vườn: tự đo môi trường và tự bật/tắt thiết bị, không cần chờ server</a:t>
            </a:r>
            <a:endParaRPr lang="en-US" sz="1600" dirty="0"/>
          </a:p>
        </p:txBody>
      </p:sp>
      <p:sp>
        <p:nvSpPr>
          <p:cNvPr id="4" name="p1a-sensor-card"/>
          <p:cNvSpPr/>
          <p:nvPr/>
        </p:nvSpPr>
        <p:spPr>
          <a:xfrm>
            <a:off x="548640" y="1645920"/>
            <a:ext cx="4480560" cy="46634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1a-sensor-title"/>
          <p:cNvSpPr txBox="1"/>
          <p:nvPr/>
        </p:nvSpPr>
        <p:spPr>
          <a:xfrm>
            <a:off x="82296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biến (đầu vào)</a:t>
            </a:r>
            <a:endParaRPr lang="en-US" sz="2000" dirty="0"/>
          </a:p>
        </p:txBody>
      </p:sp>
      <p:sp>
        <p:nvSpPr>
          <p:cNvPr id="6" name="p1a-sensor0-circle"/>
          <p:cNvSpPr/>
          <p:nvPr/>
        </p:nvSpPr>
        <p:spPr>
          <a:xfrm>
            <a:off x="822960" y="2514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p1a-sensor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665476"/>
            <a:ext cx="384048" cy="384048"/>
          </a:xfrm>
          <a:prstGeom prst="rect">
            <a:avLst/>
          </a:prstGeom>
        </p:spPr>
      </p:pic>
      <p:sp>
        <p:nvSpPr>
          <p:cNvPr id="8" name="p1a-sensor0-text"/>
          <p:cNvSpPr txBox="1"/>
          <p:nvPr/>
        </p:nvSpPr>
        <p:spPr>
          <a:xfrm>
            <a:off x="1691640" y="244144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DHT22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GPIO15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Đo nhiệt độ và độ ẩm không khí</a:t>
            </a:r>
            <a:endParaRPr lang="en-US" sz="1400" dirty="0"/>
          </a:p>
        </p:txBody>
      </p:sp>
      <p:sp>
        <p:nvSpPr>
          <p:cNvPr id="9" name="p1a-sensor1-circle"/>
          <p:cNvSpPr/>
          <p:nvPr/>
        </p:nvSpPr>
        <p:spPr>
          <a:xfrm>
            <a:off x="822960" y="37490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1a-sensor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" y="3899916"/>
            <a:ext cx="384048" cy="384048"/>
          </a:xfrm>
          <a:prstGeom prst="rect">
            <a:avLst/>
          </a:prstGeom>
        </p:spPr>
      </p:pic>
      <p:sp>
        <p:nvSpPr>
          <p:cNvPr id="11" name="p1a-sensor1-text"/>
          <p:cNvSpPr txBox="1"/>
          <p:nvPr/>
        </p:nvSpPr>
        <p:spPr>
          <a:xfrm>
            <a:off x="1691640" y="367588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Quang trở LDR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GPIO34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Biết trời đang sáng hay tối</a:t>
            </a:r>
            <a:endParaRPr lang="en-US" sz="1400" dirty="0"/>
          </a:p>
        </p:txBody>
      </p:sp>
      <p:sp>
        <p:nvSpPr>
          <p:cNvPr id="12" name="p1a-sensor2-circle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p1a-sensor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5134356"/>
            <a:ext cx="384048" cy="384048"/>
          </a:xfrm>
          <a:prstGeom prst="rect">
            <a:avLst/>
          </a:prstGeom>
        </p:spPr>
      </p:pic>
      <p:sp>
        <p:nvSpPr>
          <p:cNvPr id="14" name="p1a-sensor2-text"/>
          <p:cNvSpPr txBox="1"/>
          <p:nvPr/>
        </p:nvSpPr>
        <p:spPr>
          <a:xfrm>
            <a:off x="1691640" y="491032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Cảm biến mực nước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GPIO35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Biết bình nước còn đủ hay sắp cạn</a:t>
            </a:r>
            <a:endParaRPr lang="en-US" sz="1400" dirty="0"/>
          </a:p>
        </p:txBody>
      </p:sp>
      <p:sp>
        <p:nvSpPr>
          <p:cNvPr id="15" name="p1a-relay-card"/>
          <p:cNvSpPr/>
          <p:nvPr/>
        </p:nvSpPr>
        <p:spPr>
          <a:xfrm>
            <a:off x="7132320" y="1645920"/>
            <a:ext cx="4480560" cy="46634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1a-relay-title"/>
          <p:cNvSpPr txBox="1"/>
          <p:nvPr/>
        </p:nvSpPr>
        <p:spPr>
          <a:xfrm>
            <a:off x="7406640" y="1828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bị được bật/tắt (đầu ra)</a:t>
            </a:r>
            <a:endParaRPr lang="en-US" sz="2000" dirty="0"/>
          </a:p>
        </p:txBody>
      </p:sp>
      <p:sp>
        <p:nvSpPr>
          <p:cNvPr id="17" name="p1a-relay0-circle"/>
          <p:cNvSpPr/>
          <p:nvPr/>
        </p:nvSpPr>
        <p:spPr>
          <a:xfrm>
            <a:off x="7406640" y="251460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p1a-relay0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516" y="2665476"/>
            <a:ext cx="384048" cy="384048"/>
          </a:xfrm>
          <a:prstGeom prst="rect">
            <a:avLst/>
          </a:prstGeom>
        </p:spPr>
      </p:pic>
      <p:sp>
        <p:nvSpPr>
          <p:cNvPr id="19" name="p1a-relay0-text"/>
          <p:cNvSpPr txBox="1"/>
          <p:nvPr/>
        </p:nvSpPr>
        <p:spPr>
          <a:xfrm>
            <a:off x="8275320" y="244144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Relay bơm phun sương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GPIO25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Phun sương để tăng độ ẩm, làm mát</a:t>
            </a:r>
            <a:endParaRPr lang="en-US" sz="1400" dirty="0"/>
          </a:p>
        </p:txBody>
      </p:sp>
      <p:sp>
        <p:nvSpPr>
          <p:cNvPr id="20" name="p1a-relay1-circle"/>
          <p:cNvSpPr/>
          <p:nvPr/>
        </p:nvSpPr>
        <p:spPr>
          <a:xfrm>
            <a:off x="7406640" y="37490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p1a-relay1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7516" y="3899916"/>
            <a:ext cx="384048" cy="384048"/>
          </a:xfrm>
          <a:prstGeom prst="rect">
            <a:avLst/>
          </a:prstGeom>
        </p:spPr>
      </p:pic>
      <p:sp>
        <p:nvSpPr>
          <p:cNvPr id="22" name="p1a-relay1-text"/>
          <p:cNvSpPr txBox="1"/>
          <p:nvPr/>
        </p:nvSpPr>
        <p:spPr>
          <a:xfrm>
            <a:off x="8275320" y="367588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Relay quạt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GPIO26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Thông gió, làm khô nước đọng trên lá</a:t>
            </a:r>
            <a:endParaRPr lang="en-US" sz="1400" dirty="0"/>
          </a:p>
        </p:txBody>
      </p:sp>
      <p:sp>
        <p:nvSpPr>
          <p:cNvPr id="23" name="p1a-relay2-circle"/>
          <p:cNvSpPr/>
          <p:nvPr/>
        </p:nvSpPr>
        <p:spPr>
          <a:xfrm>
            <a:off x="7406640" y="498348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p1a-relay2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7516" y="5134356"/>
            <a:ext cx="384048" cy="384048"/>
          </a:xfrm>
          <a:prstGeom prst="rect">
            <a:avLst/>
          </a:prstGeom>
        </p:spPr>
      </p:pic>
      <p:sp>
        <p:nvSpPr>
          <p:cNvPr id="25" name="p1a-relay2-text"/>
          <p:cNvSpPr txBox="1"/>
          <p:nvPr/>
        </p:nvSpPr>
        <p:spPr>
          <a:xfrm>
            <a:off x="8275320" y="491032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Relay đèn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GPIO27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Đèn LED bù sáng khi trời tối</a:t>
            </a:r>
            <a:endParaRPr lang="en-US" sz="1400" dirty="0"/>
          </a:p>
        </p:txBody>
      </p:sp>
      <p:sp>
        <p:nvSpPr>
          <p:cNvPr id="26" name="p1a-esp32-circle"/>
          <p:cNvSpPr/>
          <p:nvPr/>
        </p:nvSpPr>
        <p:spPr>
          <a:xfrm>
            <a:off x="5440680" y="3154680"/>
            <a:ext cx="1325880" cy="13258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7" name="p1a-esp32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2374" y="3446374"/>
            <a:ext cx="742493" cy="742493"/>
          </a:xfrm>
          <a:prstGeom prst="rect">
            <a:avLst/>
          </a:prstGeom>
        </p:spPr>
      </p:pic>
      <p:sp>
        <p:nvSpPr>
          <p:cNvPr id="28" name="p1a-esp32-label"/>
          <p:cNvSpPr txBox="1"/>
          <p:nvPr/>
        </p:nvSpPr>
        <p:spPr>
          <a:xfrm>
            <a:off x="5120640" y="4572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ESP32</a:t>
            </a:r>
            <a:endParaRPr lang="en-US" sz="1800" dirty="0"/>
          </a:p>
        </p:txBody>
      </p:sp>
      <p:sp>
        <p:nvSpPr>
          <p:cNvPr id="29" name="p1a-esp32-desc"/>
          <p:cNvSpPr txBox="1"/>
          <p:nvPr/>
        </p:nvSpPr>
        <p:spPr>
          <a:xfrm>
            <a:off x="5120640" y="49377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đọc → quyết định → bật/tắt</a:t>
            </a:r>
            <a:endParaRPr lang="en-US" sz="1200" dirty="0"/>
          </a:p>
        </p:txBody>
      </p:sp>
      <p:sp>
        <p:nvSpPr>
          <p:cNvPr id="30" name="p1a-arrow-in"/>
          <p:cNvSpPr/>
          <p:nvPr/>
        </p:nvSpPr>
        <p:spPr>
          <a:xfrm>
            <a:off x="5074920" y="3657600"/>
            <a:ext cx="320040" cy="292608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p1a-arrow-out"/>
          <p:cNvSpPr/>
          <p:nvPr/>
        </p:nvSpPr>
        <p:spPr>
          <a:xfrm>
            <a:off x="6812280" y="3657600"/>
            <a:ext cx="320040" cy="292608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1: Chương trình trên ESP32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Hai việc chạy song song liên tục; chương trình không bao giờ đứng chờ nên không bị treo</a:t>
            </a:r>
            <a:endParaRPr lang="en-US" sz="1600" dirty="0"/>
          </a:p>
        </p:txBody>
      </p:sp>
      <p:sp>
        <p:nvSpPr>
          <p:cNvPr id="4" name="p1b-collect-card"/>
          <p:cNvSpPr/>
          <p:nvPr/>
        </p:nvSpPr>
        <p:spPr>
          <a:xfrm>
            <a:off x="548640" y="16459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1b-collect-circle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1b-collec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307238" cy="307238"/>
          </a:xfrm>
          <a:prstGeom prst="rect">
            <a:avLst/>
          </a:prstGeom>
        </p:spPr>
      </p:pic>
      <p:sp>
        <p:nvSpPr>
          <p:cNvPr id="7" name="p1b-collect-title"/>
          <p:cNvSpPr txBox="1"/>
          <p:nvPr/>
        </p:nvSpPr>
        <p:spPr>
          <a:xfrm>
            <a:off x="1463040" y="1901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Đọc cảm biến</a:t>
            </a:r>
            <a:endParaRPr lang="en-US" sz="2000" dirty="0"/>
          </a:p>
        </p:txBody>
      </p:sp>
      <p:sp>
        <p:nvSpPr>
          <p:cNvPr id="8" name="p1b-collect-body"/>
          <p:cNvSpPr txBox="1"/>
          <p:nvPr/>
        </p:nvSpPr>
        <p:spPr>
          <a:xfrm>
            <a:off x="777240" y="25146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Cứ 2,5 giây đo một lần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Lọc nhiễu: bỏ số nhảy vọt bất thường, rồi lấy trung bình 5 lần đo gần nhất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Cảm biến DHT lỗi 3 lần liền thì báo hỏng (SENSOR_FAULT)</a:t>
            </a:r>
            <a:endParaRPr lang="en-US" sz="1500" dirty="0"/>
          </a:p>
        </p:txBody>
      </p:sp>
      <p:sp>
        <p:nvSpPr>
          <p:cNvPr id="9" name="p1b-control-card"/>
          <p:cNvSpPr/>
          <p:nvPr/>
        </p:nvSpPr>
        <p:spPr>
          <a:xfrm>
            <a:off x="6172200" y="16459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1b-control-circle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p1b-control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949501"/>
            <a:ext cx="307238" cy="307238"/>
          </a:xfrm>
          <a:prstGeom prst="rect">
            <a:avLst/>
          </a:prstGeom>
        </p:spPr>
      </p:pic>
      <p:sp>
        <p:nvSpPr>
          <p:cNvPr id="12" name="p1b-control-title"/>
          <p:cNvSpPr txBox="1"/>
          <p:nvPr/>
        </p:nvSpPr>
        <p:spPr>
          <a:xfrm>
            <a:off x="7086600" y="19019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Điều khiển an toàn</a:t>
            </a:r>
            <a:endParaRPr lang="en-US" sz="2000" dirty="0"/>
          </a:p>
        </p:txBody>
      </p:sp>
      <p:sp>
        <p:nvSpPr>
          <p:cNvPr id="13" name="p1b-control-body"/>
          <p:cNvSpPr txBox="1"/>
          <p:nvPr/>
        </p:nvSpPr>
        <p:spPr>
          <a:xfrm>
            <a:off x="6400800" y="25146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Bơm phun chạy theo các trạng thái ở dưới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Bình cạn (số đo &lt; 1200): tắt bơm ngay, không cho bật phun, kể cả lệnh từ xa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Lệnh bấm tay có thời hạn, hết giờ tự về chế độ tự động</a:t>
            </a:r>
            <a:endParaRPr lang="en-US" sz="1500" dirty="0"/>
          </a:p>
        </p:txBody>
      </p:sp>
      <p:sp>
        <p:nvSpPr>
          <p:cNvPr id="14" name="p1b-fsm-label"/>
          <p:cNvSpPr txBox="1"/>
          <p:nvPr/>
        </p:nvSpPr>
        <p:spPr>
          <a:xfrm>
            <a:off x="5486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Các trạng thái của bơm phun sương</a:t>
            </a:r>
            <a:endParaRPr lang="en-US" sz="1500" dirty="0"/>
          </a:p>
        </p:txBody>
      </p:sp>
      <p:sp>
        <p:nvSpPr>
          <p:cNvPr id="15" name="p1b-fsm-IDLE"/>
          <p:cNvSpPr/>
          <p:nvPr/>
        </p:nvSpPr>
        <p:spPr>
          <a:xfrm>
            <a:off x="548640" y="4709160"/>
            <a:ext cx="2651760" cy="594360"/>
          </a:xfrm>
          <a:prstGeom prst="roundRect">
            <a:avLst>
              <a:gd name="adj" fmla="val 4615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p1b-fsm-IDLE-text"/>
          <p:cNvSpPr txBox="1"/>
          <p:nvPr/>
        </p:nvSpPr>
        <p:spPr>
          <a:xfrm>
            <a:off x="548640" y="47091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IDLE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chờ</a:t>
            </a:r>
            <a:endParaRPr lang="en-US" sz="1400" dirty="0"/>
          </a:p>
        </p:txBody>
      </p:sp>
      <p:sp>
        <p:nvSpPr>
          <p:cNvPr id="17" name="p1b-fsm-RUNNING"/>
          <p:cNvSpPr/>
          <p:nvPr/>
        </p:nvSpPr>
        <p:spPr>
          <a:xfrm>
            <a:off x="4572000" y="4709160"/>
            <a:ext cx="2651760" cy="594360"/>
          </a:xfrm>
          <a:prstGeom prst="roundRect">
            <a:avLst>
              <a:gd name="adj" fmla="val 4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p1b-fsm-RUNNING-text"/>
          <p:cNvSpPr txBox="1"/>
          <p:nvPr/>
        </p:nvSpPr>
        <p:spPr>
          <a:xfrm>
            <a:off x="4572000" y="47091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RUNNING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đang phun</a:t>
            </a:r>
            <a:endParaRPr lang="en-US" sz="1400" dirty="0"/>
          </a:p>
        </p:txBody>
      </p:sp>
      <p:sp>
        <p:nvSpPr>
          <p:cNvPr id="19" name="p1b-fsm-COOLDOWN"/>
          <p:cNvSpPr/>
          <p:nvPr/>
        </p:nvSpPr>
        <p:spPr>
          <a:xfrm>
            <a:off x="8595360" y="4709160"/>
            <a:ext cx="2651760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p1b-fsm-COOLDOWN-text"/>
          <p:cNvSpPr txBox="1"/>
          <p:nvPr/>
        </p:nvSpPr>
        <p:spPr>
          <a:xfrm>
            <a:off x="8595360" y="47091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COOLDOWN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nghỉ cho bơm</a:t>
            </a:r>
            <a:endParaRPr lang="en-US" sz="1400" dirty="0"/>
          </a:p>
        </p:txBody>
      </p:sp>
      <p:sp>
        <p:nvSpPr>
          <p:cNvPr id="21" name="p1b-fsm-arrow0"/>
          <p:cNvSpPr/>
          <p:nvPr/>
        </p:nvSpPr>
        <p:spPr>
          <a:xfrm>
            <a:off x="3291840" y="4846320"/>
            <a:ext cx="1188720" cy="32004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p1b-fsm-arrow0-label"/>
          <p:cNvSpPr txBox="1"/>
          <p:nvPr/>
        </p:nvSpPr>
        <p:spPr>
          <a:xfrm>
            <a:off x="310896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độ ẩm &lt; 65%</a:t>
            </a:r>
            <a:endParaRPr lang="en-US" sz="1200" dirty="0"/>
          </a:p>
        </p:txBody>
      </p:sp>
      <p:sp>
        <p:nvSpPr>
          <p:cNvPr id="23" name="p1b-fsm-arrow1"/>
          <p:cNvSpPr/>
          <p:nvPr/>
        </p:nvSpPr>
        <p:spPr>
          <a:xfrm>
            <a:off x="7315200" y="4846320"/>
            <a:ext cx="1188720" cy="32004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p1b-fsm-arrow1-label"/>
          <p:cNvSpPr txBox="1"/>
          <p:nvPr/>
        </p:nvSpPr>
        <p:spPr>
          <a:xfrm>
            <a:off x="713232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phun đủ 120 giây</a:t>
            </a:r>
            <a:endParaRPr lang="en-US" sz="1200" dirty="0"/>
          </a:p>
        </p:txBody>
      </p:sp>
      <p:sp>
        <p:nvSpPr>
          <p:cNvPr id="25" name="p1b-fsm-rules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Quay về chờ: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khi độ ẩm ≥ 80% (đủ ẩm), hoặc sau 60 giây nghỉ.  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Cạn nước hoặc hỏng cảm biến: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bơm tắt ngay, dù đang ở trạng thái nào.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2: MQTT – tin đi lên và tin đi xuống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ESP32 và server không nói chuyện trực tiếp: cả hai cùng gửi và nhận tin qua một bưu điện chung (broker)</a:t>
            </a:r>
            <a:endParaRPr lang="en-US" sz="1600" dirty="0"/>
          </a:p>
        </p:txBody>
      </p:sp>
      <p:sp>
        <p:nvSpPr>
          <p:cNvPr id="4" name="p2a-node-ESP32"/>
          <p:cNvSpPr/>
          <p:nvPr/>
        </p:nvSpPr>
        <p:spPr>
          <a:xfrm>
            <a:off x="548640" y="1828800"/>
            <a:ext cx="27432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2a-node-ESP32-circle"/>
          <p:cNvSpPr/>
          <p:nvPr/>
        </p:nvSpPr>
        <p:spPr>
          <a:xfrm>
            <a:off x="150876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2a-node-ESP32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811" y="2147011"/>
            <a:ext cx="460858" cy="460858"/>
          </a:xfrm>
          <a:prstGeom prst="rect">
            <a:avLst/>
          </a:prstGeom>
        </p:spPr>
      </p:pic>
      <p:sp>
        <p:nvSpPr>
          <p:cNvPr id="7" name="p2a-node-ESP32-text"/>
          <p:cNvSpPr txBox="1"/>
          <p:nvPr/>
        </p:nvSpPr>
        <p:spPr>
          <a:xfrm>
            <a:off x="548640" y="2834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ESP32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tại vườn</a:t>
            </a:r>
            <a:endParaRPr lang="en-US" sz="1400" dirty="0"/>
          </a:p>
        </p:txBody>
      </p:sp>
      <p:sp>
        <p:nvSpPr>
          <p:cNvPr id="8" name="p2a-node-Broker"/>
          <p:cNvSpPr/>
          <p:nvPr/>
        </p:nvSpPr>
        <p:spPr>
          <a:xfrm>
            <a:off x="4709160" y="1828800"/>
            <a:ext cx="27432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2a-node-Broker-circle"/>
          <p:cNvSpPr/>
          <p:nvPr/>
        </p:nvSpPr>
        <p:spPr>
          <a:xfrm>
            <a:off x="5669280" y="196596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p2a-node-Broker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2147011"/>
            <a:ext cx="460858" cy="460858"/>
          </a:xfrm>
          <a:prstGeom prst="rect">
            <a:avLst/>
          </a:prstGeom>
        </p:spPr>
      </p:pic>
      <p:sp>
        <p:nvSpPr>
          <p:cNvPr id="11" name="p2a-node-Broker-text"/>
          <p:cNvSpPr txBox="1"/>
          <p:nvPr/>
        </p:nvSpPr>
        <p:spPr>
          <a:xfrm>
            <a:off x="4709160" y="2834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Broker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broker.emqx.io</a:t>
            </a:r>
            <a:endParaRPr lang="en-US" sz="1400" dirty="0"/>
          </a:p>
        </p:txBody>
      </p:sp>
      <p:sp>
        <p:nvSpPr>
          <p:cNvPr id="12" name="p2a-node-Node-RED"/>
          <p:cNvSpPr/>
          <p:nvPr/>
        </p:nvSpPr>
        <p:spPr>
          <a:xfrm>
            <a:off x="8869680" y="1828800"/>
            <a:ext cx="274320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p2a-node-Node-RED-circle"/>
          <p:cNvSpPr/>
          <p:nvPr/>
        </p:nvSpPr>
        <p:spPr>
          <a:xfrm>
            <a:off x="9829800" y="196596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p2a-node-Node-RED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851" y="2147011"/>
            <a:ext cx="460858" cy="460858"/>
          </a:xfrm>
          <a:prstGeom prst="rect">
            <a:avLst/>
          </a:prstGeom>
        </p:spPr>
      </p:pic>
      <p:sp>
        <p:nvSpPr>
          <p:cNvPr id="15" name="p2a-node-Node-RED-text"/>
          <p:cNvSpPr txBox="1"/>
          <p:nvPr/>
        </p:nvSpPr>
        <p:spPr>
          <a:xfrm>
            <a:off x="8869680" y="2834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Node-RED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server + dashboard</a:t>
            </a:r>
            <a:endParaRPr lang="en-US" sz="1400" dirty="0"/>
          </a:p>
        </p:txBody>
      </p:sp>
      <p:sp>
        <p:nvSpPr>
          <p:cNvPr id="16" name="p2a-a1-up"/>
          <p:cNvSpPr/>
          <p:nvPr/>
        </p:nvSpPr>
        <p:spPr>
          <a:xfrm>
            <a:off x="3337560" y="2331720"/>
            <a:ext cx="132588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p2a-a1-down"/>
          <p:cNvSpPr/>
          <p:nvPr/>
        </p:nvSpPr>
        <p:spPr>
          <a:xfrm>
            <a:off x="3337560" y="2880360"/>
            <a:ext cx="1325880" cy="320040"/>
          </a:xfrm>
          <a:prstGeom prst="lef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p2a-a2-up"/>
          <p:cNvSpPr/>
          <p:nvPr/>
        </p:nvSpPr>
        <p:spPr>
          <a:xfrm>
            <a:off x="7498080" y="2331720"/>
            <a:ext cx="1325880" cy="3200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p2a-a2-down"/>
          <p:cNvSpPr/>
          <p:nvPr/>
        </p:nvSpPr>
        <p:spPr>
          <a:xfrm>
            <a:off x="7498080" y="2880360"/>
            <a:ext cx="1325880" cy="320040"/>
          </a:xfrm>
          <a:prstGeom prst="lef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2a-up-card"/>
          <p:cNvSpPr/>
          <p:nvPr/>
        </p:nvSpPr>
        <p:spPr>
          <a:xfrm>
            <a:off x="548640" y="39776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p2a-up-title"/>
          <p:cNvSpPr txBox="1"/>
          <p:nvPr/>
        </p:nvSpPr>
        <p:spPr>
          <a:xfrm>
            <a:off x="77724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Đi lên (uplink): ESP32 → server</a:t>
            </a:r>
            <a:endParaRPr lang="en-US" sz="1700" dirty="0"/>
          </a:p>
        </p:txBody>
      </p:sp>
      <p:sp>
        <p:nvSpPr>
          <p:cNvPr id="22" name="p2a-up-body"/>
          <p:cNvSpPr txBox="1"/>
          <p:nvPr/>
        </p:nvSpPr>
        <p:spPr>
          <a:xfrm>
            <a:off x="777240" y="45720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số đo cảm biến, 2,5 giây một lần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bơm, quạt, đèn đang bật hay tắt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availability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thiết bị online hay offline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trả lời đã làm lệnh hay chưa</a:t>
            </a:r>
            <a:endParaRPr lang="en-US" sz="1400" dirty="0"/>
          </a:p>
        </p:txBody>
      </p:sp>
      <p:sp>
        <p:nvSpPr>
          <p:cNvPr id="23" name="p2a-down-card"/>
          <p:cNvSpPr/>
          <p:nvPr/>
        </p:nvSpPr>
        <p:spPr>
          <a:xfrm>
            <a:off x="6172200" y="39776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2a-down-title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Đi xuống (downlink): server → ESP32</a:t>
            </a:r>
            <a:endParaRPr lang="en-US" sz="1700" dirty="0"/>
          </a:p>
        </p:txBody>
      </p:sp>
      <p:sp>
        <p:nvSpPr>
          <p:cNvPr id="25" name="p2a-down-body"/>
          <p:cNvSpPr txBox="1"/>
          <p:nvPr/>
        </p:nvSpPr>
        <p:spPr>
          <a:xfrm>
            <a:off x="6400800" y="45720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cmd/mist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lệnh bơm phun sương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cmd/fan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lệnh quạt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cmd/light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lệnh đèn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 đổi ngưỡng tự động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2: Bốn dịch vụ chạy trên MQTT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MQTT giống một bưu điện: ESP32 và server gửi tin qua broker broker.emqx.io, mỗi loại tin có một địa chỉ riêng (topic)</a:t>
            </a:r>
            <a:endParaRPr lang="en-US" sz="1600" dirty="0"/>
          </a:p>
        </p:txBody>
      </p:sp>
      <p:sp>
        <p:nvSpPr>
          <p:cNvPr id="4" name="p2-svc1"/>
          <p:cNvSpPr/>
          <p:nvPr/>
        </p:nvSpPr>
        <p:spPr>
          <a:xfrm>
            <a:off x="54864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2-svc1-circle"/>
          <p:cNvSpPr/>
          <p:nvPr/>
        </p:nvSpPr>
        <p:spPr>
          <a:xfrm>
            <a:off x="77724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2-svc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57730"/>
            <a:ext cx="281635" cy="281635"/>
          </a:xfrm>
          <a:prstGeom prst="rect">
            <a:avLst/>
          </a:prstGeom>
        </p:spPr>
      </p:pic>
      <p:sp>
        <p:nvSpPr>
          <p:cNvPr id="7" name="p2-svc1-head"/>
          <p:cNvSpPr txBox="1"/>
          <p:nvPr/>
        </p:nvSpPr>
        <p:spPr>
          <a:xfrm>
            <a:off x="141732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1) Báo thiết bị còn hoạt động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Server luôn biết ESP32 đang chạy hay đã mất kết nối</a:t>
            </a:r>
            <a:endParaRPr lang="en-US" sz="1400" dirty="0"/>
          </a:p>
        </p:txBody>
      </p:sp>
      <p:sp>
        <p:nvSpPr>
          <p:cNvPr id="8" name="p2-svc1-steps"/>
          <p:cNvSpPr txBox="1"/>
          <p:nvPr/>
        </p:nvSpPr>
        <p:spPr>
          <a:xfrm>
            <a:off x="82296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availability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báo "online" khi vừa kết nối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LWT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mất điện, mất mạng đột ngột: broker tự báo "offline" thay nó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Quá 15 giây không có dữ liệu mới: báo STALE (dữ liệu cũ)</a:t>
            </a:r>
            <a:endParaRPr lang="en-US" sz="1400" dirty="0"/>
          </a:p>
        </p:txBody>
      </p:sp>
      <p:sp>
        <p:nvSpPr>
          <p:cNvPr id="9" name="p2-svc2"/>
          <p:cNvSpPr/>
          <p:nvPr/>
        </p:nvSpPr>
        <p:spPr>
          <a:xfrm>
            <a:off x="617220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2-svc2-circle"/>
          <p:cNvSpPr/>
          <p:nvPr/>
        </p:nvSpPr>
        <p:spPr>
          <a:xfrm>
            <a:off x="640080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p2-svc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57730"/>
            <a:ext cx="281635" cy="281635"/>
          </a:xfrm>
          <a:prstGeom prst="rect">
            <a:avLst/>
          </a:prstGeom>
        </p:spPr>
      </p:pic>
      <p:sp>
        <p:nvSpPr>
          <p:cNvPr id="12" name="p2-svc2-head"/>
          <p:cNvSpPr txBox="1"/>
          <p:nvPr/>
        </p:nvSpPr>
        <p:spPr>
          <a:xfrm>
            <a:off x="704088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2) Gửi số đo cảm biến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Đưa số đo và tình trạng thiết bị lên server</a:t>
            </a:r>
            <a:endParaRPr lang="en-US" sz="1400" dirty="0"/>
          </a:p>
        </p:txBody>
      </p:sp>
      <p:sp>
        <p:nvSpPr>
          <p:cNvPr id="13" name="p2-svc2-steps"/>
          <p:cNvSpPr txBox="1"/>
          <p:nvPr/>
        </p:nvSpPr>
        <p:spPr>
          <a:xfrm>
            <a:off x="644652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Cứ 2,5 giây gửi nhiệt độ, độ ẩm, ánh sáng, mực nước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Bơm, quạt, đèn đang bật hay tắt; chế độ tự động hay bấm tay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Nhận tin và cập nhật lên dashboard</a:t>
            </a:r>
            <a:endParaRPr lang="en-US" sz="1400" dirty="0"/>
          </a:p>
        </p:txBody>
      </p:sp>
      <p:sp>
        <p:nvSpPr>
          <p:cNvPr id="14" name="p2-svc3"/>
          <p:cNvSpPr/>
          <p:nvPr/>
        </p:nvSpPr>
        <p:spPr>
          <a:xfrm>
            <a:off x="54864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2-svc3-circle"/>
          <p:cNvSpPr/>
          <p:nvPr/>
        </p:nvSpPr>
        <p:spPr>
          <a:xfrm>
            <a:off x="777240" y="427024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p2-svc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4380890"/>
            <a:ext cx="281635" cy="281635"/>
          </a:xfrm>
          <a:prstGeom prst="rect">
            <a:avLst/>
          </a:prstGeom>
        </p:spPr>
      </p:pic>
      <p:sp>
        <p:nvSpPr>
          <p:cNvPr id="17" name="p2-svc3-head"/>
          <p:cNvSpPr txBox="1"/>
          <p:nvPr/>
        </p:nvSpPr>
        <p:spPr>
          <a:xfrm>
            <a:off x="141732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3) Điều khiển có xác nhận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Gửi lệnh bật/tắt xuống và chờ ESP32 trả lời đã làm chưa (ACK)</a:t>
            </a:r>
            <a:endParaRPr lang="en-US" sz="1400" dirty="0"/>
          </a:p>
        </p:txBody>
      </p:sp>
      <p:sp>
        <p:nvSpPr>
          <p:cNvPr id="18" name="p2-svc3-steps"/>
          <p:cNvSpPr txBox="1"/>
          <p:nvPr/>
        </p:nvSpPr>
        <p:spPr>
          <a:xfrm>
            <a:off x="82296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cmd/…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Lệnh gồm: mã lệnh, chế độ, bật hay tắt, thời hạn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trả lời: đã làm (APPLIED) hoặc từ chối kèm lý do, ví dụ đang cạn nước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Quá 6 giây không có trả lời: báo NO_ACK</a:t>
            </a:r>
            <a:endParaRPr lang="en-US" sz="1400" dirty="0"/>
          </a:p>
        </p:txBody>
      </p:sp>
      <p:sp>
        <p:nvSpPr>
          <p:cNvPr id="19" name="p2-svc4"/>
          <p:cNvSpPr/>
          <p:nvPr/>
        </p:nvSpPr>
        <p:spPr>
          <a:xfrm>
            <a:off x="617220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2-svc4-circle"/>
          <p:cNvSpPr/>
          <p:nvPr/>
        </p:nvSpPr>
        <p:spPr>
          <a:xfrm>
            <a:off x="6400800" y="42702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p2-svc4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2" y="4380890"/>
            <a:ext cx="281635" cy="281635"/>
          </a:xfrm>
          <a:prstGeom prst="rect">
            <a:avLst/>
          </a:prstGeom>
        </p:spPr>
      </p:pic>
      <p:sp>
        <p:nvSpPr>
          <p:cNvPr id="22" name="p2-svc4-head"/>
          <p:cNvSpPr txBox="1"/>
          <p:nvPr/>
        </p:nvSpPr>
        <p:spPr>
          <a:xfrm>
            <a:off x="704088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4) Đổi ngưỡng từ xa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Chỉnh mức độ ẩm, nhiệt độ, ánh sáng, nước mà không phải nạp lại chương trình</a:t>
            </a:r>
            <a:endParaRPr lang="en-US" sz="1400" dirty="0"/>
          </a:p>
        </p:txBody>
      </p:sp>
      <p:sp>
        <p:nvSpPr>
          <p:cNvPr id="23" name="p2-svc4-steps"/>
          <p:cNvSpPr txBox="1"/>
          <p:nvPr/>
        </p:nvSpPr>
        <p:spPr>
          <a:xfrm>
            <a:off x="644652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Server gửi ngưỡng mới, ESP32 trả lời đã áp dụng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giới hạn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từ chối ngưỡng nguy hiểm, ví dụ mức báo cạn nước không được dưới 1200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3: Ứng dụng web – Theo dõi và lưu dữ liệu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Node-RED là phần mềm trung tâm trên server: nhận dữ liệu, chạy luật tự động và tạo trang dashboard</a:t>
            </a:r>
            <a:endParaRPr lang="en-US" sz="1600" dirty="0"/>
          </a:p>
        </p:txBody>
      </p:sp>
      <p:sp>
        <p:nvSpPr>
          <p:cNvPr id="4" name="p3a-rep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3a-re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a-rep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Hiển thị dữ liệu</a:t>
            </a:r>
            <a:endParaRPr lang="en-US" sz="2000" dirty="0"/>
          </a:p>
        </p:txBody>
      </p:sp>
      <p:sp>
        <p:nvSpPr>
          <p:cNvPr id="7" name="p3a-rep-body"/>
          <p:cNvSpPr txBox="1"/>
          <p:nvPr/>
        </p:nvSpPr>
        <p:spPr>
          <a:xfrm>
            <a:off x="548640" y="233172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Mở được trên máy tính và điện thoại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Số đo trực tiếp: nhiệt độ (°C), độ ẩm (%), ánh sáng, mực nước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 biểu đồ cho thấy diễn biến trong 1 giờ gần nhất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Cảm biến hỏng thì hiện chữ "DHT fault", không hiện số sai</a:t>
            </a:r>
            <a:endParaRPr lang="en-US" sz="1500" dirty="0"/>
          </a:p>
        </p:txBody>
      </p:sp>
      <p:sp>
        <p:nvSpPr>
          <p:cNvPr id="8" name="p3a-conn-label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Trạng thái kết nối</a:t>
            </a:r>
            <a:endParaRPr lang="en-US" sz="1300" dirty="0"/>
          </a:p>
        </p:txBody>
      </p:sp>
      <p:sp>
        <p:nvSpPr>
          <p:cNvPr id="9" name="p3a-conn-ONLINE"/>
          <p:cNvSpPr/>
          <p:nvPr/>
        </p:nvSpPr>
        <p:spPr>
          <a:xfrm>
            <a:off x="5486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3a-conn-ONLINE-text"/>
          <p:cNvSpPr txBox="1"/>
          <p:nvPr/>
        </p:nvSpPr>
        <p:spPr>
          <a:xfrm>
            <a:off x="5486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ONLINE</a:t>
            </a:r>
            <a:endParaRPr lang="en-US" sz="1400" dirty="0"/>
          </a:p>
        </p:txBody>
      </p:sp>
      <p:sp>
        <p:nvSpPr>
          <p:cNvPr id="11" name="p3a-conn-ONLINE-desc"/>
          <p:cNvSpPr txBox="1"/>
          <p:nvPr/>
        </p:nvSpPr>
        <p:spPr>
          <a:xfrm>
            <a:off x="5486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đang nhận dữ liệu</a:t>
            </a:r>
            <a:endParaRPr lang="en-US" sz="1100" dirty="0"/>
          </a:p>
        </p:txBody>
      </p:sp>
      <p:sp>
        <p:nvSpPr>
          <p:cNvPr id="12" name="p3a-conn-STALE"/>
          <p:cNvSpPr/>
          <p:nvPr/>
        </p:nvSpPr>
        <p:spPr>
          <a:xfrm>
            <a:off x="23774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p3a-conn-STALE-text"/>
          <p:cNvSpPr txBox="1"/>
          <p:nvPr/>
        </p:nvSpPr>
        <p:spPr>
          <a:xfrm>
            <a:off x="23774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STALE</a:t>
            </a:r>
            <a:endParaRPr lang="en-US" sz="1400" dirty="0"/>
          </a:p>
        </p:txBody>
      </p:sp>
      <p:sp>
        <p:nvSpPr>
          <p:cNvPr id="14" name="p3a-conn-STALE-desc"/>
          <p:cNvSpPr txBox="1"/>
          <p:nvPr/>
        </p:nvSpPr>
        <p:spPr>
          <a:xfrm>
            <a:off x="23774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15 s chưa có số mới</a:t>
            </a:r>
            <a:endParaRPr lang="en-US" sz="1100" dirty="0"/>
          </a:p>
        </p:txBody>
      </p:sp>
      <p:sp>
        <p:nvSpPr>
          <p:cNvPr id="15" name="p3a-conn-OFFLINE"/>
          <p:cNvSpPr/>
          <p:nvPr/>
        </p:nvSpPr>
        <p:spPr>
          <a:xfrm>
            <a:off x="42062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p3a-conn-OFFLINE-text"/>
          <p:cNvSpPr txBox="1"/>
          <p:nvPr/>
        </p:nvSpPr>
        <p:spPr>
          <a:xfrm>
            <a:off x="42062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OFFLINE</a:t>
            </a:r>
            <a:endParaRPr lang="en-US" sz="1400" dirty="0"/>
          </a:p>
        </p:txBody>
      </p:sp>
      <p:sp>
        <p:nvSpPr>
          <p:cNvPr id="17" name="p3a-conn-OFFLINE-desc"/>
          <p:cNvSpPr txBox="1"/>
          <p:nvPr/>
        </p:nvSpPr>
        <p:spPr>
          <a:xfrm>
            <a:off x="42062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thiết bị mất kết nối</a:t>
            </a:r>
            <a:endParaRPr lang="en-US" sz="1100" dirty="0"/>
          </a:p>
        </p:txBody>
      </p:sp>
      <p:sp>
        <p:nvSpPr>
          <p:cNvPr id="18" name="p3a-mgmt-card"/>
          <p:cNvSpPr/>
          <p:nvPr/>
        </p:nvSpPr>
        <p:spPr>
          <a:xfrm>
            <a:off x="6400800" y="1645920"/>
            <a:ext cx="5212080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a-mgmt-circle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p3a-mgm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762" y="1985162"/>
            <a:ext cx="281635" cy="281635"/>
          </a:xfrm>
          <a:prstGeom prst="rect">
            <a:avLst/>
          </a:prstGeom>
        </p:spPr>
      </p:pic>
      <p:sp>
        <p:nvSpPr>
          <p:cNvPr id="21" name="p3a-mgmt-title"/>
          <p:cNvSpPr txBox="1"/>
          <p:nvPr/>
        </p:nvSpPr>
        <p:spPr>
          <a:xfrm>
            <a:off x="731520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Lưu nhật ký</a:t>
            </a:r>
            <a:endParaRPr lang="en-US" sz="2000" dirty="0"/>
          </a:p>
        </p:txBody>
      </p:sp>
      <p:sp>
        <p:nvSpPr>
          <p:cNvPr id="22" name="p3a-mgmt-lead"/>
          <p:cNvSpPr txBox="1"/>
          <p:nvPr/>
        </p:nvSpPr>
        <p:spPr>
          <a:xfrm>
            <a:off x="667512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Không cần cơ sở dữ liệu: mọi sự kiện được ghi nối tiếp vào một file nhật ký</a:t>
            </a:r>
            <a:endParaRPr lang="en-US" sz="1400" dirty="0"/>
          </a:p>
        </p:txBody>
      </p:sp>
      <p:sp>
        <p:nvSpPr>
          <p:cNvPr id="23" name="p3a-file"/>
          <p:cNvSpPr/>
          <p:nvPr/>
        </p:nvSpPr>
        <p:spPr>
          <a:xfrm>
            <a:off x="6675120" y="3291840"/>
            <a:ext cx="46634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p3a-file-text"/>
          <p:cNvSpPr txBox="1"/>
          <p:nvPr/>
        </p:nvSpPr>
        <p:spPr>
          <a:xfrm>
            <a:off x="681228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orchid-history.jsonl</a:t>
            </a:r>
            <a:endParaRPr lang="en-US" sz="1400" dirty="0"/>
          </a:p>
        </p:txBody>
      </p:sp>
      <p:sp>
        <p:nvSpPr>
          <p:cNvPr id="25" name="p3a-mgmt-body"/>
          <p:cNvSpPr txBox="1"/>
          <p:nvPr/>
        </p:nvSpPr>
        <p:spPr>
          <a:xfrm>
            <a:off x="6675120" y="39319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dòng một sự kiện: lúc nào, ai bấm, lệnh gì, kết quả, mất bao lâu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Ghi cả sự cố: cảm biến hỏng, cạn nước, mất kết nối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Dùng làm bằng chứng khi nghiệm thu và khi tìm lỗi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3: Ứng dụng web – Điều khiển và tự động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Người dùng bấm điều khiển được, nhưng hệ thống tự khóa những thao tác có thể gây hại cho lan</a:t>
            </a:r>
            <a:endParaRPr lang="en-US" sz="1600" dirty="0"/>
          </a:p>
        </p:txBody>
      </p:sp>
      <p:sp>
        <p:nvSpPr>
          <p:cNvPr id="4" name="p3b-ctrl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p3b-ctrl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b-ctrl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Điều khiển và phân quyền</a:t>
            </a:r>
            <a:endParaRPr lang="en-US" sz="2000" dirty="0"/>
          </a:p>
        </p:txBody>
      </p:sp>
      <p:sp>
        <p:nvSpPr>
          <p:cNvPr id="7" name="p3b-ctrl-body"/>
          <p:cNvSpPr txBox="1"/>
          <p:nvPr/>
        </p:nvSpPr>
        <p:spPr>
          <a:xfrm>
            <a:off x="548640" y="22860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AUTO: hệ thống tự làm theo luật. MANUAL: người dùng bấm tay, có hạn 1–60 phút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Đang AUTO hoặc thiết bị mất kết nối: khóa hết nút bấm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Cạn nước, bơm đang nghỉ hoặc cảm biến hỏng: khóa riêng nút bật phun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Bấm xong phải chờ ESP32 xác nhận mới bấm tiếp được</a:t>
            </a:r>
            <a:endParaRPr lang="en-US" sz="1500" dirty="0"/>
          </a:p>
        </p:txBody>
      </p:sp>
      <p:sp>
        <p:nvSpPr>
          <p:cNvPr id="8" name="p3b-roles-label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Phân quyền tài khoản</a:t>
            </a:r>
            <a:endParaRPr lang="en-US" sz="1300" dirty="0"/>
          </a:p>
        </p:txBody>
      </p:sp>
      <p:sp>
        <p:nvSpPr>
          <p:cNvPr id="9" name="p3b-role-admin"/>
          <p:cNvSpPr/>
          <p:nvPr/>
        </p:nvSpPr>
        <p:spPr>
          <a:xfrm>
            <a:off x="5486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3b-role-admin-text"/>
          <p:cNvSpPr txBox="1"/>
          <p:nvPr/>
        </p:nvSpPr>
        <p:spPr>
          <a:xfrm>
            <a:off x="6858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admin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toàn quyền, sửa cấu hình</a:t>
            </a:r>
            <a:endParaRPr lang="en-US" sz="1400" dirty="0"/>
          </a:p>
        </p:txBody>
      </p:sp>
      <p:sp>
        <p:nvSpPr>
          <p:cNvPr id="11" name="p3b-role-operator"/>
          <p:cNvSpPr/>
          <p:nvPr/>
        </p:nvSpPr>
        <p:spPr>
          <a:xfrm>
            <a:off x="23774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3b-role-operator-text"/>
          <p:cNvSpPr txBox="1"/>
          <p:nvPr/>
        </p:nvSpPr>
        <p:spPr>
          <a:xfrm>
            <a:off x="25146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operator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được bấm điều khiển</a:t>
            </a:r>
            <a:endParaRPr lang="en-US" sz="1400" dirty="0"/>
          </a:p>
        </p:txBody>
      </p:sp>
      <p:sp>
        <p:nvSpPr>
          <p:cNvPr id="13" name="p3b-role-viewer"/>
          <p:cNvSpPr/>
          <p:nvPr/>
        </p:nvSpPr>
        <p:spPr>
          <a:xfrm>
            <a:off x="42062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3b-role-viewer-text"/>
          <p:cNvSpPr txBox="1"/>
          <p:nvPr/>
        </p:nvSpPr>
        <p:spPr>
          <a:xfrm>
            <a:off x="43434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viewer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chỉ được xem</a:t>
            </a:r>
            <a:endParaRPr lang="en-US" sz="1400" dirty="0"/>
          </a:p>
        </p:txBody>
      </p:sp>
      <p:sp>
        <p:nvSpPr>
          <p:cNvPr id="15" name="p3b-rule-circle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p3b-rul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756562"/>
            <a:ext cx="281635" cy="281635"/>
          </a:xfrm>
          <a:prstGeom prst="rect">
            <a:avLst/>
          </a:prstGeom>
        </p:spPr>
      </p:pic>
      <p:sp>
        <p:nvSpPr>
          <p:cNvPr id="17" name="p3b-rule-title"/>
          <p:cNvSpPr txBox="1"/>
          <p:nvPr/>
        </p:nvSpPr>
        <p:spPr>
          <a:xfrm>
            <a:off x="70408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Luật tự động</a:t>
            </a:r>
            <a:endParaRPr lang="en-US" sz="2000" dirty="0"/>
          </a:p>
        </p:txBody>
      </p:sp>
      <p:sp>
        <p:nvSpPr>
          <p:cNvPr id="18" name="p3b-rule1"/>
          <p:cNvSpPr/>
          <p:nvPr/>
        </p:nvSpPr>
        <p:spPr>
          <a:xfrm>
            <a:off x="6400800" y="233172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b-rule1-circle"/>
          <p:cNvSpPr/>
          <p:nvPr/>
        </p:nvSpPr>
        <p:spPr>
          <a:xfrm>
            <a:off x="658368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p3b-rule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81" y="2726741"/>
            <a:ext cx="307238" cy="307238"/>
          </a:xfrm>
          <a:prstGeom prst="rect">
            <a:avLst/>
          </a:prstGeom>
        </p:spPr>
      </p:pic>
      <p:sp>
        <p:nvSpPr>
          <p:cNvPr id="21" name="p3b-rule1-text"/>
          <p:cNvSpPr txBox="1"/>
          <p:nvPr/>
        </p:nvSpPr>
        <p:spPr>
          <a:xfrm>
            <a:off x="7315200" y="245059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Luật 1 – Đèn bù sáng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Chỉ bật từ 06:00 đến 21:00 khi trời tối, tắt khi đủ sáng. Ban đêm không bật để lan nghỉ; tối đa 4 giờ/ngày</a:t>
            </a:r>
            <a:endParaRPr lang="en-US" sz="1400" dirty="0"/>
          </a:p>
        </p:txBody>
      </p:sp>
      <p:sp>
        <p:nvSpPr>
          <p:cNvPr id="22" name="p3b-rule2"/>
          <p:cNvSpPr/>
          <p:nvPr/>
        </p:nvSpPr>
        <p:spPr>
          <a:xfrm>
            <a:off x="6400800" y="365760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p3b-rule2-circle"/>
          <p:cNvSpPr/>
          <p:nvPr/>
        </p:nvSpPr>
        <p:spPr>
          <a:xfrm>
            <a:off x="658368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p3b-rule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4052621"/>
            <a:ext cx="307238" cy="307238"/>
          </a:xfrm>
          <a:prstGeom prst="rect">
            <a:avLst/>
          </a:prstGeom>
        </p:spPr>
      </p:pic>
      <p:sp>
        <p:nvSpPr>
          <p:cNvPr id="25" name="p3b-rule2-text"/>
          <p:cNvSpPr txBox="1"/>
          <p:nvPr/>
        </p:nvSpPr>
        <p:spPr>
          <a:xfrm>
            <a:off x="7315200" y="377647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Luật 2 – Quạt sau khi phun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Phun xong, quạt chạy 60 giây cho lá khô, tránh thối nõn và nấm</a:t>
            </a:r>
            <a:endParaRPr lang="en-US" sz="1400" dirty="0"/>
          </a:p>
        </p:txBody>
      </p:sp>
      <p:sp>
        <p:nvSpPr>
          <p:cNvPr id="26" name="p3b-rule3"/>
          <p:cNvSpPr/>
          <p:nvPr/>
        </p:nvSpPr>
        <p:spPr>
          <a:xfrm>
            <a:off x="6400800" y="498348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3b-rule3-circle"/>
          <p:cNvSpPr/>
          <p:nvPr/>
        </p:nvSpPr>
        <p:spPr>
          <a:xfrm>
            <a:off x="6583680" y="5257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p3b-rule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4381" y="5378501"/>
            <a:ext cx="307238" cy="307238"/>
          </a:xfrm>
          <a:prstGeom prst="rect">
            <a:avLst/>
          </a:prstGeom>
        </p:spPr>
      </p:pic>
      <p:sp>
        <p:nvSpPr>
          <p:cNvPr id="29" name="p3b-rule3-text"/>
          <p:cNvSpPr txBox="1"/>
          <p:nvPr/>
        </p:nvSpPr>
        <p:spPr>
          <a:xfrm>
            <a:off x="7315200" y="510235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Cảnh báo qua Telegram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Nhắn vào nhóm chat khi bình cạn nước hoặc thiết bị mất kết nối quá 5 phút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6"/>
                </a:solidFill>
              </a:rPr>
              <a:t>Dữ liệu đi lên và lệnh đi xuống đều chạy ổn định, kiểm chứng trên mô phỏng Wokwi với broker và dashboard thật</a:t>
            </a:r>
            <a:endParaRPr lang="en-US" sz="1800" dirty="0"/>
          </a:p>
        </p:txBody>
      </p:sp>
      <p:sp>
        <p:nvSpPr>
          <p:cNvPr id="4" name="close-stat1"/>
          <p:cNvSpPr txBox="1"/>
          <p:nvPr/>
        </p:nvSpPr>
        <p:spPr>
          <a:xfrm>
            <a:off x="7315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199/199</a:t>
            </a:r>
            <a:endParaRPr lang="en-US" sz="4000" dirty="0"/>
          </a:p>
        </p:txBody>
      </p:sp>
      <p:sp>
        <p:nvSpPr>
          <p:cNvPr id="5" name="close-stat1-label"/>
          <p:cNvSpPr txBox="1"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lần đo gửi lên server khớp đúng số trên thiết bị (chạy liên tục 12 phút)</a:t>
            </a:r>
            <a:endParaRPr lang="en-US" sz="1400" dirty="0"/>
          </a:p>
        </p:txBody>
      </p:sp>
      <p:sp>
        <p:nvSpPr>
          <p:cNvPr id="6" name="close-stat2"/>
          <p:cNvSpPr txBox="1"/>
          <p:nvPr/>
        </p:nvSpPr>
        <p:spPr>
          <a:xfrm>
            <a:off x="34747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7" name="close-stat2-label"/>
          <p:cNvSpPr txBox="1"/>
          <p:nvPr/>
        </p:nvSpPr>
        <p:spPr>
          <a:xfrm>
            <a:off x="34747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tình huống điều khiển chạy đúng, kể cả lúc cạn nước và mất mạng</a:t>
            </a:r>
            <a:endParaRPr lang="en-US" sz="1400" dirty="0"/>
          </a:p>
        </p:txBody>
      </p:sp>
      <p:sp>
        <p:nvSpPr>
          <p:cNvPr id="8" name="close-stat3"/>
          <p:cNvSpPr txBox="1"/>
          <p:nvPr/>
        </p:nvSpPr>
        <p:spPr>
          <a:xfrm>
            <a:off x="62179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3/3</a:t>
            </a:r>
            <a:endParaRPr lang="en-US" sz="4000" dirty="0"/>
          </a:p>
        </p:txBody>
      </p:sp>
      <p:sp>
        <p:nvSpPr>
          <p:cNvPr id="9" name="close-stat3-label"/>
          <p:cNvSpPr txBox="1"/>
          <p:nvPr/>
        </p:nvSpPr>
        <p:spPr>
          <a:xfrm>
            <a:off x="62179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lần chạy lại toàn bộ đều đạt, kết quả giống nhau</a:t>
            </a:r>
            <a:endParaRPr lang="en-US" sz="1400" dirty="0"/>
          </a:p>
        </p:txBody>
      </p:sp>
      <p:sp>
        <p:nvSpPr>
          <p:cNvPr id="10" name="close-stat4"/>
          <p:cNvSpPr txBox="1"/>
          <p:nvPr/>
        </p:nvSpPr>
        <p:spPr>
          <a:xfrm>
            <a:off x="89611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~0,6 s</a:t>
            </a:r>
            <a:endParaRPr lang="en-US" sz="4000" dirty="0"/>
          </a:p>
        </p:txBody>
      </p:sp>
      <p:sp>
        <p:nvSpPr>
          <p:cNvPr id="11" name="close-stat4-label"/>
          <p:cNvSpPr txBox="1"/>
          <p:nvPr/>
        </p:nvSpPr>
        <p:spPr>
          <a:xfrm>
            <a:off x="89611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từ lúc bấm nút đến khi thấy thiết bị xác nhận</a:t>
            </a:r>
            <a:endParaRPr lang="en-US" sz="1400" dirty="0"/>
          </a:p>
        </p:txBody>
      </p:sp>
      <p:sp>
        <p:nvSpPr>
          <p:cNvPr id="12" name="close-next-title"/>
          <p:cNvSpPr txBox="1"/>
          <p:nvPr/>
        </p:nvSpPr>
        <p:spPr>
          <a:xfrm>
            <a:off x="731520" y="4069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2000" dirty="0"/>
          </a:p>
        </p:txBody>
      </p:sp>
      <p:sp>
        <p:nvSpPr>
          <p:cNvPr id="13" name="close-next1-circle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close-nex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4784141"/>
            <a:ext cx="307238" cy="307238"/>
          </a:xfrm>
          <a:prstGeom prst="rect">
            <a:avLst/>
          </a:prstGeom>
        </p:spPr>
      </p:pic>
      <p:sp>
        <p:nvSpPr>
          <p:cNvPr id="15" name="close-next1-text"/>
          <p:cNvSpPr txBox="1"/>
          <p:nvPr/>
        </p:nvSpPr>
        <p:spPr>
          <a:xfrm>
            <a:off x="14630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Chạy trên board ESP32-S3 thật thay cho mô phỏng</a:t>
            </a:r>
            <a:endParaRPr lang="en-US" sz="1400" dirty="0"/>
          </a:p>
        </p:txBody>
      </p:sp>
      <p:sp>
        <p:nvSpPr>
          <p:cNvPr id="16" name="close-next2-circle"/>
          <p:cNvSpPr/>
          <p:nvPr/>
        </p:nvSpPr>
        <p:spPr>
          <a:xfrm>
            <a:off x="43891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close-next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821" y="4784141"/>
            <a:ext cx="307238" cy="307238"/>
          </a:xfrm>
          <a:prstGeom prst="rect">
            <a:avLst/>
          </a:prstGeom>
        </p:spPr>
      </p:pic>
      <p:sp>
        <p:nvSpPr>
          <p:cNvPr id="18" name="close-next2-text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Dùng broker riêng có mật khẩu và mã hóa</a:t>
            </a:r>
            <a:endParaRPr lang="en-US" sz="1400" dirty="0"/>
          </a:p>
        </p:txBody>
      </p:sp>
      <p:sp>
        <p:nvSpPr>
          <p:cNvPr id="19" name="close-next3-circle"/>
          <p:cNvSpPr/>
          <p:nvPr/>
        </p:nvSpPr>
        <p:spPr>
          <a:xfrm>
            <a:off x="80467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close-next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4784141"/>
            <a:ext cx="307238" cy="307238"/>
          </a:xfrm>
          <a:prstGeom prst="rect">
            <a:avLst/>
          </a:prstGeom>
        </p:spPr>
      </p:pic>
      <p:sp>
        <p:nvSpPr>
          <p:cNvPr id="21" name="close-next3-text"/>
          <p:cNvSpPr txBox="1"/>
          <p:nvPr/>
        </p:nvSpPr>
        <p:spPr>
          <a:xfrm>
            <a:off x="87782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Lưu dữ liệu lâu dài để xem xu hướng theo mùa</a:t>
            </a:r>
            <a:endParaRPr lang="en-US" sz="1400" dirty="0"/>
          </a:p>
        </p:txBody>
      </p:sp>
      <p:sp>
        <p:nvSpPr>
          <p:cNvPr id="22" name="close-thanks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FE3D6"/>
                </a:solidFill>
              </a:rPr>
              <a:t>Cảm ơn thầy cô và các bạn đã lắng nghe!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 Garden">
  <a:themeElements>
    <a:clrScheme name="Orchid Garden">
      <a:dk1>
        <a:srgbClr val="1C2B22"/>
      </a:dk1>
      <a:lt1>
        <a:srgbClr val="FFFFFF"/>
      </a:lt1>
      <a:dk2>
        <a:srgbClr val="17402C"/>
      </a:dk2>
      <a:lt2>
        <a:srgbClr val="EEF4EF"/>
      </a:lt2>
      <a:accent1>
        <a:srgbClr val="2E7D4F"/>
      </a:accent1>
      <a:accent2>
        <a:srgbClr val="B5367A"/>
      </a:accent2>
      <a:accent3>
        <a:srgbClr val="D98E04"/>
      </a:accent3>
      <a:accent4>
        <a:srgbClr val="C0392B"/>
      </a:accent4>
      <a:accent5>
        <a:srgbClr val="5B7F6B"/>
      </a:accent5>
      <a:accent6>
        <a:srgbClr val="8FBF9F"/>
      </a:accent6>
      <a:hlink>
        <a:srgbClr val="2E7D4F"/>
      </a:hlink>
      <a:folHlink>
        <a:srgbClr val="5B7F6B"/>
      </a:folHlink>
    </a:clrScheme>
    <a:fontScheme name="Orchid Gard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Kiến trúc hệ thống vườn lan IoT</dc:title>
  <dc:subject>PptxGenJS Presentation</dc:subject>
  <dc:creator>Nhóm Orchid</dc:creator>
  <cp:lastModifiedBy>Nhóm Orchid</cp:lastModifiedBy>
  <cp:revision>1</cp:revision>
  <dcterms:created xsi:type="dcterms:W3CDTF">2026-10-24T00:46:04Z</dcterms:created>
  <dcterms:modified xsi:type="dcterms:W3CDTF">2026-10-24T00:46:04Z</dcterms:modified>
</cp:coreProperties>
</file>