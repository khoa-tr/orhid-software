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f506ea04-fbd8-8b2a-35e9-a6a53d80c806}">
          <p14:sldIdLst>
            <p14:sldId id="256"/>
            <p14:sldId id="257"/>
          </p14:sldIdLst>
        </p14:section>
        <p14:section name="Part 1: Device" id="{698e0f54-7701-bacd-e204-6cb29022f4ae}">
          <p14:sldIdLst>
            <p14:sldId id="258"/>
          </p14:sldIdLst>
        </p14:section>
        <p14:section name="Part 2: MQTT" id="{32fb6d92-c4ac-3ee5-ab86-7c278b06ca82}">
          <p14:sldIdLst>
            <p14:sldId id="259"/>
          </p14:sldIdLst>
        </p14:section>
        <p14:section name="Part 3: Web Server App" id="{a0f102c8-0d42-eeb5-9f00-c4eea09121a4}">
          <p14:sldIdLst>
            <p14:sldId id="260"/>
            <p14:sldId id="261"/>
          </p14:sldIdLst>
        </p14:section>
        <p14:section name="Kết luận" id="{978a9aeb-24d2-990f-a495-be8215f359bb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3 phần của hệ thống: thiết bị ESP32 tại vườn, tầng MQTT trung gian và ứng dụng Node-RED điều hành.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bài toán chăm lan, giải pháp và 4 tầng kiến trúc. Ba phần tiếp theo đi lần lượt từ tầng thiết bị lên tầng ứng dụng.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Khung trái: 3 cảm biến và 3 relay, kèm chân GPIO trong diagram.json. Khung phải: Collect task đọc và lọc dữ liệu, Control task chạy FSM phun sương với khóa an toàn nước cạn và lệnh tay có 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dịch vụ trên MQTT. Topic và payload đã chốt từ tuần 8. Mỗi lệnh đều có request_id để ghép ACK; firmware luôn là lớp an toàn cuối cùng.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Bên trái: cách dashboard hiển thị dữ liệu và trạng thái kết nối. Bên phải: toàn bộ sự kiện ghi vào orchid-history.jsonl, dùng làm bằng chứng nghiệm thu.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Bên trái: chế độ AUTO/MANUAL, các khóa nút và 3 vai trò. Bên phải: 2 luật tự động chính và cảnh báo 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Tóm tắt kết quả nghiệm thu tuần 8-9 (số liệu lấy từ test-results/week8-m4 và week9-rerun) và hướng phát triển.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4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3D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74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i="1" dirty="0">
                <a:solidFill>
                  <a:srgbClr val="CFE3D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i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Vườn lan thông minh IoT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6"/>
                </a:solidFill>
              </a:rPr>
              <a:t>Kiến trúc hệ thống: thiết bị biên, dịch vụ MQTT và ứng dụng web điều hành</a:t>
            </a:r>
            <a:endParaRPr lang="en-US" sz="2000" dirty="0"/>
          </a:p>
        </p:txBody>
      </p:sp>
      <p:sp>
        <p:nvSpPr>
          <p:cNvPr id="4" name="cover-part1-circle"/>
          <p:cNvSpPr/>
          <p:nvPr/>
        </p:nvSpPr>
        <p:spPr>
          <a:xfrm>
            <a:off x="731520" y="45720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over-part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4732934"/>
            <a:ext cx="409651" cy="409651"/>
          </a:xfrm>
          <a:prstGeom prst="rect">
            <a:avLst/>
          </a:prstGeom>
        </p:spPr>
      </p:pic>
      <p:sp>
        <p:nvSpPr>
          <p:cNvPr id="6" name="cover-part1-text"/>
          <p:cNvSpPr txBox="1"/>
          <p:nvPr/>
        </p:nvSpPr>
        <p:spPr>
          <a:xfrm>
            <a:off x="1645920" y="4617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</a:rPr>
              <a:t>Part 1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Device (ESP32)</a:t>
            </a:r>
            <a:endParaRPr lang="en-US" sz="1400" dirty="0"/>
          </a:p>
        </p:txBody>
      </p:sp>
      <p:sp>
        <p:nvSpPr>
          <p:cNvPr id="7" name="cover-part2-circle"/>
          <p:cNvSpPr/>
          <p:nvPr/>
        </p:nvSpPr>
        <p:spPr>
          <a:xfrm>
            <a:off x="4297680" y="45720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cover-part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14" y="4732934"/>
            <a:ext cx="409651" cy="409651"/>
          </a:xfrm>
          <a:prstGeom prst="rect">
            <a:avLst/>
          </a:prstGeom>
        </p:spPr>
      </p:pic>
      <p:sp>
        <p:nvSpPr>
          <p:cNvPr id="9" name="cover-part2-text"/>
          <p:cNvSpPr txBox="1"/>
          <p:nvPr/>
        </p:nvSpPr>
        <p:spPr>
          <a:xfrm>
            <a:off x="5212080" y="4617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</a:rPr>
              <a:t>Part 2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MQTT Services</a:t>
            </a:r>
            <a:endParaRPr lang="en-US" sz="1400" dirty="0"/>
          </a:p>
        </p:txBody>
      </p:sp>
      <p:sp>
        <p:nvSpPr>
          <p:cNvPr id="10" name="cover-part3-circle"/>
          <p:cNvSpPr/>
          <p:nvPr/>
        </p:nvSpPr>
        <p:spPr>
          <a:xfrm>
            <a:off x="7863840" y="45720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cover-part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774" y="4732934"/>
            <a:ext cx="409651" cy="409651"/>
          </a:xfrm>
          <a:prstGeom prst="rect">
            <a:avLst/>
          </a:prstGeom>
        </p:spPr>
      </p:pic>
      <p:sp>
        <p:nvSpPr>
          <p:cNvPr id="12" name="cover-part3-text"/>
          <p:cNvSpPr txBox="1"/>
          <p:nvPr/>
        </p:nvSpPr>
        <p:spPr>
          <a:xfrm>
            <a:off x="8778240" y="4617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</a:rPr>
              <a:t>Part 3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Web Server App</a:t>
            </a:r>
            <a:endParaRPr lang="en-US" sz="1400" dirty="0"/>
          </a:p>
        </p:txBody>
      </p:sp>
      <p:pic>
        <p:nvPicPr>
          <p:cNvPr id="13" name="cover-leaf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509760" y="54864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và giải pháp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Tự động giữ vi khí hậu cho vườn lan, vẫn cho người chăm sóc giám sát và can thiệp từ xa</a:t>
            </a:r>
            <a:endParaRPr lang="en-US" sz="1600" dirty="0"/>
          </a:p>
        </p:txBody>
      </p:sp>
      <p:sp>
        <p:nvSpPr>
          <p:cNvPr id="4" name="intro-problem-card"/>
          <p:cNvSpPr/>
          <p:nvPr/>
        </p:nvSpPr>
        <p:spPr>
          <a:xfrm>
            <a:off x="548640" y="1645920"/>
            <a:ext cx="5440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ntro-problem-circle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ntro-problem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939442"/>
            <a:ext cx="281635" cy="281635"/>
          </a:xfrm>
          <a:prstGeom prst="rect">
            <a:avLst/>
          </a:prstGeom>
        </p:spPr>
      </p:pic>
      <p:sp>
        <p:nvSpPr>
          <p:cNvPr id="7" name="intro-problem-title"/>
          <p:cNvSpPr txBox="1"/>
          <p:nvPr/>
        </p:nvSpPr>
        <p:spPr>
          <a:xfrm>
            <a:off x="1417320" y="1892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</a:t>
            </a:r>
            <a:endParaRPr lang="en-US" sz="2000" dirty="0"/>
          </a:p>
        </p:txBody>
      </p:sp>
      <p:sp>
        <p:nvSpPr>
          <p:cNvPr id="8" name="intro-problem-body"/>
          <p:cNvSpPr txBox="1"/>
          <p:nvPr/>
        </p:nvSpPr>
        <p:spPr>
          <a:xfrm>
            <a:off x="777240" y="251460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Lan cần độ ẩm, nhiệt độ và ánh sáng ổn định; chăm tay dễ quên, dễ trễ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Phun quá nhiều hoặc để lá đọng nước lâu dễ gây thối nõn, nấm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Bơm chạy khi bình cạn nước có thể hỏng bơm</a:t>
            </a:r>
            <a:endParaRPr lang="en-US" sz="1500" dirty="0"/>
          </a:p>
        </p:txBody>
      </p:sp>
      <p:sp>
        <p:nvSpPr>
          <p:cNvPr id="9" name="intro-goal-card"/>
          <p:cNvSpPr/>
          <p:nvPr/>
        </p:nvSpPr>
        <p:spPr>
          <a:xfrm>
            <a:off x="6172200" y="1645920"/>
            <a:ext cx="5440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ntro-goal-circle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ntro-goal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1939442"/>
            <a:ext cx="281635" cy="281635"/>
          </a:xfrm>
          <a:prstGeom prst="rect">
            <a:avLst/>
          </a:prstGeom>
        </p:spPr>
      </p:pic>
      <p:sp>
        <p:nvSpPr>
          <p:cNvPr id="12" name="intro-goal-title"/>
          <p:cNvSpPr txBox="1"/>
          <p:nvPr/>
        </p:nvSpPr>
        <p:spPr>
          <a:xfrm>
            <a:off x="7040880" y="1892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endParaRPr lang="en-US" sz="2000" dirty="0"/>
          </a:p>
        </p:txBody>
      </p:sp>
      <p:sp>
        <p:nvSpPr>
          <p:cNvPr id="13" name="intro-goal-body"/>
          <p:cNvSpPr txBox="1"/>
          <p:nvPr/>
        </p:nvSpPr>
        <p:spPr>
          <a:xfrm>
            <a:off x="6400800" y="251460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ESP32 tự đo và điều khiển phun, quạt, đèn ngay tại vườn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theo dõi thời gian thực, điều khiển tay có xác nhận (ACK)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Khóa an toàn nằm ở firmware: mất mạng vẫn chạy AUTO an toàn</a:t>
            </a:r>
            <a:endParaRPr lang="en-US" sz="1500" dirty="0"/>
          </a:p>
        </p:txBody>
      </p:sp>
      <p:sp>
        <p:nvSpPr>
          <p:cNvPr id="14" name="intro-layers-label"/>
          <p:cNvSpPr txBox="1"/>
          <p:nvPr/>
        </p:nvSpPr>
        <p:spPr>
          <a:xfrm>
            <a:off x="5486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Kiến trúc 4 tầng</a:t>
            </a:r>
            <a:endParaRPr lang="en-US" sz="1300" dirty="0"/>
          </a:p>
        </p:txBody>
      </p:sp>
      <p:sp>
        <p:nvSpPr>
          <p:cNvPr id="15" name="intro-layer1"/>
          <p:cNvSpPr/>
          <p:nvPr/>
        </p:nvSpPr>
        <p:spPr>
          <a:xfrm>
            <a:off x="548640" y="4983480"/>
            <a:ext cx="2514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ntro-layer1-circle"/>
          <p:cNvSpPr/>
          <p:nvPr/>
        </p:nvSpPr>
        <p:spPr>
          <a:xfrm>
            <a:off x="685800" y="5166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ntro-layer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5287061"/>
            <a:ext cx="307238" cy="307238"/>
          </a:xfrm>
          <a:prstGeom prst="rect">
            <a:avLst/>
          </a:prstGeom>
        </p:spPr>
      </p:pic>
      <p:sp>
        <p:nvSpPr>
          <p:cNvPr id="18" name="intro-layer1-text"/>
          <p:cNvSpPr txBox="1"/>
          <p:nvPr/>
        </p:nvSpPr>
        <p:spPr>
          <a:xfrm>
            <a:off x="1371600" y="5120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Thiết bị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ESP32 + cảm biến + relay</a:t>
            </a:r>
            <a:endParaRPr lang="en-US" sz="1400" dirty="0"/>
          </a:p>
        </p:txBody>
      </p:sp>
      <p:sp>
        <p:nvSpPr>
          <p:cNvPr id="19" name="intro-layer-arrow1"/>
          <p:cNvSpPr/>
          <p:nvPr/>
        </p:nvSpPr>
        <p:spPr>
          <a:xfrm>
            <a:off x="3090672" y="5321808"/>
            <a:ext cx="274320" cy="237744"/>
          </a:xfrm>
          <a:prstGeom prst="left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intro-layer2"/>
          <p:cNvSpPr/>
          <p:nvPr/>
        </p:nvSpPr>
        <p:spPr>
          <a:xfrm>
            <a:off x="3383280" y="4983480"/>
            <a:ext cx="2514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ntro-layer2-circle"/>
          <p:cNvSpPr/>
          <p:nvPr/>
        </p:nvSpPr>
        <p:spPr>
          <a:xfrm>
            <a:off x="3520440" y="5166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ntro-layer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141" y="5287061"/>
            <a:ext cx="307238" cy="307238"/>
          </a:xfrm>
          <a:prstGeom prst="rect">
            <a:avLst/>
          </a:prstGeom>
        </p:spPr>
      </p:pic>
      <p:sp>
        <p:nvSpPr>
          <p:cNvPr id="23" name="intro-layer2-text"/>
          <p:cNvSpPr txBox="1"/>
          <p:nvPr/>
        </p:nvSpPr>
        <p:spPr>
          <a:xfrm>
            <a:off x="4206240" y="5120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Truyền thông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MQTT broker.emqx.io</a:t>
            </a:r>
            <a:endParaRPr lang="en-US" sz="1400" dirty="0"/>
          </a:p>
        </p:txBody>
      </p:sp>
      <p:sp>
        <p:nvSpPr>
          <p:cNvPr id="24" name="intro-layer-arrow2"/>
          <p:cNvSpPr/>
          <p:nvPr/>
        </p:nvSpPr>
        <p:spPr>
          <a:xfrm>
            <a:off x="5925312" y="5321808"/>
            <a:ext cx="274320" cy="237744"/>
          </a:xfrm>
          <a:prstGeom prst="left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intro-layer3"/>
          <p:cNvSpPr/>
          <p:nvPr/>
        </p:nvSpPr>
        <p:spPr>
          <a:xfrm>
            <a:off x="6217920" y="4983480"/>
            <a:ext cx="2514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ntro-layer3-circle"/>
          <p:cNvSpPr/>
          <p:nvPr/>
        </p:nvSpPr>
        <p:spPr>
          <a:xfrm>
            <a:off x="6355080" y="5166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ntro-layer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781" y="5287061"/>
            <a:ext cx="307238" cy="307238"/>
          </a:xfrm>
          <a:prstGeom prst="rect">
            <a:avLst/>
          </a:prstGeom>
        </p:spPr>
      </p:pic>
      <p:sp>
        <p:nvSpPr>
          <p:cNvPr id="28" name="intro-layer3-text"/>
          <p:cNvSpPr txBox="1"/>
          <p:nvPr/>
        </p:nvSpPr>
        <p:spPr>
          <a:xfrm>
            <a:off x="7040880" y="5120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Xử lý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Node-RED: luật, gateway, log</a:t>
            </a:r>
            <a:endParaRPr lang="en-US" sz="1400" dirty="0"/>
          </a:p>
        </p:txBody>
      </p:sp>
      <p:sp>
        <p:nvSpPr>
          <p:cNvPr id="29" name="intro-layer-arrow3"/>
          <p:cNvSpPr/>
          <p:nvPr/>
        </p:nvSpPr>
        <p:spPr>
          <a:xfrm>
            <a:off x="8759952" y="5321808"/>
            <a:ext cx="274320" cy="237744"/>
          </a:xfrm>
          <a:prstGeom prst="left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intro-layer4"/>
          <p:cNvSpPr/>
          <p:nvPr/>
        </p:nvSpPr>
        <p:spPr>
          <a:xfrm>
            <a:off x="9052560" y="4983480"/>
            <a:ext cx="2514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ntro-layer4-circle"/>
          <p:cNvSpPr/>
          <p:nvPr/>
        </p:nvSpPr>
        <p:spPr>
          <a:xfrm>
            <a:off x="9189720" y="51663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intro-layer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0421" y="5287061"/>
            <a:ext cx="307238" cy="307238"/>
          </a:xfrm>
          <a:prstGeom prst="rect">
            <a:avLst/>
          </a:prstGeom>
        </p:spPr>
      </p:pic>
      <p:sp>
        <p:nvSpPr>
          <p:cNvPr id="33" name="intro-layer4-text"/>
          <p:cNvSpPr txBox="1"/>
          <p:nvPr/>
        </p:nvSpPr>
        <p:spPr>
          <a:xfrm>
            <a:off x="9875520" y="5120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Ứng dụng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Dashboard + Telegram</a:t>
            </a:r>
            <a:endParaRPr lang="en-US" sz="1400" dirty="0"/>
          </a:p>
        </p:txBody>
      </p:sp>
      <p:sp>
        <p:nvSpPr>
          <p:cNvPr id="34" name="intro-layers-note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Mũi tên hai chiều: uplink (dữ liệu cảm biến lên) và downlink (lệnh xuống, ACK về)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Device (ESP32)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Thiết bị trạm đo và điều khiển vi khí hậu vườn lan tại biên (Edge Device)</a:t>
            </a:r>
            <a:endParaRPr lang="en-US" sz="1600" dirty="0"/>
          </a:p>
        </p:txBody>
      </p:sp>
      <p:sp>
        <p:nvSpPr>
          <p:cNvPr id="4" name="p1-hw-card"/>
          <p:cNvSpPr/>
          <p:nvPr/>
        </p:nvSpPr>
        <p:spPr>
          <a:xfrm>
            <a:off x="548640" y="1600200"/>
            <a:ext cx="51206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1-hw-title"/>
          <p:cNvSpPr txBox="1"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 &amp; Actuators</a:t>
            </a:r>
            <a:endParaRPr lang="en-US" sz="2000" dirty="0"/>
          </a:p>
        </p:txBody>
      </p:sp>
      <p:sp>
        <p:nvSpPr>
          <p:cNvPr id="6" name="p1-sensor-label"/>
          <p:cNvSpPr txBox="1"/>
          <p:nvPr/>
        </p:nvSpPr>
        <p:spPr>
          <a:xfrm>
            <a:off x="82296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CẢM BIẾN</a:t>
            </a:r>
            <a:endParaRPr lang="en-US" sz="1100" dirty="0"/>
          </a:p>
        </p:txBody>
      </p:sp>
      <p:sp>
        <p:nvSpPr>
          <p:cNvPr id="7" name="p1-actuator-label"/>
          <p:cNvSpPr txBox="1"/>
          <p:nvPr/>
        </p:nvSpPr>
        <p:spPr>
          <a:xfrm>
            <a:off x="82296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CƠ CẤU CHẤP HÀNH (3 RELAY)</a:t>
            </a:r>
            <a:endParaRPr lang="en-US" sz="1100" dirty="0"/>
          </a:p>
        </p:txBody>
      </p:sp>
      <p:sp>
        <p:nvSpPr>
          <p:cNvPr id="8" name="p1-hw0-circle"/>
          <p:cNvSpPr/>
          <p:nvPr/>
        </p:nvSpPr>
        <p:spPr>
          <a:xfrm>
            <a:off x="82296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p1-hw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6" y="2650846"/>
            <a:ext cx="230429" cy="230429"/>
          </a:xfrm>
          <a:prstGeom prst="rect">
            <a:avLst/>
          </a:prstGeom>
        </p:spPr>
      </p:pic>
      <p:sp>
        <p:nvSpPr>
          <p:cNvPr id="10" name="p1-hw0-text"/>
          <p:cNvSpPr txBox="1"/>
          <p:nvPr/>
        </p:nvSpPr>
        <p:spPr>
          <a:xfrm>
            <a:off x="1371600" y="25237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DHT22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GPIO15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Nhiệt độ và độ ẩm không khí</a:t>
            </a:r>
            <a:endParaRPr lang="en-US" sz="1400" dirty="0"/>
          </a:p>
        </p:txBody>
      </p:sp>
      <p:sp>
        <p:nvSpPr>
          <p:cNvPr id="11" name="p1-hw1-circle"/>
          <p:cNvSpPr/>
          <p:nvPr/>
        </p:nvSpPr>
        <p:spPr>
          <a:xfrm>
            <a:off x="822960" y="3108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p1-hw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6" y="3199486"/>
            <a:ext cx="230429" cy="230429"/>
          </a:xfrm>
          <a:prstGeom prst="rect">
            <a:avLst/>
          </a:prstGeom>
        </p:spPr>
      </p:pic>
      <p:sp>
        <p:nvSpPr>
          <p:cNvPr id="13" name="p1-hw1-text"/>
          <p:cNvSpPr txBox="1"/>
          <p:nvPr/>
        </p:nvSpPr>
        <p:spPr>
          <a:xfrm>
            <a:off x="1371600" y="30723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LDR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GPIO34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Độ rọi ánh sáng (ADC)</a:t>
            </a:r>
            <a:endParaRPr lang="en-US" sz="1400" dirty="0"/>
          </a:p>
        </p:txBody>
      </p:sp>
      <p:sp>
        <p:nvSpPr>
          <p:cNvPr id="14" name="p1-hw2-circle"/>
          <p:cNvSpPr/>
          <p:nvPr/>
        </p:nvSpPr>
        <p:spPr>
          <a:xfrm>
            <a:off x="822960" y="3657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1-hw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6" y="3748126"/>
            <a:ext cx="230429" cy="230429"/>
          </a:xfrm>
          <a:prstGeom prst="rect">
            <a:avLst/>
          </a:prstGeom>
        </p:spPr>
      </p:pic>
      <p:sp>
        <p:nvSpPr>
          <p:cNvPr id="16" name="p1-hw2-text"/>
          <p:cNvSpPr txBox="1"/>
          <p:nvPr/>
        </p:nvSpPr>
        <p:spPr>
          <a:xfrm>
            <a:off x="1371600" y="36210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Mực nước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GPIO35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Mực nước bình phun sương (ADC)</a:t>
            </a:r>
            <a:endParaRPr lang="en-US" sz="1400" dirty="0"/>
          </a:p>
        </p:txBody>
      </p:sp>
      <p:sp>
        <p:nvSpPr>
          <p:cNvPr id="17" name="p1-hw3-circle"/>
          <p:cNvSpPr/>
          <p:nvPr/>
        </p:nvSpPr>
        <p:spPr>
          <a:xfrm>
            <a:off x="822960" y="45262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p1-hw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6" y="4616806"/>
            <a:ext cx="230429" cy="230429"/>
          </a:xfrm>
          <a:prstGeom prst="rect">
            <a:avLst/>
          </a:prstGeom>
        </p:spPr>
      </p:pic>
      <p:sp>
        <p:nvSpPr>
          <p:cNvPr id="19" name="p1-hw3-text"/>
          <p:cNvSpPr txBox="1"/>
          <p:nvPr/>
        </p:nvSpPr>
        <p:spPr>
          <a:xfrm>
            <a:off x="1371600" y="44897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Relay phun sương 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GPIO25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Bơm tạo sương, giữ ẩm và làm mát</a:t>
            </a:r>
            <a:endParaRPr lang="en-US" sz="1400" dirty="0"/>
          </a:p>
        </p:txBody>
      </p:sp>
      <p:sp>
        <p:nvSpPr>
          <p:cNvPr id="20" name="p1-hw4-circle"/>
          <p:cNvSpPr/>
          <p:nvPr/>
        </p:nvSpPr>
        <p:spPr>
          <a:xfrm>
            <a:off x="822960" y="5074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p1-hw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86" y="5165446"/>
            <a:ext cx="230429" cy="230429"/>
          </a:xfrm>
          <a:prstGeom prst="rect">
            <a:avLst/>
          </a:prstGeom>
        </p:spPr>
      </p:pic>
      <p:sp>
        <p:nvSpPr>
          <p:cNvPr id="22" name="p1-hw4-text"/>
          <p:cNvSpPr txBox="1"/>
          <p:nvPr/>
        </p:nvSpPr>
        <p:spPr>
          <a:xfrm>
            <a:off x="1371600" y="50383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Relay quạt 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GPIO26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Thông gió, làm ráo nước đọng trên lá</a:t>
            </a:r>
            <a:endParaRPr lang="en-US" sz="1400" dirty="0"/>
          </a:p>
        </p:txBody>
      </p:sp>
      <p:sp>
        <p:nvSpPr>
          <p:cNvPr id="23" name="p1-hw5-circle"/>
          <p:cNvSpPr/>
          <p:nvPr/>
        </p:nvSpPr>
        <p:spPr>
          <a:xfrm>
            <a:off x="822960" y="5623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p1-hw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486" y="5714086"/>
            <a:ext cx="230429" cy="230429"/>
          </a:xfrm>
          <a:prstGeom prst="rect">
            <a:avLst/>
          </a:prstGeom>
        </p:spPr>
      </p:pic>
      <p:sp>
        <p:nvSpPr>
          <p:cNvPr id="25" name="p1-hw5-text"/>
          <p:cNvSpPr txBox="1"/>
          <p:nvPr/>
        </p:nvSpPr>
        <p:spPr>
          <a:xfrm>
            <a:off x="1371600" y="55869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Relay đèn 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GPIO27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Đèn LED bù sáng sinh trưởng</a:t>
            </a:r>
            <a:endParaRPr lang="en-US" sz="1400" dirty="0"/>
          </a:p>
        </p:txBody>
      </p:sp>
      <p:sp>
        <p:nvSpPr>
          <p:cNvPr id="26" name="p1-fw-title"/>
          <p:cNvSpPr txBox="1"/>
          <p:nvPr/>
        </p:nvSpPr>
        <p:spPr>
          <a:xfrm>
            <a:off x="6035040" y="1645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Firmware: 2 tác vụ cốt lõi</a:t>
            </a:r>
            <a:endParaRPr lang="en-US" sz="2000" dirty="0"/>
          </a:p>
        </p:txBody>
      </p:sp>
      <p:sp>
        <p:nvSpPr>
          <p:cNvPr id="27" name="p1-collect-card"/>
          <p:cNvSpPr/>
          <p:nvPr/>
        </p:nvSpPr>
        <p:spPr>
          <a:xfrm>
            <a:off x="6035040" y="2148840"/>
            <a:ext cx="2697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p1-collect-circle"/>
          <p:cNvSpPr/>
          <p:nvPr/>
        </p:nvSpPr>
        <p:spPr>
          <a:xfrm>
            <a:off x="6263640" y="2331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p1-collect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2432304"/>
            <a:ext cx="256032" cy="256032"/>
          </a:xfrm>
          <a:prstGeom prst="rect">
            <a:avLst/>
          </a:prstGeom>
        </p:spPr>
      </p:pic>
      <p:sp>
        <p:nvSpPr>
          <p:cNvPr id="30" name="p1-collect-title"/>
          <p:cNvSpPr txBox="1"/>
          <p:nvPr/>
        </p:nvSpPr>
        <p:spPr>
          <a:xfrm>
            <a:off x="681228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Collect Task</a:t>
            </a:r>
            <a:endParaRPr lang="en-US" sz="1600" dirty="0"/>
          </a:p>
        </p:txBody>
      </p:sp>
      <p:sp>
        <p:nvSpPr>
          <p:cNvPr id="31" name="p1-collect-body"/>
          <p:cNvSpPr txBox="1"/>
          <p:nvPr/>
        </p:nvSpPr>
        <p:spPr>
          <a:xfrm>
            <a:off x="626364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Đọc mỗi 2,5 s, non-blocking (không delay())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Lọc 2 lớp: loại xung đột biến + trung bình trượt 5 mẫu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DHT lỗi 3 lần liên tiếp → SENSOR_FAULT</a:t>
            </a:r>
            <a:endParaRPr lang="en-US" sz="1300" dirty="0"/>
          </a:p>
        </p:txBody>
      </p:sp>
      <p:sp>
        <p:nvSpPr>
          <p:cNvPr id="32" name="p1-control-card"/>
          <p:cNvSpPr/>
          <p:nvPr/>
        </p:nvSpPr>
        <p:spPr>
          <a:xfrm>
            <a:off x="8915400" y="2148840"/>
            <a:ext cx="2697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1-control-circle"/>
          <p:cNvSpPr/>
          <p:nvPr/>
        </p:nvSpPr>
        <p:spPr>
          <a:xfrm>
            <a:off x="9144000" y="2331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p1-control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584" y="2432304"/>
            <a:ext cx="256032" cy="256032"/>
          </a:xfrm>
          <a:prstGeom prst="rect">
            <a:avLst/>
          </a:prstGeom>
        </p:spPr>
      </p:pic>
      <p:sp>
        <p:nvSpPr>
          <p:cNvPr id="35" name="p1-control-title"/>
          <p:cNvSpPr txBox="1"/>
          <p:nvPr/>
        </p:nvSpPr>
        <p:spPr>
          <a:xfrm>
            <a:off x="969264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Task</a:t>
            </a:r>
            <a:endParaRPr lang="en-US" sz="1600" dirty="0"/>
          </a:p>
        </p:txBody>
      </p:sp>
      <p:sp>
        <p:nvSpPr>
          <p:cNvPr id="36" name="p1-control-body"/>
          <p:cNvSpPr txBox="1"/>
          <p:nvPr/>
        </p:nvSpPr>
        <p:spPr>
          <a:xfrm>
            <a:off x="914400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Máy trạng thái (FSM) cho bơm phun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Nước cạn (ADC &lt; 1200): ngắt bơm, từ chối mọi lệnh bật phun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Lệnh tay có TTL, hết giờ tự về AUTO</a:t>
            </a:r>
            <a:endParaRPr lang="en-US" sz="1300" dirty="0"/>
          </a:p>
        </p:txBody>
      </p:sp>
      <p:sp>
        <p:nvSpPr>
          <p:cNvPr id="37" name="p1-fsm-label"/>
          <p:cNvSpPr txBox="1"/>
          <p:nvPr/>
        </p:nvSpPr>
        <p:spPr>
          <a:xfrm>
            <a:off x="60350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FSM bơm phun sương</a:t>
            </a:r>
            <a:endParaRPr lang="en-US" sz="1300" dirty="0"/>
          </a:p>
        </p:txBody>
      </p:sp>
      <p:sp>
        <p:nvSpPr>
          <p:cNvPr id="38" name="p1-fsm-IDLE"/>
          <p:cNvSpPr/>
          <p:nvPr/>
        </p:nvSpPr>
        <p:spPr>
          <a:xfrm>
            <a:off x="6035040" y="502920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1-fsm-IDLE-text"/>
          <p:cNvSpPr txBox="1"/>
          <p:nvPr/>
        </p:nvSpPr>
        <p:spPr>
          <a:xfrm>
            <a:off x="603504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IDLE</a:t>
            </a:r>
            <a:endParaRPr lang="en-US" sz="1300" dirty="0"/>
          </a:p>
        </p:txBody>
      </p:sp>
      <p:sp>
        <p:nvSpPr>
          <p:cNvPr id="40" name="p1-fsm-arrow0"/>
          <p:cNvSpPr/>
          <p:nvPr/>
        </p:nvSpPr>
        <p:spPr>
          <a:xfrm>
            <a:off x="7543800" y="5138928"/>
            <a:ext cx="365760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p1-fsm-RUNNING"/>
          <p:cNvSpPr/>
          <p:nvPr/>
        </p:nvSpPr>
        <p:spPr>
          <a:xfrm>
            <a:off x="7955280" y="502920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p1-fsm-RUNNING-text"/>
          <p:cNvSpPr txBox="1"/>
          <p:nvPr/>
        </p:nvSpPr>
        <p:spPr>
          <a:xfrm>
            <a:off x="795528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RUNNING</a:t>
            </a:r>
            <a:endParaRPr lang="en-US" sz="1300" dirty="0"/>
          </a:p>
        </p:txBody>
      </p:sp>
      <p:sp>
        <p:nvSpPr>
          <p:cNvPr id="43" name="p1-fsm-arrow1"/>
          <p:cNvSpPr/>
          <p:nvPr/>
        </p:nvSpPr>
        <p:spPr>
          <a:xfrm>
            <a:off x="9464040" y="5138928"/>
            <a:ext cx="365760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4" name="p1-fsm-COOLDOWN"/>
          <p:cNvSpPr/>
          <p:nvPr/>
        </p:nvSpPr>
        <p:spPr>
          <a:xfrm>
            <a:off x="9875520" y="502920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p1-fsm-COOLDOWN-text"/>
          <p:cNvSpPr txBox="1"/>
          <p:nvPr/>
        </p:nvSpPr>
        <p:spPr>
          <a:xfrm>
            <a:off x="987552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COOLDOWN</a:t>
            </a:r>
            <a:endParaRPr lang="en-US" sz="1300" dirty="0"/>
          </a:p>
        </p:txBody>
      </p:sp>
      <p:sp>
        <p:nvSpPr>
          <p:cNvPr id="46" name="p1-fsm-back"/>
          <p:cNvSpPr txBox="1"/>
          <p:nvPr/>
        </p:nvSpPr>
        <p:spPr>
          <a:xfrm>
            <a:off x="9921240" y="5559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hết giờ nghỉ → IDLE</a:t>
            </a:r>
            <a:endParaRPr lang="en-US" sz="1100" dirty="0"/>
          </a:p>
        </p:txBody>
      </p:sp>
      <p:sp>
        <p:nvSpPr>
          <p:cNvPr id="47" name="p1-fsm-fault"/>
          <p:cNvSpPr/>
          <p:nvPr/>
        </p:nvSpPr>
        <p:spPr>
          <a:xfrm>
            <a:off x="6035040" y="5897880"/>
            <a:ext cx="5577840" cy="457200"/>
          </a:xfrm>
          <a:prstGeom prst="roundRect">
            <a:avLst>
              <a:gd name="adj" fmla="val 50000"/>
            </a:avLst>
          </a:prstGeom>
          <a:solidFill>
            <a:srgbClr val="FBE3E0"/>
          </a:solidFill>
          <a:ln w="12700">
            <a:solidFill>
              <a:srgbClr val="FBE3E0"/>
            </a:solidFill>
            <a:prstDash val="solid"/>
          </a:ln>
        </p:spPr>
      </p:sp>
      <p:sp>
        <p:nvSpPr>
          <p:cNvPr id="48" name="p1-fsm-fault-text"/>
          <p:cNvSpPr txBox="1"/>
          <p:nvPr/>
        </p:nvSpPr>
        <p:spPr>
          <a:xfrm>
            <a:off x="6217920" y="5897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WATER_LOCKOUT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hoặc </a:t>
            </a:r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SENSOR_FAULT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: vào từ mọi trạng thái, bơm tắt ngay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MQTT Services on Server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Tầng truyền thông trung gian qua broker broker.emqx.io:1883 · tiền tố topic garden/orchid/orchid-01/</a:t>
            </a:r>
            <a:endParaRPr lang="en-US" sz="1600" dirty="0"/>
          </a:p>
        </p:txBody>
      </p:sp>
      <p:sp>
        <p:nvSpPr>
          <p:cNvPr id="4" name="p2-svc1"/>
          <p:cNvSpPr/>
          <p:nvPr/>
        </p:nvSpPr>
        <p:spPr>
          <a:xfrm>
            <a:off x="548640" y="164592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2-svc1-circle"/>
          <p:cNvSpPr/>
          <p:nvPr/>
        </p:nvSpPr>
        <p:spPr>
          <a:xfrm>
            <a:off x="777240" y="18470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2-svc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957730"/>
            <a:ext cx="281635" cy="281635"/>
          </a:xfrm>
          <a:prstGeom prst="rect">
            <a:avLst/>
          </a:prstGeom>
        </p:spPr>
      </p:pic>
      <p:sp>
        <p:nvSpPr>
          <p:cNvPr id="7" name="p2-svc1-head"/>
          <p:cNvSpPr txBox="1"/>
          <p:nvPr/>
        </p:nvSpPr>
        <p:spPr>
          <a:xfrm>
            <a:off x="1417320" y="18105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1) Keep-Alive &amp; Availability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Giám sát trạm ESP32 còn sống hay không; báo ngay khi mất nguồn, mất mạng</a:t>
            </a:r>
            <a:endParaRPr lang="en-US" sz="1400" dirty="0"/>
          </a:p>
        </p:txBody>
      </p:sp>
      <p:sp>
        <p:nvSpPr>
          <p:cNvPr id="8" name="p2-svc1-steps"/>
          <p:cNvSpPr txBox="1"/>
          <p:nvPr/>
        </p:nvSpPr>
        <p:spPr>
          <a:xfrm>
            <a:off x="82296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ESP32 publish "online" (retained)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LWT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Broker tự phát "offline" khi TCP đứt đột ngột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Hiện ONLINE / STALE (&gt; 15 s không có tin) / OFFLINE</a:t>
            </a:r>
            <a:endParaRPr lang="en-US" sz="1400" dirty="0"/>
          </a:p>
        </p:txBody>
      </p:sp>
      <p:sp>
        <p:nvSpPr>
          <p:cNvPr id="9" name="p2-svc2"/>
          <p:cNvSpPr/>
          <p:nvPr/>
        </p:nvSpPr>
        <p:spPr>
          <a:xfrm>
            <a:off x="6172200" y="164592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2-svc2-circle"/>
          <p:cNvSpPr/>
          <p:nvPr/>
        </p:nvSpPr>
        <p:spPr>
          <a:xfrm>
            <a:off x="6400800" y="18470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p2-svc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1957730"/>
            <a:ext cx="281635" cy="281635"/>
          </a:xfrm>
          <a:prstGeom prst="rect">
            <a:avLst/>
          </a:prstGeom>
        </p:spPr>
      </p:pic>
      <p:sp>
        <p:nvSpPr>
          <p:cNvPr id="12" name="p2-svc2-head"/>
          <p:cNvSpPr txBox="1"/>
          <p:nvPr/>
        </p:nvSpPr>
        <p:spPr>
          <a:xfrm>
            <a:off x="7040880" y="18105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2) Collect (Sensors Data)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Nhận dữ liệu cảm biến định kỳ và trạng thái thực của relay</a:t>
            </a:r>
            <a:endParaRPr lang="en-US" sz="1400" dirty="0"/>
          </a:p>
        </p:txBody>
      </p:sp>
      <p:sp>
        <p:nvSpPr>
          <p:cNvPr id="13" name="p2-svc2-steps"/>
          <p:cNvSpPr txBox="1"/>
          <p:nvPr/>
        </p:nvSpPr>
        <p:spPr>
          <a:xfrm>
            <a:off x="644652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Mỗi 2,5 s: temperature_c, humidity_pct, light_adc, water_adc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Trạng thái relay, FSM, ngưỡng (retained)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Subscribe, bóc tách JSON, cập nhật dashboard</a:t>
            </a:r>
            <a:endParaRPr lang="en-US" sz="1400" dirty="0"/>
          </a:p>
        </p:txBody>
      </p:sp>
      <p:sp>
        <p:nvSpPr>
          <p:cNvPr id="14" name="p2-svc3"/>
          <p:cNvSpPr/>
          <p:nvPr/>
        </p:nvSpPr>
        <p:spPr>
          <a:xfrm>
            <a:off x="548640" y="40690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2-svc3-circle"/>
          <p:cNvSpPr/>
          <p:nvPr/>
        </p:nvSpPr>
        <p:spPr>
          <a:xfrm>
            <a:off x="777240" y="42702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p2-svc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380890"/>
            <a:ext cx="281635" cy="281635"/>
          </a:xfrm>
          <a:prstGeom prst="rect">
            <a:avLst/>
          </a:prstGeom>
        </p:spPr>
      </p:pic>
      <p:sp>
        <p:nvSpPr>
          <p:cNvPr id="17" name="p2-svc3-head"/>
          <p:cNvSpPr txBox="1"/>
          <p:nvPr/>
        </p:nvSpPr>
        <p:spPr>
          <a:xfrm>
            <a:off x="1417320" y="423367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3) Control &amp; Safety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Gửi lệnh điều khiển hai chiều và nhận xác nhận (ACK)</a:t>
            </a:r>
            <a:endParaRPr lang="en-US" sz="1400" dirty="0"/>
          </a:p>
        </p:txBody>
      </p:sp>
      <p:sp>
        <p:nvSpPr>
          <p:cNvPr id="18" name="p2-svc3-steps"/>
          <p:cNvSpPr txBox="1"/>
          <p:nvPr/>
        </p:nvSpPr>
        <p:spPr>
          <a:xfrm>
            <a:off x="822960" y="5029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cmd/mist|fan|light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request_id, mode (AUTO/MANUAL), state, ttl_s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APPLIED hoặc REJECTED: WATER_LOCKOUT, MIST_COOLDOWN, SENSOR_FAULT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Ghép theo request_id; quá 6 s báo NO_ACK</a:t>
            </a:r>
            <a:endParaRPr lang="en-US" sz="1400" dirty="0"/>
          </a:p>
        </p:txBody>
      </p:sp>
      <p:sp>
        <p:nvSpPr>
          <p:cNvPr id="19" name="p2-svc4"/>
          <p:cNvSpPr/>
          <p:nvPr/>
        </p:nvSpPr>
        <p:spPr>
          <a:xfrm>
            <a:off x="6172200" y="40690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2-svc4-circle"/>
          <p:cNvSpPr/>
          <p:nvPr/>
        </p:nvSpPr>
        <p:spPr>
          <a:xfrm>
            <a:off x="6400800" y="427024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p2-svc4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4380890"/>
            <a:ext cx="281635" cy="281635"/>
          </a:xfrm>
          <a:prstGeom prst="rect">
            <a:avLst/>
          </a:prstGeom>
        </p:spPr>
      </p:pic>
      <p:sp>
        <p:nvSpPr>
          <p:cNvPr id="22" name="p2-svc4-head"/>
          <p:cNvSpPr txBox="1"/>
          <p:nvPr/>
        </p:nvSpPr>
        <p:spPr>
          <a:xfrm>
            <a:off x="7040880" y="423367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4) Dynamic Config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Đổi ngưỡng nhiệt độ, độ ẩm, ánh sáng, mực nước từ xa, không cần nạp lại code</a:t>
            </a:r>
            <a:endParaRPr lang="en-US" sz="1400" dirty="0"/>
          </a:p>
        </p:txBody>
      </p:sp>
      <p:sp>
        <p:nvSpPr>
          <p:cNvPr id="23" name="p2-svc4-steps"/>
          <p:cNvSpPr txBox="1"/>
          <p:nvPr/>
        </p:nvSpPr>
        <p:spPr>
          <a:xfrm>
            <a:off x="6446520" y="5029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Server gửi ngưỡng mới; ACK APPLIED CONFIG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ConfigLimits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 Firmware chặn ngưỡng ngoài vùng an toàn (cạn nước không thấp hơn 1200)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3: Web Server App – Giám sát và dữ liệu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Node-RED middleware + Dashboard 2.0: điều hành trung tâm, giám sát thời gian thực</a:t>
            </a:r>
            <a:endParaRPr lang="en-US" sz="1600" dirty="0"/>
          </a:p>
        </p:txBody>
      </p:sp>
      <p:sp>
        <p:nvSpPr>
          <p:cNvPr id="4" name="p3a-rep-circle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3a-rep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1756562"/>
            <a:ext cx="281635" cy="281635"/>
          </a:xfrm>
          <a:prstGeom prst="rect">
            <a:avLst/>
          </a:prstGeom>
        </p:spPr>
      </p:pic>
      <p:sp>
        <p:nvSpPr>
          <p:cNvPr id="6" name="p3a-rep-title"/>
          <p:cNvSpPr txBox="1"/>
          <p:nvPr/>
        </p:nvSpPr>
        <p:spPr>
          <a:xfrm>
            <a:off x="1188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 Representation</a:t>
            </a:r>
            <a:endParaRPr lang="en-US" sz="2000" dirty="0"/>
          </a:p>
        </p:txBody>
      </p:sp>
      <p:sp>
        <p:nvSpPr>
          <p:cNvPr id="7" name="p3a-rep-body"/>
          <p:cNvSpPr txBox="1"/>
          <p:nvPr/>
        </p:nvSpPr>
        <p:spPr>
          <a:xfrm>
            <a:off x="548640" y="23317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2.0 dùng được trên PC và điện thoại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Ô số trực tiếp: nhiệt độ (°C), độ ẩm (%), ADC ánh sáng, ADC nước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 biểu đồ lịch sử 1 giờ: nhiệt độ/độ ẩm và ánh sáng/nước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DHT hỏng hiện "DHT fault", không hiện số 0 giả</a:t>
            </a:r>
            <a:endParaRPr lang="en-US" sz="1500" dirty="0"/>
          </a:p>
        </p:txBody>
      </p:sp>
      <p:sp>
        <p:nvSpPr>
          <p:cNvPr id="8" name="p3a-conn-label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Trạng thái kết nối</a:t>
            </a:r>
            <a:endParaRPr lang="en-US" sz="1300" dirty="0"/>
          </a:p>
        </p:txBody>
      </p:sp>
      <p:sp>
        <p:nvSpPr>
          <p:cNvPr id="9" name="p3a-conn-ONLINE"/>
          <p:cNvSpPr/>
          <p:nvPr/>
        </p:nvSpPr>
        <p:spPr>
          <a:xfrm>
            <a:off x="548640" y="45262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3a-conn-ONLINE-text"/>
          <p:cNvSpPr txBox="1"/>
          <p:nvPr/>
        </p:nvSpPr>
        <p:spPr>
          <a:xfrm>
            <a:off x="548640" y="4526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ONLINE</a:t>
            </a:r>
            <a:endParaRPr lang="en-US" sz="1400" dirty="0"/>
          </a:p>
        </p:txBody>
      </p:sp>
      <p:sp>
        <p:nvSpPr>
          <p:cNvPr id="11" name="p3a-conn-ONLINE-desc"/>
          <p:cNvSpPr txBox="1"/>
          <p:nvPr/>
        </p:nvSpPr>
        <p:spPr>
          <a:xfrm>
            <a:off x="548640" y="5056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có telemetry mới</a:t>
            </a:r>
            <a:endParaRPr lang="en-US" sz="1100" dirty="0"/>
          </a:p>
        </p:txBody>
      </p:sp>
      <p:sp>
        <p:nvSpPr>
          <p:cNvPr id="12" name="p3a-conn-STALE"/>
          <p:cNvSpPr/>
          <p:nvPr/>
        </p:nvSpPr>
        <p:spPr>
          <a:xfrm>
            <a:off x="2377440" y="45262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p3a-conn-STALE-text"/>
          <p:cNvSpPr txBox="1"/>
          <p:nvPr/>
        </p:nvSpPr>
        <p:spPr>
          <a:xfrm>
            <a:off x="2377440" y="4526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STALE</a:t>
            </a:r>
            <a:endParaRPr lang="en-US" sz="1400" dirty="0"/>
          </a:p>
        </p:txBody>
      </p:sp>
      <p:sp>
        <p:nvSpPr>
          <p:cNvPr id="14" name="p3a-conn-STALE-desc"/>
          <p:cNvSpPr txBox="1"/>
          <p:nvPr/>
        </p:nvSpPr>
        <p:spPr>
          <a:xfrm>
            <a:off x="2377440" y="5056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&gt; 15 s không có tin</a:t>
            </a:r>
            <a:endParaRPr lang="en-US" sz="1100" dirty="0"/>
          </a:p>
        </p:txBody>
      </p:sp>
      <p:sp>
        <p:nvSpPr>
          <p:cNvPr id="15" name="p3a-conn-OFFLINE"/>
          <p:cNvSpPr/>
          <p:nvPr/>
        </p:nvSpPr>
        <p:spPr>
          <a:xfrm>
            <a:off x="4206240" y="45262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p3a-conn-OFFLINE-text"/>
          <p:cNvSpPr txBox="1"/>
          <p:nvPr/>
        </p:nvSpPr>
        <p:spPr>
          <a:xfrm>
            <a:off x="4206240" y="4526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OFFLINE</a:t>
            </a:r>
            <a:endParaRPr lang="en-US" sz="1400" dirty="0"/>
          </a:p>
        </p:txBody>
      </p:sp>
      <p:sp>
        <p:nvSpPr>
          <p:cNvPr id="17" name="p3a-conn-OFFLINE-desc"/>
          <p:cNvSpPr txBox="1"/>
          <p:nvPr/>
        </p:nvSpPr>
        <p:spPr>
          <a:xfrm>
            <a:off x="4206240" y="5056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LWT từ broker</a:t>
            </a:r>
            <a:endParaRPr lang="en-US" sz="1100" dirty="0"/>
          </a:p>
        </p:txBody>
      </p:sp>
      <p:sp>
        <p:nvSpPr>
          <p:cNvPr id="18" name="p3a-mgmt-card"/>
          <p:cNvSpPr/>
          <p:nvPr/>
        </p:nvSpPr>
        <p:spPr>
          <a:xfrm>
            <a:off x="6400800" y="1645920"/>
            <a:ext cx="521208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3a-mgmt-circle"/>
          <p:cNvSpPr/>
          <p:nvPr/>
        </p:nvSpPr>
        <p:spPr>
          <a:xfrm>
            <a:off x="6675120" y="1874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p3a-mgm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1985162"/>
            <a:ext cx="281635" cy="281635"/>
          </a:xfrm>
          <a:prstGeom prst="rect">
            <a:avLst/>
          </a:prstGeom>
        </p:spPr>
      </p:pic>
      <p:sp>
        <p:nvSpPr>
          <p:cNvPr id="21" name="p3a-mgmt-title"/>
          <p:cNvSpPr txBox="1"/>
          <p:nvPr/>
        </p:nvSpPr>
        <p:spPr>
          <a:xfrm>
            <a:off x="731520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Data Management</a:t>
            </a:r>
            <a:endParaRPr lang="en-US" sz="2000" dirty="0"/>
          </a:p>
        </p:txBody>
      </p:sp>
      <p:sp>
        <p:nvSpPr>
          <p:cNvPr id="22" name="p3a-mgmt-lead"/>
          <p:cNvSpPr txBox="1"/>
          <p:nvPr/>
        </p:nvSpPr>
        <p:spPr>
          <a:xfrm>
            <a:off x="6675120" y="2560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Không dùng database nặng: ghi sự kiện nối tiếp (event stream) vào một file JSON Lines</a:t>
            </a:r>
            <a:endParaRPr lang="en-US" sz="1400" dirty="0"/>
          </a:p>
        </p:txBody>
      </p:sp>
      <p:sp>
        <p:nvSpPr>
          <p:cNvPr id="23" name="p3a-file"/>
          <p:cNvSpPr/>
          <p:nvPr/>
        </p:nvSpPr>
        <p:spPr>
          <a:xfrm>
            <a:off x="6675120" y="3291840"/>
            <a:ext cx="46634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p3a-file-text"/>
          <p:cNvSpPr txBox="1"/>
          <p:nvPr/>
        </p:nvSpPr>
        <p:spPr>
          <a:xfrm>
            <a:off x="681228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orchid-history.jsonl</a:t>
            </a:r>
            <a:endParaRPr lang="en-US" sz="1400" dirty="0"/>
          </a:p>
        </p:txBody>
      </p:sp>
      <p:sp>
        <p:nvSpPr>
          <p:cNvPr id="25" name="p3a-mgmt-body"/>
          <p:cNvSpPr txBox="1"/>
          <p:nvPr/>
        </p:nvSpPr>
        <p:spPr>
          <a:xfrm>
            <a:off x="6675120" y="39319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Mỗi dòng một sự kiện: thời gian, request_id, người bấm, kết quả ACK, độ trễ (ms)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Sự kiện an toàn: lỗi cảm biến, cạn nước, mất kết nối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Là nguồn dữ liệu đối chiếu khi nghiệm thu M4 (log lệnh, độ trễ)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3: Web Server App – Điều khiển và tự động hóa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Giao diện điều khiển có khóa an toàn, phân quyền, luật tự động và cảnh báo</a:t>
            </a:r>
            <a:endParaRPr lang="en-US" sz="1600" dirty="0"/>
          </a:p>
        </p:txBody>
      </p:sp>
      <p:sp>
        <p:nvSpPr>
          <p:cNvPr id="4" name="p3b-ctrl-circle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p3b-ctrl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1756562"/>
            <a:ext cx="281635" cy="281635"/>
          </a:xfrm>
          <a:prstGeom prst="rect">
            <a:avLst/>
          </a:prstGeom>
        </p:spPr>
      </p:pic>
      <p:sp>
        <p:nvSpPr>
          <p:cNvPr id="6" name="p3b-ctrl-title"/>
          <p:cNvSpPr txBox="1"/>
          <p:nvPr/>
        </p:nvSpPr>
        <p:spPr>
          <a:xfrm>
            <a:off x="1188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Control GUI &amp; Security</a:t>
            </a:r>
            <a:endParaRPr lang="en-US" sz="2000" dirty="0"/>
          </a:p>
        </p:txBody>
      </p:sp>
      <p:sp>
        <p:nvSpPr>
          <p:cNvPr id="7" name="p3b-ctrl-body"/>
          <p:cNvSpPr txBox="1"/>
          <p:nvPr/>
        </p:nvSpPr>
        <p:spPr>
          <a:xfrm>
            <a:off x="548640" y="22860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 (theo luật) / MANUAL (lệnh tay có hạn 1–60 phút)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Khóa mọi nút khi đang AUTO hoặc thiết bị không ONLINE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Khóa riêng Mist ON khi WATER_LOCKOUT, COOLDOWN hoặc SENSOR_FAULT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Khóa nút đang chờ ACK, mỗi relay chỉ một lệnh chờ</a:t>
            </a:r>
            <a:endParaRPr lang="en-US" sz="1500" dirty="0"/>
          </a:p>
        </p:txBody>
      </p:sp>
      <p:sp>
        <p:nvSpPr>
          <p:cNvPr id="8" name="p3b-roles-label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Phân quyền tài khoản</a:t>
            </a:r>
            <a:endParaRPr lang="en-US" sz="1300" dirty="0"/>
          </a:p>
        </p:txBody>
      </p:sp>
      <p:sp>
        <p:nvSpPr>
          <p:cNvPr id="9" name="p3b-role-admin"/>
          <p:cNvSpPr/>
          <p:nvPr/>
        </p:nvSpPr>
        <p:spPr>
          <a:xfrm>
            <a:off x="548640" y="4892040"/>
            <a:ext cx="1691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3b-role-admin-text"/>
          <p:cNvSpPr txBox="1"/>
          <p:nvPr/>
        </p:nvSpPr>
        <p:spPr>
          <a:xfrm>
            <a:off x="685800" y="4983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admin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toàn quyền, sửa flow</a:t>
            </a:r>
            <a:endParaRPr lang="en-US" sz="1400" dirty="0"/>
          </a:p>
        </p:txBody>
      </p:sp>
      <p:sp>
        <p:nvSpPr>
          <p:cNvPr id="11" name="p3b-role-operator"/>
          <p:cNvSpPr/>
          <p:nvPr/>
        </p:nvSpPr>
        <p:spPr>
          <a:xfrm>
            <a:off x="2377440" y="4892040"/>
            <a:ext cx="1691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3b-role-operator-text"/>
          <p:cNvSpPr txBox="1"/>
          <p:nvPr/>
        </p:nvSpPr>
        <p:spPr>
          <a:xfrm>
            <a:off x="2514600" y="4983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operator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vận hành, gửi lệnh</a:t>
            </a:r>
            <a:endParaRPr lang="en-US" sz="1400" dirty="0"/>
          </a:p>
        </p:txBody>
      </p:sp>
      <p:sp>
        <p:nvSpPr>
          <p:cNvPr id="13" name="p3b-role-viewer"/>
          <p:cNvSpPr/>
          <p:nvPr/>
        </p:nvSpPr>
        <p:spPr>
          <a:xfrm>
            <a:off x="4206240" y="4892040"/>
            <a:ext cx="1691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3b-role-viewer-text"/>
          <p:cNvSpPr txBox="1"/>
          <p:nvPr/>
        </p:nvSpPr>
        <p:spPr>
          <a:xfrm>
            <a:off x="4343400" y="4983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viewer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chỉ xem, bị chặn lệnh</a:t>
            </a:r>
            <a:endParaRPr lang="en-US" sz="1400" dirty="0"/>
          </a:p>
        </p:txBody>
      </p:sp>
      <p:sp>
        <p:nvSpPr>
          <p:cNvPr id="15" name="p3b-rule-circle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p3b-rule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1756562"/>
            <a:ext cx="281635" cy="281635"/>
          </a:xfrm>
          <a:prstGeom prst="rect">
            <a:avLst/>
          </a:prstGeom>
        </p:spPr>
      </p:pic>
      <p:sp>
        <p:nvSpPr>
          <p:cNvPr id="17" name="p3b-rule-title"/>
          <p:cNvSpPr txBox="1"/>
          <p:nvPr/>
        </p:nvSpPr>
        <p:spPr>
          <a:xfrm>
            <a:off x="704088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Data Analysis &amp; Business Rules</a:t>
            </a:r>
            <a:endParaRPr lang="en-US" sz="2000" dirty="0"/>
          </a:p>
        </p:txBody>
      </p:sp>
      <p:sp>
        <p:nvSpPr>
          <p:cNvPr id="18" name="p3b-rule1"/>
          <p:cNvSpPr/>
          <p:nvPr/>
        </p:nvSpPr>
        <p:spPr>
          <a:xfrm>
            <a:off x="6400800" y="2331720"/>
            <a:ext cx="5212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3b-rule1-circle"/>
          <p:cNvSpPr/>
          <p:nvPr/>
        </p:nvSpPr>
        <p:spPr>
          <a:xfrm>
            <a:off x="6583680" y="2606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p3b-rule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81" y="2726741"/>
            <a:ext cx="307238" cy="307238"/>
          </a:xfrm>
          <a:prstGeom prst="rect">
            <a:avLst/>
          </a:prstGeom>
        </p:spPr>
      </p:pic>
      <p:sp>
        <p:nvSpPr>
          <p:cNvPr id="21" name="p3b-rule1-text"/>
          <p:cNvSpPr txBox="1"/>
          <p:nvPr/>
        </p:nvSpPr>
        <p:spPr>
          <a:xfrm>
            <a:off x="7315200" y="245059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Rule 1 – Đèn theo chu kỳ sinh học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Bật trong 06:00–21:00 khi trời tối (light_adc &gt; 2200), tắt khi đủ sáng; không bật ban đêm, tối đa 240 phút/ngày</a:t>
            </a:r>
            <a:endParaRPr lang="en-US" sz="1400" dirty="0"/>
          </a:p>
        </p:txBody>
      </p:sp>
      <p:sp>
        <p:nvSpPr>
          <p:cNvPr id="22" name="p3b-rule2"/>
          <p:cNvSpPr/>
          <p:nvPr/>
        </p:nvSpPr>
        <p:spPr>
          <a:xfrm>
            <a:off x="6400800" y="3657600"/>
            <a:ext cx="5212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p3b-rule2-circle"/>
          <p:cNvSpPr/>
          <p:nvPr/>
        </p:nvSpPr>
        <p:spPr>
          <a:xfrm>
            <a:off x="658368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p3b-rule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4052621"/>
            <a:ext cx="307238" cy="307238"/>
          </a:xfrm>
          <a:prstGeom prst="rect">
            <a:avLst/>
          </a:prstGeom>
        </p:spPr>
      </p:pic>
      <p:sp>
        <p:nvSpPr>
          <p:cNvPr id="25" name="p3b-rule2-text"/>
          <p:cNvSpPr txBox="1"/>
          <p:nvPr/>
        </p:nvSpPr>
        <p:spPr>
          <a:xfrm>
            <a:off x="7315200" y="377647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Rule 2 – Quạt sau phun sương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Bơm vừa ngắt thì quạt chạy 60 s để hong ráo nước đọng trên lá, giảm nguy cơ thối nõn</a:t>
            </a:r>
            <a:endParaRPr lang="en-US" sz="1400" dirty="0"/>
          </a:p>
        </p:txBody>
      </p:sp>
      <p:sp>
        <p:nvSpPr>
          <p:cNvPr id="26" name="p3b-rule3"/>
          <p:cNvSpPr/>
          <p:nvPr/>
        </p:nvSpPr>
        <p:spPr>
          <a:xfrm>
            <a:off x="6400800" y="4983480"/>
            <a:ext cx="5212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p3b-rule3-circle"/>
          <p:cNvSpPr/>
          <p:nvPr/>
        </p:nvSpPr>
        <p:spPr>
          <a:xfrm>
            <a:off x="6583680" y="5257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p3b-rule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381" y="5378501"/>
            <a:ext cx="307238" cy="307238"/>
          </a:xfrm>
          <a:prstGeom prst="rect">
            <a:avLst/>
          </a:prstGeom>
        </p:spPr>
      </p:pic>
      <p:sp>
        <p:nvSpPr>
          <p:cNvPr id="29" name="p3b-rule3-text"/>
          <p:cNvSpPr txBox="1"/>
          <p:nvPr/>
        </p:nvSpPr>
        <p:spPr>
          <a:xfrm>
            <a:off x="7315200" y="510235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Cảnh báo Telegram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Gửi vào nhóm chat khi cạn nước hoặc mất kết nối quá 5 phút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6"/>
                </a:solidFill>
              </a:rPr>
              <a:t>Hệ thống chạy ổn định hai chiều, kiểm chứng trên mô phỏng Wokwi với broker và dashboard thật</a:t>
            </a:r>
            <a:endParaRPr lang="en-US" sz="1800" dirty="0"/>
          </a:p>
        </p:txBody>
      </p:sp>
      <p:sp>
        <p:nvSpPr>
          <p:cNvPr id="4" name="close-stat1"/>
          <p:cNvSpPr txBox="1"/>
          <p:nvPr/>
        </p:nvSpPr>
        <p:spPr>
          <a:xfrm>
            <a:off x="7315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199/199</a:t>
            </a:r>
            <a:endParaRPr lang="en-US" sz="4000" dirty="0"/>
          </a:p>
        </p:txBody>
      </p:sp>
      <p:sp>
        <p:nvSpPr>
          <p:cNvPr id="5" name="close-stat1-label"/>
          <p:cNvSpPr txBox="1"/>
          <p:nvPr/>
        </p:nvSpPr>
        <p:spPr>
          <a:xfrm>
            <a:off x="73152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</a:rPr>
              <a:t>gói telemetry khớp Serial trong 12 phút uplink</a:t>
            </a:r>
            <a:endParaRPr lang="en-US" sz="1400" dirty="0"/>
          </a:p>
        </p:txBody>
      </p:sp>
      <p:sp>
        <p:nvSpPr>
          <p:cNvPr id="6" name="close-stat2"/>
          <p:cNvSpPr txBox="1"/>
          <p:nvPr/>
        </p:nvSpPr>
        <p:spPr>
          <a:xfrm>
            <a:off x="34747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4000" dirty="0"/>
          </a:p>
        </p:txBody>
      </p:sp>
      <p:sp>
        <p:nvSpPr>
          <p:cNvPr id="7" name="close-stat2-label"/>
          <p:cNvSpPr txBox="1"/>
          <p:nvPr/>
        </p:nvSpPr>
        <p:spPr>
          <a:xfrm>
            <a:off x="347472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</a:rPr>
              <a:t>ca downlink đạt: AUTO/MANUAL, LOCKOUT, lệnh lặp, mất kết nối</a:t>
            </a:r>
            <a:endParaRPr lang="en-US" sz="1400" dirty="0"/>
          </a:p>
        </p:txBody>
      </p:sp>
      <p:sp>
        <p:nvSpPr>
          <p:cNvPr id="8" name="close-stat3"/>
          <p:cNvSpPr txBox="1"/>
          <p:nvPr/>
        </p:nvSpPr>
        <p:spPr>
          <a:xfrm>
            <a:off x="62179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4000" dirty="0"/>
          </a:p>
        </p:txBody>
      </p:sp>
      <p:sp>
        <p:nvSpPr>
          <p:cNvPr id="9" name="close-stat3-label"/>
          <p:cNvSpPr txBox="1"/>
          <p:nvPr/>
        </p:nvSpPr>
        <p:spPr>
          <a:xfrm>
            <a:off x="621792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</a:rPr>
              <a:t>vòng chạy lặp M4 liên tiếp, kết quả giống hệt nhau</a:t>
            </a:r>
            <a:endParaRPr lang="en-US" sz="1400" dirty="0"/>
          </a:p>
        </p:txBody>
      </p:sp>
      <p:sp>
        <p:nvSpPr>
          <p:cNvPr id="10" name="close-stat4"/>
          <p:cNvSpPr txBox="1"/>
          <p:nvPr/>
        </p:nvSpPr>
        <p:spPr>
          <a:xfrm>
            <a:off x="89611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~0,6 s</a:t>
            </a:r>
            <a:endParaRPr lang="en-US" sz="4000" dirty="0"/>
          </a:p>
        </p:txBody>
      </p:sp>
      <p:sp>
        <p:nvSpPr>
          <p:cNvPr id="11" name="close-stat4-label"/>
          <p:cNvSpPr txBox="1"/>
          <p:nvPr/>
        </p:nvSpPr>
        <p:spPr>
          <a:xfrm>
            <a:off x="896112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</a:rPr>
              <a:t>từ lúc bấm nút đến khi dashboard nhận ACK</a:t>
            </a:r>
            <a:endParaRPr lang="en-US" sz="1400" dirty="0"/>
          </a:p>
        </p:txBody>
      </p:sp>
      <p:sp>
        <p:nvSpPr>
          <p:cNvPr id="12" name="close-next-title"/>
          <p:cNvSpPr txBox="1"/>
          <p:nvPr/>
        </p:nvSpPr>
        <p:spPr>
          <a:xfrm>
            <a:off x="731520" y="4069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2000" dirty="0"/>
          </a:p>
        </p:txBody>
      </p:sp>
      <p:sp>
        <p:nvSpPr>
          <p:cNvPr id="13" name="close-next1-circle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close-next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4784141"/>
            <a:ext cx="307238" cy="307238"/>
          </a:xfrm>
          <a:prstGeom prst="rect">
            <a:avLst/>
          </a:prstGeom>
        </p:spPr>
      </p:pic>
      <p:sp>
        <p:nvSpPr>
          <p:cNvPr id="15" name="close-next1-text"/>
          <p:cNvSpPr txBox="1"/>
          <p:nvPr/>
        </p:nvSpPr>
        <p:spPr>
          <a:xfrm>
            <a:off x="1463040" y="4663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Chạy trên board ESP32-S3 thật (phần Bonus)</a:t>
            </a:r>
            <a:endParaRPr lang="en-US" sz="1400" dirty="0"/>
          </a:p>
        </p:txBody>
      </p:sp>
      <p:sp>
        <p:nvSpPr>
          <p:cNvPr id="16" name="close-next2-circle"/>
          <p:cNvSpPr/>
          <p:nvPr/>
        </p:nvSpPr>
        <p:spPr>
          <a:xfrm>
            <a:off x="438912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close-next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821" y="4784141"/>
            <a:ext cx="307238" cy="307238"/>
          </a:xfrm>
          <a:prstGeom prst="rect">
            <a:avLst/>
          </a:prstGeom>
        </p:spPr>
      </p:pic>
      <p:sp>
        <p:nvSpPr>
          <p:cNvPr id="18" name="close-next2-text"/>
          <p:cNvSpPr txBox="1"/>
          <p:nvPr/>
        </p:nvSpPr>
        <p:spPr>
          <a:xfrm>
            <a:off x="5120640" y="4663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Broker riêng có mật khẩu và TLS thay broker công khai</a:t>
            </a:r>
            <a:endParaRPr lang="en-US" sz="1400" dirty="0"/>
          </a:p>
        </p:txBody>
      </p:sp>
      <p:sp>
        <p:nvSpPr>
          <p:cNvPr id="19" name="close-next3-circle"/>
          <p:cNvSpPr/>
          <p:nvPr/>
        </p:nvSpPr>
        <p:spPr>
          <a:xfrm>
            <a:off x="804672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close-next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421" y="4784141"/>
            <a:ext cx="307238" cy="307238"/>
          </a:xfrm>
          <a:prstGeom prst="rect">
            <a:avLst/>
          </a:prstGeom>
        </p:spPr>
      </p:pic>
      <p:sp>
        <p:nvSpPr>
          <p:cNvPr id="21" name="close-next3-text"/>
          <p:cNvSpPr txBox="1"/>
          <p:nvPr/>
        </p:nvSpPr>
        <p:spPr>
          <a:xfrm>
            <a:off x="8778240" y="4663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Lưu dữ liệu dài hạn để thống kê theo mùa</a:t>
            </a:r>
            <a:endParaRPr lang="en-US" sz="1400" dirty="0"/>
          </a:p>
        </p:txBody>
      </p:sp>
      <p:sp>
        <p:nvSpPr>
          <p:cNvPr id="22" name="close-thanks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FE3D6"/>
                </a:solidFill>
              </a:rPr>
              <a:t>Cảm ơn thầy cô và các bạn đã lắng nghe!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chid Garden">
  <a:themeElements>
    <a:clrScheme name="Orchid Garden">
      <a:dk1>
        <a:srgbClr val="1C2B22"/>
      </a:dk1>
      <a:lt1>
        <a:srgbClr val="FFFFFF"/>
      </a:lt1>
      <a:dk2>
        <a:srgbClr val="17402C"/>
      </a:dk2>
      <a:lt2>
        <a:srgbClr val="EEF4EF"/>
      </a:lt2>
      <a:accent1>
        <a:srgbClr val="2E7D4F"/>
      </a:accent1>
      <a:accent2>
        <a:srgbClr val="B5367A"/>
      </a:accent2>
      <a:accent3>
        <a:srgbClr val="D98E04"/>
      </a:accent3>
      <a:accent4>
        <a:srgbClr val="C0392B"/>
      </a:accent4>
      <a:accent5>
        <a:srgbClr val="5B7F6B"/>
      </a:accent5>
      <a:accent6>
        <a:srgbClr val="8FBF9F"/>
      </a:accent6>
      <a:hlink>
        <a:srgbClr val="2E7D4F"/>
      </a:hlink>
      <a:folHlink>
        <a:srgbClr val="5B7F6B"/>
      </a:folHlink>
    </a:clrScheme>
    <a:fontScheme name="Orchid Gard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Kiến trúc hệ thống vườn lan IoT</dc:title>
  <dc:subject>PptxGenJS Presentation</dc:subject>
  <dc:creator>Nhóm Orchid</dc:creator>
  <cp:lastModifiedBy>Nhóm Orchid</cp:lastModifiedBy>
  <cp:revision>1</cp:revision>
  <dcterms:created xsi:type="dcterms:W3CDTF">2026-10-24T00:36:02Z</dcterms:created>
  <dcterms:modified xsi:type="dcterms:W3CDTF">2026-10-24T00:36:02Z</dcterms:modified>
</cp:coreProperties>
</file>