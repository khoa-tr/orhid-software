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65" r:id="rId16"/>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2EBC0E7E-AE78-D958-D459-B037B1FDD22F}">
          <p14:sldIdLst>
            <p14:sldId id="256"/>
            <p14:sldId id="257"/>
          </p14:sldIdLst>
        </p14:section>
        <p14:section name="Part 1: Device" id="{E5BEB859-E7E7-3875-74D0-EADADDC483BA}">
          <p14:sldIdLst>
            <p14:sldId id="258"/>
            <p14:sldId id="259"/>
          </p14:sldIdLst>
        </p14:section>
        <p14:section name="Part 2: MQTT" id="{3A2DC56B-8F21-CD53-1F77-F290BAFFFF18}">
          <p14:sldIdLst>
            <p14:sldId id="260"/>
            <p14:sldId id="261"/>
          </p14:sldIdLst>
        </p14:section>
        <p14:section name="Part 3: Web Server App" id="{D794913B-A080-1B27-BEA8-7060063037A5}">
          <p14:sldIdLst>
            <p14:sldId id="262"/>
            <p14:sldId id="263"/>
          </p14:sldIdLst>
        </p14:section>
        <p14:section name="Kết luận" id="{6EE9EA24-75E1-4A66-0DA0-513BE593E2E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2" d="100"/>
          <a:sy n="122" d="100"/>
        </p:scale>
        <p:origin x="6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30211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Đề tài là hệ thống tự đo và chăm sóc vườn lan, theo dõi và điều khiển từ xa qua web. Hệ thống có 3 phần, tương ứng 3 thành viên.</a:t>
            </a:r>
          </a:p>
          <a:p>
            <a:r>
              <a:rPr lang="vi-VN" dirty="0"/>
              <a:t>Cách hình dung (nói khi thuyết trình):</a:t>
            </a:r>
          </a:p>
          <a:p>
            <a:r>
              <a:rPr lang="vi-VN" dirty="0"/>
              <a:t>- Phần 1, ESP32: "tay chân và giác quan" đặt ở vườn, đo và bật/tắt thiết bị.</a:t>
            </a:r>
          </a:p>
          <a:p>
            <a:r>
              <a:rPr lang="vi-VN" dirty="0"/>
              <a:t>- Phần 2, MQTT: "đường dây liên lạc" giữa vườn và máy chủ.</a:t>
            </a:r>
          </a:p>
          <a:p>
            <a:r>
              <a:rPr lang="vi-VN" dirty="0"/>
              <a:t>- Phần 3, Node-RED: "phòng điều hành", nơi người dùng xem số liệu và ra lệnh.</a:t>
            </a:r>
          </a:p>
          <a:p>
            <a:r>
              <a:rPr lang="vi-VN" dirty="0"/>
              <a:t>Giới thiệu nhanh từng thành viên và phần việc của mỗi người.</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Vì sao cần hệ thống, và hệ thống gồm 4 tầng.</a:t>
            </a:r>
          </a:p>
          <a:p>
            <a:r>
              <a:rPr lang="vi-VN" dirty="0"/>
              <a:t>Vấn đề khi chăm lan bằng tay:</a:t>
            </a:r>
          </a:p>
          <a:p>
            <a:r>
              <a:rPr lang="vi-VN" dirty="0"/>
              <a:t>- Phải giữ độ ẩm, nhiệt độ, ánh sáng đều đặn; người chăm dễ quên.</a:t>
            </a:r>
          </a:p>
          <a:p>
            <a:r>
              <a:rPr lang="vi-VN" dirty="0"/>
              <a:t>- Phun quá nhiều hoặc lá đọng nước lâu thì lan dễ thối nõn, sinh nấm.</a:t>
            </a:r>
          </a:p>
          <a:p>
            <a:r>
              <a:rPr lang="vi-VN" dirty="0"/>
              <a:t>- Bơm chạy khi bình cạn nước thì dễ hỏng bơm.</a:t>
            </a:r>
          </a:p>
          <a:p>
            <a:r>
              <a:rPr lang="vi-VN" dirty="0"/>
              <a:t>Giải pháp: ESP32 tự chăm ngay tại vườn; có web để xem và bấm điều khiển; các khóa an toàn nằm trong ESP32 nên mất mạng vườn vẫn an toàn.</a:t>
            </a:r>
          </a:p>
          <a:p>
            <a:r>
              <a:rPr lang="vi-VN" dirty="0"/>
              <a:t>4 tầng: Thiết bị (ESP32, cảm biến, relay) → Truyền thông (broker MQTT) → Xử lý (Node-RED) → Ứng dụng (dashboard, Telegram).</a:t>
            </a:r>
          </a:p>
          <a:p>
            <a:r>
              <a:rPr lang="vi-VN" dirty="0"/>
              <a:t>Mũi tên hai chiều: uplink = số đo đi lên server; downlink = lệnh đi xuống, xác nhận quay về.</a:t>
            </a:r>
          </a:p>
          <a:p>
            <a:r>
              <a:rPr lang="vi-VN" dirty="0"/>
              <a:t>CÂU HỎI CÓ THỂ GẶP: "Tại sao không để server quyết định hết?"</a:t>
            </a:r>
          </a:p>
          <a:p>
            <a:r>
              <a:rPr lang="vi-VN" dirty="0"/>
              <a:t>→ Vì mạng có thể mất. Nếu mọi quyết định nằm ở server thì mất mạng là vườn không ai chăm. ESP32 tự quyết nên luôn an toàn.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3 cảm biến đưa thông tin vào, ESP32 suy nghĩ, rồi bật/tắt 3 thiết bị.</a:t>
            </a:r>
          </a:p>
          <a:p>
            <a:r>
              <a:rPr lang="vi-VN" dirty="0"/>
              <a:t>Cảm biến (đầu vào):</a:t>
            </a:r>
          </a:p>
          <a:p>
            <a:r>
              <a:rPr lang="vi-VN" dirty="0"/>
              <a:t>- DHT22 (chân 15): đo nhiệt độ và độ ẩm không khí.</a:t>
            </a:r>
          </a:p>
          <a:p>
            <a:r>
              <a:rPr lang="vi-VN" dirty="0"/>
              <a:t>- Quang trở LDR (chân 34): biết trời sáng hay tối. Số đọc càng lớn là trời càng tối.</a:t>
            </a:r>
          </a:p>
          <a:p>
            <a:r>
              <a:rPr lang="vi-VN" dirty="0"/>
              <a:t>- Cảm biến mực nước (chân 35): biết bình còn nước hay sắp cạn. Trong mô phỏng là một biến trở.</a:t>
            </a:r>
          </a:p>
          <a:p>
            <a:r>
              <a:rPr lang="vi-VN" dirty="0"/>
              <a:t>Đầu ra: relay là công tắc điện do ESP32 bật/tắt: bơm phun sương (chân 25), quạt (chân 26), đèn (chân 27).</a:t>
            </a:r>
          </a:p>
          <a:p>
            <a:r>
              <a:rPr lang="vi-VN" dirty="0"/>
              <a:t>GPIO là số chân trên ESP32 nối với từng linh kiện.</a:t>
            </a:r>
          </a:p>
          <a:p>
            <a:r>
              <a:rPr lang="vi-VN" dirty="0"/>
              <a:t>CÂU HỎI CÓ THỂ GẶP: "Sao LDR và cảm biến nước dùng chân 34, 35?"</a:t>
            </a:r>
          </a:p>
          <a:p>
            <a:r>
              <a:rPr lang="vi-VN" dirty="0"/>
              <a:t>→ Hai chân này thuộc ADC1, vẫn đọc được khi Wi-Fi đang bật. Các chân ADC2 bị Wi-Fi chiếm mất.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Chương trình làm 2 việc liên tục, không bao giờ đứng chờ nên không bị treo.</a:t>
            </a:r>
          </a:p>
          <a:p>
            <a:r>
              <a:rPr lang="vi-VN" dirty="0"/>
              <a:t>Việc 1 – Đọc cảm biến:</a:t>
            </a:r>
          </a:p>
          <a:p>
            <a:r>
              <a:rPr lang="vi-VN" dirty="0"/>
              <a:t>- Cứ 2,5 giây đo một lần.</a:t>
            </a:r>
          </a:p>
          <a:p>
            <a:r>
              <a:rPr lang="vi-VN" dirty="0"/>
              <a:t>- Lọc nhiễu 2 bước: (1) bỏ số nhảy vọt bất thường, ví dụ độ ẩm đang 72% bỗng thành 99%: bỏ qua 2 lần đầu, lần thứ 3 vẫn lệch mới tin là thay đổi thật; (2) lấy trung bình 5 lần đo gần nhất cho số mượt.</a:t>
            </a:r>
          </a:p>
          <a:p>
            <a:r>
              <a:rPr lang="vi-VN" dirty="0"/>
              <a:t>- DHT đọc lỗi 3 lần liền thì báo SENSOR_FAULT (cảm biến hỏng).</a:t>
            </a:r>
          </a:p>
          <a:p>
            <a:r>
              <a:rPr lang="vi-VN" dirty="0"/>
              <a:t>Việc 2 – Điều khiển an toàn:</a:t>
            </a:r>
          </a:p>
          <a:p>
            <a:r>
              <a:rPr lang="vi-VN" dirty="0"/>
              <a:t>- Bình cạn (số đo &lt; 1200): tắt bơm, từ chối mọi lệnh bật phun, kể cả lệnh từ web.</a:t>
            </a:r>
          </a:p>
          <a:p>
            <a:r>
              <a:rPr lang="vi-VN" dirty="0"/>
              <a:t>- Lệnh bấm tay có thời hạn; hết giờ tự về chế độ tự động, không bị kẹt bật mãi.</a:t>
            </a:r>
          </a:p>
          <a:p>
            <a:r>
              <a:rPr lang="vi-VN" dirty="0"/>
              <a:t>Sơ đồ trạng thái bơm (FSM), bơm luôn ở đúng 1 trạng thái:</a:t>
            </a:r>
          </a:p>
          <a:p>
            <a:r>
              <a:rPr lang="vi-VN" dirty="0"/>
              <a:t>- IDLE (chờ) → độ ẩm &lt; 65% → RUNNING (đang phun).</a:t>
            </a:r>
          </a:p>
          <a:p>
            <a:r>
              <a:rPr lang="vi-VN" dirty="0"/>
              <a:t>- RUNNING → phun đủ 120 giây → COOLDOWN (nghỉ), để bơm không chạy liên tục mà nóng.</a:t>
            </a:r>
          </a:p>
          <a:p>
            <a:r>
              <a:rPr lang="vi-VN" dirty="0"/>
              <a:t>- Quay về chờ khi độ ẩm ≥ 80% (đủ ẩm) hoặc sau 60 giây nghỉ.</a:t>
            </a:r>
          </a:p>
          <a:p>
            <a:r>
              <a:rPr lang="vi-VN" dirty="0"/>
              <a:t>- Cạn nước hoặc hỏng cảm biến: tắt bơm ngay, dù đang ở trạng thái nào.</a:t>
            </a:r>
          </a:p>
          <a:p>
            <a:r>
              <a:rPr lang="vi-VN" dirty="0"/>
              <a:t>CÂU HỎI CÓ THỂ GẶP: "Sao bật ở 65% mà tắt ở 80%, không dùng một mốc?"</a:t>
            </a:r>
          </a:p>
          <a:p>
            <a:r>
              <a:rPr lang="vi-VN" dirty="0"/>
              <a:t>→ Đây là vùng trễ. Nếu chỉ dùng một mốc (ví dụ 70%), độ ẩm dao động quanh 70% sẽ làm bơm bật tắt liên tục, rất hại bơm.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ESP32 và server không nói chuyện trực tiếp, mà gửi tin qua một "bưu điện" chung gọi là broker (broker.emqx.io).</a:t>
            </a:r>
          </a:p>
          <a:p>
            <a:r>
              <a:rPr lang="vi-VN" dirty="0"/>
              <a:t>- Topic = địa chỉ của từng loại tin, ví dụ garden/orchid/orchid-01/telemetry.</a:t>
            </a:r>
          </a:p>
          <a:p>
            <a:r>
              <a:rPr lang="vi-VN" dirty="0"/>
              <a:t>- Publish = gửi tin vào topic; Subscribe = đăng ký nhận tin của topic đó.</a:t>
            </a:r>
          </a:p>
          <a:p>
            <a:r>
              <a:rPr lang="vi-VN" dirty="0"/>
              <a:t>Tin đi lên (ESP32 → server): telemetry (số đo, 2,5 giây/lần), state (thiết bị nào đang bật/tắt), availability (online/offline), ack (trả lời đã làm lệnh chưa).</a:t>
            </a:r>
          </a:p>
          <a:p>
            <a:r>
              <a:rPr lang="vi-VN" dirty="0"/>
              <a:t>Tin đi xuống (server → ESP32): cmd/mist, cmd/fan, cmd/light (lệnh cho bơm, quạt, đèn), config (đổi ngưỡng).</a:t>
            </a:r>
          </a:p>
          <a:p>
            <a:r>
              <a:rPr lang="vi-VN" dirty="0"/>
              <a:t>CÂU HỎI CÓ THỂ GẶP: "Vì sao dùng MQTT mà không dùng HTTP?"</a:t>
            </a:r>
          </a:p>
          <a:p>
            <a:r>
              <a:rPr lang="vi-VN" dirty="0"/>
              <a:t>→ MQTT nhẹ, hợp thiết bị nhỏ; kết nối luôn mở nên lệnh xuống tới ngay, không phải hỏi đi hỏi lại; có sẵn cơ chế báo mất kết nối (LWT).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4 việc mà MQTT đảm nhận.</a:t>
            </a:r>
          </a:p>
          <a:p>
            <a:r>
              <a:rPr lang="vi-VN" dirty="0"/>
              <a:t>1) Báo thiết bị còn hoạt động: ESP32 báo "online" khi kết nối. LWT là "lời dặn trước": lúc kết nối, ESP32 dặn broker nếu nó mất kết nối đột ngột thì gửi "offline" giúp nó, nên ESP32 mất điện server vẫn biết. Quá 15 giây không có số mới → STALE (số trên màn hình là số cũ).</a:t>
            </a:r>
          </a:p>
          <a:p>
            <a:r>
              <a:rPr lang="vi-VN" dirty="0"/>
              <a:t>2) Gửi số đo: telemetry và state đi lên, dashboard cập nhật.</a:t>
            </a:r>
          </a:p>
          <a:p>
            <a:r>
              <a:rPr lang="vi-VN" dirty="0"/>
              <a:t>3) Điều khiển có xác nhận: lệnh gồm mã lệnh (request_id), chế độ, bật/tắt, thời hạn. ESP32 trả lời ACK: APPLIED (đã làm) hoặc REJECTED kèm lý do (ví dụ cạn nước). Quá 6 giây không có trả lời → NO_ACK.</a:t>
            </a:r>
          </a:p>
          <a:p>
            <a:r>
              <a:rPr lang="vi-VN" dirty="0"/>
              <a:t>4) Đổi ngưỡng từ xa: chỉnh mức độ ẩm, nhiệt độ… không cần nạp lại chương trình. ESP32 từ chối ngưỡng nguy hiểm, ví dụ mức báo cạn nước không được dưới 1200.</a:t>
            </a:r>
          </a:p>
          <a:p>
            <a:r>
              <a:rPr lang="vi-VN" dirty="0"/>
              <a:t>CÂU HỎI CÓ THỂ GẶP: "Làm sao biết lệnh đã thật sự được thực hiện?"</a:t>
            </a:r>
          </a:p>
          <a:p>
            <a:r>
              <a:rPr lang="vi-VN" dirty="0"/>
              <a:t>→ Nhờ ACK. Dashboard chỉ báo thành công khi ESP32 trả lời APPLIED đúng mã lệnh; không có trả lời thì báo NO_ACK, không báo thành công giả.</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Node-RED là phần mềm trên server: nhận dữ liệu, chạy luật tự động, tạo trang web dashboard.</a:t>
            </a:r>
          </a:p>
          <a:p>
            <a:r>
              <a:rPr lang="vi-VN" dirty="0"/>
              <a:t>Hiển thị:</a:t>
            </a:r>
          </a:p>
          <a:p>
            <a:r>
              <a:rPr lang="vi-VN" dirty="0"/>
              <a:t>- Xem được trên máy tính và điện thoại; có số đo trực tiếp và 2 biểu đồ 1 giờ gần nhất.</a:t>
            </a:r>
          </a:p>
          <a:p>
            <a:r>
              <a:rPr lang="vi-VN" dirty="0"/>
              <a:t>- Cảm biến hỏng thì hiện chữ "DHT fault", không hiện số sai (ví dụ 0 °C) làm hiểu nhầm.</a:t>
            </a:r>
          </a:p>
          <a:p>
            <a:r>
              <a:rPr lang="vi-VN" dirty="0"/>
              <a:t>3 trạng thái kết nối: xanh ONLINE (đang nhận dữ liệu), vàng STALE (15 giây chưa có số mới), đỏ OFFLINE (thiết bị mất kết nối).</a:t>
            </a:r>
          </a:p>
          <a:p>
            <a:r>
              <a:rPr lang="vi-VN" dirty="0"/>
              <a:t>Lưu nhật ký: mọi sự kiện ghi vào file orchid-history.jsonl, mỗi dòng một sự kiện: lúc nào, ai bấm, lệnh gì, kết quả, mất bao lâu. Không cần cơ sở dữ liệu mà vẫn đủ làm bằng chứng khi nghiệm thu và khi tìm lỗi.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Người dùng điều khiển được, nhưng hệ thống tự khóa những thao tác có thể gây hại.</a:t>
            </a:r>
          </a:p>
          <a:p>
            <a:r>
              <a:rPr lang="vi-VN" dirty="0"/>
              <a:t>Hai chế độ: AUTO = hệ thống tự làm theo luật; MANUAL = người dùng bấm tay, có hạn 1–60 phút.</a:t>
            </a:r>
          </a:p>
          <a:p>
            <a:r>
              <a:rPr lang="vi-VN" dirty="0"/>
              <a:t>Khóa nút:</a:t>
            </a:r>
          </a:p>
          <a:p>
            <a:r>
              <a:rPr lang="vi-VN" dirty="0"/>
              <a:t>- Đang AUTO hoặc mất kết nối: khóa hết.</a:t>
            </a:r>
          </a:p>
          <a:p>
            <a:r>
              <a:rPr lang="vi-VN" dirty="0"/>
              <a:t>- Cạn nước, bơm đang nghỉ hoặc cảm biến hỏng: khóa riêng nút bật phun.</a:t>
            </a:r>
          </a:p>
          <a:p>
            <a:r>
              <a:rPr lang="vi-VN" dirty="0"/>
              <a:t>- Bấm xong phải chờ ESP32 xác nhận mới bấm tiếp, tránh gửi lệnh trùng.</a:t>
            </a:r>
          </a:p>
          <a:p>
            <a:r>
              <a:rPr lang="vi-VN" dirty="0"/>
              <a:t>Phân quyền: admin toàn quyền; operator được điều khiển; viewer chỉ được xem.</a:t>
            </a:r>
          </a:p>
          <a:p>
            <a:r>
              <a:rPr lang="vi-VN" dirty="0"/>
              <a:t>Luật tự động:</a:t>
            </a:r>
          </a:p>
          <a:p>
            <a:r>
              <a:rPr lang="vi-VN" dirty="0"/>
              <a:t>- Đèn bù sáng: chỉ bật 06:00–21:00 khi trời tối; ban đêm không bật để lan nghỉ; tối đa 4 giờ/ngày.</a:t>
            </a:r>
          </a:p>
          <a:p>
            <a:r>
              <a:rPr lang="vi-VN" dirty="0"/>
              <a:t>- Quạt sau khi phun: phun xong quạt chạy 60 giây cho lá khô.</a:t>
            </a:r>
          </a:p>
          <a:p>
            <a:r>
              <a:rPr lang="vi-VN" dirty="0"/>
              <a:t>- Telegram: nhắn vào nhóm chat khi cạn nước hoặc mất kết nối quá 5 phút.</a:t>
            </a:r>
          </a:p>
          <a:p>
            <a:r>
              <a:rPr lang="vi-VN" dirty="0"/>
              <a:t>CÂU HỎI CÓ THỂ GẶP: "Nếu ai đó lách qua giao diện, gửi thẳng lệnh bật phun khi cạn nước?"</a:t>
            </a:r>
          </a:p>
          <a:p>
            <a:r>
              <a:rPr lang="vi-VN" dirty="0"/>
              <a:t>→ Bị chặn 2 lần: gateway Node-RED chặn, và ESP32 tự từ chối (REJECTED WATER_LOCKOUT). Đã kiểm thử thật ở ca D6.</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vi-VN" dirty="0"/>
              <a:t>Ý CHÍNH: Hệ thống chạy ổn định 2 chiều, có số liệu đo được để chứng minh.</a:t>
            </a:r>
          </a:p>
          <a:p>
            <a:r>
              <a:rPr lang="vi-VN" dirty="0"/>
              <a:t>- 199/199: chạy liên tục 12 phút, cả 199 lần đo gửi lên server đều khớp đúng số trên ESP32.</a:t>
            </a:r>
          </a:p>
          <a:p>
            <a:r>
              <a:rPr lang="vi-VN" dirty="0"/>
              <a:t>- 10/10: 10 tình huống điều khiển đều đúng, kể cả cạn nước, lệnh trùng, mất mạng.</a:t>
            </a:r>
          </a:p>
          <a:p>
            <a:r>
              <a:rPr lang="vi-VN" dirty="0"/>
              <a:t>- 3/3: chạy lại toàn bộ 3 lần liên tiếp đều đạt, kết quả giống nhau (điều kiện M4: không phải may mắn một lần).</a:t>
            </a:r>
          </a:p>
          <a:p>
            <a:r>
              <a:rPr lang="vi-VN" dirty="0"/>
              <a:t>- ~0,6 giây: từ lúc bấm nút đến khi thấy ESP32 xác nhận.</a:t>
            </a:r>
          </a:p>
          <a:p>
            <a:r>
              <a:rPr lang="vi-VN" dirty="0"/>
              <a:t>Hướng phát triển: chạy trên board thật; dùng broker riêng có mật khẩu và mã hóa (broker công cộng ai cũng gửi tin vào được); lưu dữ liệu lâu dài để xem xu hướng theo mùa.</a:t>
            </a:r>
          </a:p>
          <a:p>
            <a:r>
              <a:rPr lang="vi-VN" dirty="0"/>
              <a:t>3 CÂU NÊN TẬP TRẢ LỜI:</a:t>
            </a:r>
          </a:p>
          <a:p>
            <a:r>
              <a:rPr lang="vi-VN" dirty="0"/>
              <a:t>1) Bấm "Fan ON" thì sao? → Dashboard → gateway tạo mã lệnh → gửi topic cmd/fan → broker → ESP32 bật relay chân 26 → gửi ACK APPLIED → dashboard hiện "APPLIED, ~0,6 s".</a:t>
            </a:r>
          </a:p>
          <a:p>
            <a:r>
              <a:rPr lang="vi-VN" dirty="0"/>
              <a:t>2) Mất mạng thì sao? → Broker gửi LWT "offline"; dashboard báo OFFLINE và khóa nút; ESP32 xóa lệnh tay, tự chạy AUTO an toàn, rồi tự kết nối lại.</a:t>
            </a:r>
          </a:p>
          <a:p>
            <a:r>
              <a:rPr lang="vi-VN" dirty="0"/>
              <a:t>3) Cạn nước thì sao? → ESP32 tắt bơm, vào WATER_LOCKOUT; dashboard khóa nút phun; Telegram cảnh báo; đổ nước lại thì tự mở khóa.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Ý CHÍNH: Toàn bộ thiết bị của hệ thống, mỗi loại một chiếc.</a:t>
            </a:r>
          </a:p>
          <a:p>
            <a:r>
              <a:t>- ESP32 là bộ não. Khi mô phỏng dùng ESP32 DevKit V1 trên Wokwi; khi làm thật (phần Bonus) dùng ESP32-S3 DevKitC-1, nên số chân khác nhau – nhớ đối chiếu đúng cột khi đấu dây.</a:t>
            </a:r>
          </a:p>
          <a:p>
            <a:r>
              <a:t>- 3 cảm biến: DHT22 (nhiệt độ, độ ẩm), quang trở LDR (sáng/tối), mực nước (Wokwi giả lập bằng một biến trở, kéo xuống thấp là "cạn nước").</a:t>
            </a:r>
          </a:p>
          <a:p>
            <a:r>
              <a:t>- 3 relay là công tắc điện do ESP32 bật/tắt, nối với bơm phun sương, quạt và đèn LED. Trên Wokwi chỉ có relay, không có bơm/quạt/đèn thật.</a:t>
            </a:r>
          </a:p>
          <a:p>
            <a:r>
              <a:t>- Màn hình ST7789 chỉ có trên board thật, hiện số đo ngay tại vườn.</a:t>
            </a:r>
          </a:p>
          <a:p>
            <a:r>
              <a:t>- Máy tính chạy Node-RED làm server và dashboard; broker dùng broker công cộng broker.emqx.io nên không cần máy chủ riêng.</a:t>
            </a:r>
          </a:p>
          <a:p>
            <a:r>
              <a:t>CÂU HỎI CÓ THỂ GẶP: "Sao board thật dùng chân khác?" → ESP32-S3 có sơ đồ chân khác ESP32 thường; chương trình cho board thật (s3_physical.cpp) khai báo chân riêng.</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740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8595360" cy="128016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2194560"/>
            <a:ext cx="8595360" cy="731520"/>
          </a:xfrm>
          <a:prstGeom prst="rect">
            <a:avLst/>
          </a:prstGeom>
          <a:noFill/>
          <a:ln/>
        </p:spPr>
        <p:txBody>
          <a:bodyPr wrap="square" rtlCol="0"/>
          <a:lstStyle>
            <a:lvl1pPr marL="0" indent="0">
              <a:buNone/>
              <a:defRPr lang="en-US" sz="2000" dirty="0">
                <a:solidFill>
                  <a:srgbClr val="CFE3D6"/>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LOSING">
    <p:bg>
      <p:bgPr>
        <a:solidFill>
          <a:srgbClr val="17402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457200"/>
            <a:ext cx="10698480" cy="731520"/>
          </a:xfrm>
          <a:prstGeom prst="rect">
            <a:avLst/>
          </a:prstGeom>
          <a:noFill/>
          <a:ln/>
        </p:spPr>
        <p:txBody>
          <a:bodyPr wrap="square" rtlCol="0"/>
          <a:lstStyle>
            <a:lvl1pPr marL="0" indent="0" algn="l">
              <a:buNone/>
              <a:defRPr lang="en-US" sz="36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3" name="Text 0"/>
          <p:cNvSpPr>
            <a:spLocks noGrp="1"/>
          </p:cNvSpPr>
          <p:nvPr>
            <p:ph type="body" idx="101" hasCustomPrompt="1"/>
          </p:nvPr>
        </p:nvSpPr>
        <p:spPr>
          <a:xfrm>
            <a:off x="731520" y="1234440"/>
            <a:ext cx="10698480" cy="457200"/>
          </a:xfrm>
          <a:prstGeom prst="rect">
            <a:avLst/>
          </a:prstGeom>
          <a:noFill/>
          <a:ln/>
        </p:spPr>
        <p:txBody>
          <a:bodyPr wrap="square" rtlCol="0"/>
          <a:lstStyle>
            <a:lvl1pPr marL="0" indent="0">
              <a:buNone/>
              <a:defRPr lang="en-US" sz="1800" i="1" dirty="0">
                <a:solidFill>
                  <a:srgbClr val="CFE3D6"/>
                </a:solidFill>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rtlCol="0"/>
          <a:lstStyle>
            <a:lvl1pPr marL="0" indent="0">
              <a:buNone/>
              <a:defRPr lang="en-US" sz="1600" i="1" dirty="0">
                <a:solidFill>
                  <a:schemeClr val="accent5"/>
                </a:solidFill>
              </a:defRPr>
            </a:lvl1pPr>
          </a:lstStyle>
          <a:p>
            <a:pPr marL="0" indent="0">
              <a:buNone/>
            </a:pP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7.png"/><Relationship Id="rId8"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image" Target="../media/image13.png"/><Relationship Id="rId9"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16.png"/><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2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0.png"/><Relationship Id="rId5"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822960"/>
            <a:ext cx="8595360" cy="128016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Vườn lan thông minh IoT</a:t>
            </a:r>
            <a:endParaRPr lang="en-US" sz="4400" dirty="0"/>
          </a:p>
        </p:txBody>
      </p:sp>
      <p:sp>
        <p:nvSpPr>
          <p:cNvPr id="3" name="Text 0"/>
          <p:cNvSpPr>
            <a:spLocks noGrp="1"/>
          </p:cNvSpPr>
          <p:nvPr>
            <p:ph type="body" idx="101" hasCustomPrompt="1"/>
          </p:nvPr>
        </p:nvSpPr>
        <p:spPr>
          <a:xfrm>
            <a:off x="731520" y="2194560"/>
            <a:ext cx="8595360" cy="731520"/>
          </a:xfrm>
          <a:prstGeom prst="rect">
            <a:avLst/>
          </a:prstGeom>
          <a:noFill/>
          <a:ln/>
        </p:spPr>
        <p:txBody>
          <a:bodyPr wrap="square" lIns="0" tIns="0" rIns="0" bIns="0" rtlCol="0" anchor="t"/>
          <a:lstStyle/>
          <a:p>
            <a:pPr marL="0" indent="0">
              <a:buNone/>
            </a:pPr>
            <a:r>
              <a:rPr lang="en-US" sz="2000" dirty="0">
                <a:solidFill>
                  <a:srgbClr val="CFE3D6"/>
                </a:solidFill>
              </a:rPr>
              <a:t>Hệ thống tự động đo và chăm sóc vườn lan, theo dõi và điều khiển từ xa qua web</a:t>
            </a:r>
            <a:endParaRPr lang="en-US" sz="2000" dirty="0"/>
          </a:p>
        </p:txBody>
      </p:sp>
      <p:sp>
        <p:nvSpPr>
          <p:cNvPr id="4" name="cover-part1-circle"/>
          <p:cNvSpPr/>
          <p:nvPr/>
        </p:nvSpPr>
        <p:spPr>
          <a:xfrm>
            <a:off x="731520" y="3246120"/>
            <a:ext cx="731520" cy="731520"/>
          </a:xfrm>
          <a:prstGeom prst="ellipse">
            <a:avLst/>
          </a:prstGeom>
          <a:solidFill>
            <a:schemeClr val="accent1"/>
          </a:solidFill>
          <a:ln w="12700">
            <a:solidFill>
              <a:schemeClr val="accent1"/>
            </a:solidFill>
            <a:prstDash val="solid"/>
          </a:ln>
        </p:spPr>
      </p:sp>
      <p:pic>
        <p:nvPicPr>
          <p:cNvPr id="5" name="cover-part1-icon" descr="preencoded.png"/>
          <p:cNvPicPr>
            <a:picLocks noChangeAspect="1"/>
          </p:cNvPicPr>
          <p:nvPr/>
        </p:nvPicPr>
        <p:blipFill>
          <a:blip r:embed="rId3"/>
          <a:stretch>
            <a:fillRect/>
          </a:stretch>
        </p:blipFill>
        <p:spPr>
          <a:xfrm>
            <a:off x="892454" y="3407054"/>
            <a:ext cx="409651" cy="409651"/>
          </a:xfrm>
          <a:prstGeom prst="rect">
            <a:avLst/>
          </a:prstGeom>
        </p:spPr>
      </p:pic>
      <p:sp>
        <p:nvSpPr>
          <p:cNvPr id="6" name="cover-part1-text"/>
          <p:cNvSpPr txBox="1"/>
          <p:nvPr/>
        </p:nvSpPr>
        <p:spPr>
          <a:xfrm>
            <a:off x="164592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1</a:t>
            </a:r>
            <a:endParaRPr lang="en-US" sz="1400" dirty="0"/>
          </a:p>
          <a:p>
            <a:pPr marL="0" indent="0">
              <a:buNone/>
            </a:pPr>
            <a:r>
              <a:rPr lang="en-US" sz="1800" b="1" dirty="0">
                <a:solidFill>
                  <a:schemeClr val="bg1"/>
                </a:solidFill>
              </a:rPr>
              <a:t>Thiết bị ESP32</a:t>
            </a:r>
            <a:endParaRPr lang="en-US" sz="1400" dirty="0"/>
          </a:p>
        </p:txBody>
      </p:sp>
      <p:sp>
        <p:nvSpPr>
          <p:cNvPr id="7" name="cover-part2-circle"/>
          <p:cNvSpPr/>
          <p:nvPr/>
        </p:nvSpPr>
        <p:spPr>
          <a:xfrm>
            <a:off x="4297680" y="3246120"/>
            <a:ext cx="731520" cy="731520"/>
          </a:xfrm>
          <a:prstGeom prst="ellipse">
            <a:avLst/>
          </a:prstGeom>
          <a:solidFill>
            <a:schemeClr val="accent2"/>
          </a:solidFill>
          <a:ln w="12700">
            <a:solidFill>
              <a:schemeClr val="accent2"/>
            </a:solidFill>
            <a:prstDash val="solid"/>
          </a:ln>
        </p:spPr>
      </p:sp>
      <p:pic>
        <p:nvPicPr>
          <p:cNvPr id="8" name="cover-part2-icon" descr="preencoded.png"/>
          <p:cNvPicPr>
            <a:picLocks noChangeAspect="1"/>
          </p:cNvPicPr>
          <p:nvPr/>
        </p:nvPicPr>
        <p:blipFill>
          <a:blip r:embed="rId4"/>
          <a:stretch>
            <a:fillRect/>
          </a:stretch>
        </p:blipFill>
        <p:spPr>
          <a:xfrm>
            <a:off x="4458614" y="3407054"/>
            <a:ext cx="409651" cy="409651"/>
          </a:xfrm>
          <a:prstGeom prst="rect">
            <a:avLst/>
          </a:prstGeom>
        </p:spPr>
      </p:pic>
      <p:sp>
        <p:nvSpPr>
          <p:cNvPr id="9" name="cover-part2-text"/>
          <p:cNvSpPr txBox="1"/>
          <p:nvPr/>
        </p:nvSpPr>
        <p:spPr>
          <a:xfrm>
            <a:off x="521208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2</a:t>
            </a:r>
            <a:endParaRPr lang="en-US" sz="1400" dirty="0"/>
          </a:p>
          <a:p>
            <a:pPr marL="0" indent="0">
              <a:buNone/>
            </a:pPr>
            <a:r>
              <a:rPr lang="en-US" sz="1800" b="1" dirty="0">
                <a:solidFill>
                  <a:schemeClr val="bg1"/>
                </a:solidFill>
              </a:rPr>
              <a:t>Truyền tin MQTT</a:t>
            </a:r>
            <a:endParaRPr lang="en-US" sz="1400" dirty="0"/>
          </a:p>
        </p:txBody>
      </p:sp>
      <p:sp>
        <p:nvSpPr>
          <p:cNvPr id="10" name="cover-part3-circle"/>
          <p:cNvSpPr/>
          <p:nvPr/>
        </p:nvSpPr>
        <p:spPr>
          <a:xfrm>
            <a:off x="7863840" y="3246120"/>
            <a:ext cx="731520" cy="731520"/>
          </a:xfrm>
          <a:prstGeom prst="ellipse">
            <a:avLst/>
          </a:prstGeom>
          <a:solidFill>
            <a:schemeClr val="accent3"/>
          </a:solidFill>
          <a:ln w="12700">
            <a:solidFill>
              <a:schemeClr val="accent3"/>
            </a:solidFill>
            <a:prstDash val="solid"/>
          </a:ln>
        </p:spPr>
      </p:sp>
      <p:pic>
        <p:nvPicPr>
          <p:cNvPr id="11" name="cover-part3-icon" descr="preencoded.png"/>
          <p:cNvPicPr>
            <a:picLocks noChangeAspect="1"/>
          </p:cNvPicPr>
          <p:nvPr/>
        </p:nvPicPr>
        <p:blipFill>
          <a:blip r:embed="rId5"/>
          <a:stretch>
            <a:fillRect/>
          </a:stretch>
        </p:blipFill>
        <p:spPr>
          <a:xfrm>
            <a:off x="8024774" y="3407054"/>
            <a:ext cx="409651" cy="409651"/>
          </a:xfrm>
          <a:prstGeom prst="rect">
            <a:avLst/>
          </a:prstGeom>
        </p:spPr>
      </p:pic>
      <p:sp>
        <p:nvSpPr>
          <p:cNvPr id="12" name="cover-part3-text"/>
          <p:cNvSpPr txBox="1"/>
          <p:nvPr/>
        </p:nvSpPr>
        <p:spPr>
          <a:xfrm>
            <a:off x="8778240" y="3291840"/>
            <a:ext cx="2560320" cy="685800"/>
          </a:xfrm>
          <a:prstGeom prst="rect">
            <a:avLst/>
          </a:prstGeom>
          <a:noFill/>
          <a:ln/>
        </p:spPr>
        <p:txBody>
          <a:bodyPr wrap="square" lIns="0" tIns="0" rIns="0" bIns="0" rtlCol="0" anchor="t"/>
          <a:lstStyle/>
          <a:p>
            <a:pPr marL="0" indent="0">
              <a:buNone/>
            </a:pPr>
            <a:r>
              <a:rPr lang="en-US" sz="1200" dirty="0">
                <a:solidFill>
                  <a:srgbClr val="CFE3D6"/>
                </a:solidFill>
              </a:rPr>
              <a:t>Phần 3</a:t>
            </a:r>
            <a:endParaRPr lang="en-US" sz="1400" dirty="0"/>
          </a:p>
          <a:p>
            <a:pPr marL="0" indent="0">
              <a:buNone/>
            </a:pPr>
            <a:r>
              <a:rPr lang="en-US" sz="1800" b="1" dirty="0">
                <a:solidFill>
                  <a:schemeClr val="bg1"/>
                </a:solidFill>
              </a:rPr>
              <a:t>Ứng dụng web Node-RED</a:t>
            </a:r>
            <a:endParaRPr lang="en-US" sz="1400" dirty="0"/>
          </a:p>
        </p:txBody>
      </p:sp>
      <p:pic>
        <p:nvPicPr>
          <p:cNvPr id="13" name="cover-leaf" descr="preencoded.png"/>
          <p:cNvPicPr>
            <a:picLocks noChangeAspect="1"/>
          </p:cNvPicPr>
          <p:nvPr/>
        </p:nvPicPr>
        <p:blipFill>
          <a:blip r:embed="rId6">
            <a:alphaModFix amt="60000"/>
          </a:blip>
          <a:stretch>
            <a:fillRect/>
          </a:stretch>
        </p:blipFill>
        <p:spPr>
          <a:xfrm>
            <a:off x="9509760" y="548640"/>
            <a:ext cx="2011680" cy="2011680"/>
          </a:xfrm>
          <a:prstGeom prst="rect">
            <a:avLst/>
          </a:prstGeom>
        </p:spPr>
      </p:pic>
      <p:sp>
        <p:nvSpPr>
          <p:cNvPr id="14" name="cover-team-label"/>
          <p:cNvSpPr txBox="1"/>
          <p:nvPr/>
        </p:nvSpPr>
        <p:spPr>
          <a:xfrm>
            <a:off x="731520" y="4526280"/>
            <a:ext cx="5486400" cy="274320"/>
          </a:xfrm>
          <a:prstGeom prst="rect">
            <a:avLst/>
          </a:prstGeom>
          <a:noFill/>
          <a:ln/>
        </p:spPr>
        <p:txBody>
          <a:bodyPr wrap="square" lIns="0" tIns="0" rIns="0" bIns="0" rtlCol="0" anchor="t"/>
          <a:lstStyle/>
          <a:p>
            <a:pPr marL="0" indent="0">
              <a:buNone/>
            </a:pPr>
            <a:r>
              <a:rPr lang="en-US" sz="1200" b="1" kern="0" spc="200" dirty="0">
                <a:solidFill>
                  <a:srgbClr val="F2B8D6"/>
                </a:solidFill>
              </a:rPr>
              <a:t>NHÓM THỰC HIỆN</a:t>
            </a:r>
            <a:endParaRPr lang="en-US" sz="1200" dirty="0"/>
          </a:p>
        </p:txBody>
      </p:sp>
      <p:sp>
        <p:nvSpPr>
          <p:cNvPr id="15" name="cover-member1"/>
          <p:cNvSpPr/>
          <p:nvPr/>
        </p:nvSpPr>
        <p:spPr>
          <a:xfrm>
            <a:off x="731520" y="4892040"/>
            <a:ext cx="3337560" cy="960120"/>
          </a:xfrm>
          <a:prstGeom prst="roundRect">
            <a:avLst>
              <a:gd name="adj" fmla="val 11429"/>
            </a:avLst>
          </a:prstGeom>
          <a:solidFill>
            <a:srgbClr val="21503A"/>
          </a:solidFill>
          <a:ln w="12700">
            <a:solidFill>
              <a:srgbClr val="21503A"/>
            </a:solidFill>
            <a:prstDash val="solid"/>
          </a:ln>
        </p:spPr>
      </p:sp>
      <p:sp>
        <p:nvSpPr>
          <p:cNvPr id="16" name="cover-member1-text"/>
          <p:cNvSpPr txBox="1"/>
          <p:nvPr/>
        </p:nvSpPr>
        <p:spPr>
          <a:xfrm>
            <a:off x="91440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1 – </a:t>
            </a:r>
            <a:r>
              <a:rPr lang="en-US" sz="1600" b="1" dirty="0" err="1">
                <a:solidFill>
                  <a:schemeClr val="bg1"/>
                </a:solidFill>
              </a:rPr>
              <a:t>Trần</a:t>
            </a:r>
            <a:r>
              <a:rPr lang="en-US" sz="1600" b="1" dirty="0">
                <a:solidFill>
                  <a:schemeClr val="bg1"/>
                </a:solidFill>
              </a:rPr>
              <a:t> </a:t>
            </a:r>
            <a:r>
              <a:rPr lang="en-US" sz="1600" b="1" dirty="0" err="1">
                <a:solidFill>
                  <a:schemeClr val="bg1"/>
                </a:solidFill>
              </a:rPr>
              <a:t>Đăng</a:t>
            </a:r>
            <a:r>
              <a:rPr lang="en-US" sz="1600" b="1">
                <a:solidFill>
                  <a:schemeClr val="bg1"/>
                </a:solidFill>
              </a:rPr>
              <a:t> Khoa</a:t>
            </a:r>
            <a:endParaRPr lang="en-US" sz="1400" dirty="0"/>
          </a:p>
          <a:p>
            <a:pPr marL="0" indent="0">
              <a:buNone/>
            </a:pPr>
            <a:r>
              <a:rPr lang="en-US" sz="1200" dirty="0">
                <a:solidFill>
                  <a:srgbClr val="CFE3D6"/>
                </a:solidFill>
              </a:rPr>
              <a:t>Firmware ESP32, lọc tín hiệu, gửi dữ liệu lên (uplink)</a:t>
            </a:r>
            <a:endParaRPr lang="en-US" sz="1400" dirty="0"/>
          </a:p>
        </p:txBody>
      </p:sp>
      <p:sp>
        <p:nvSpPr>
          <p:cNvPr id="17" name="cover-member2"/>
          <p:cNvSpPr/>
          <p:nvPr/>
        </p:nvSpPr>
        <p:spPr>
          <a:xfrm>
            <a:off x="4297680" y="4892040"/>
            <a:ext cx="3337560" cy="960120"/>
          </a:xfrm>
          <a:prstGeom prst="roundRect">
            <a:avLst>
              <a:gd name="adj" fmla="val 11429"/>
            </a:avLst>
          </a:prstGeom>
          <a:solidFill>
            <a:srgbClr val="21503A"/>
          </a:solidFill>
          <a:ln w="12700">
            <a:solidFill>
              <a:srgbClr val="21503A"/>
            </a:solidFill>
            <a:prstDash val="solid"/>
          </a:ln>
        </p:spPr>
      </p:sp>
      <p:sp>
        <p:nvSpPr>
          <p:cNvPr id="18" name="cover-member2-text"/>
          <p:cNvSpPr txBox="1"/>
          <p:nvPr/>
        </p:nvSpPr>
        <p:spPr>
          <a:xfrm>
            <a:off x="448056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2 – Lê </a:t>
            </a:r>
            <a:r>
              <a:rPr lang="en-US" sz="1600" b="1" dirty="0" err="1">
                <a:solidFill>
                  <a:schemeClr val="bg1"/>
                </a:solidFill>
              </a:rPr>
              <a:t>Ẩn</a:t>
            </a:r>
            <a:r>
              <a:rPr lang="en-US" sz="1600" b="1" dirty="0">
                <a:solidFill>
                  <a:schemeClr val="bg1"/>
                </a:solidFill>
              </a:rPr>
              <a:t> Hoàng Ý</a:t>
            </a:r>
            <a:endParaRPr lang="en-US" sz="1400" dirty="0"/>
          </a:p>
          <a:p>
            <a:pPr marL="0" indent="0">
              <a:buNone/>
            </a:pPr>
            <a:r>
              <a:rPr lang="en-US" sz="1200" dirty="0">
                <a:solidFill>
                  <a:srgbClr val="CFE3D6"/>
                </a:solidFill>
              </a:rPr>
              <a:t>Dashboard Node-RED, điều khiển xuống (downlink)</a:t>
            </a:r>
            <a:endParaRPr lang="en-US" sz="1400" dirty="0"/>
          </a:p>
        </p:txBody>
      </p:sp>
      <p:sp>
        <p:nvSpPr>
          <p:cNvPr id="19" name="cover-member3"/>
          <p:cNvSpPr/>
          <p:nvPr/>
        </p:nvSpPr>
        <p:spPr>
          <a:xfrm>
            <a:off x="7863840" y="4892040"/>
            <a:ext cx="3337560" cy="960120"/>
          </a:xfrm>
          <a:prstGeom prst="roundRect">
            <a:avLst>
              <a:gd name="adj" fmla="val 11429"/>
            </a:avLst>
          </a:prstGeom>
          <a:solidFill>
            <a:srgbClr val="21503A"/>
          </a:solidFill>
          <a:ln w="12700">
            <a:solidFill>
              <a:srgbClr val="21503A"/>
            </a:solidFill>
            <a:prstDash val="solid"/>
          </a:ln>
        </p:spPr>
      </p:sp>
      <p:sp>
        <p:nvSpPr>
          <p:cNvPr id="20" name="cover-member3-text"/>
          <p:cNvSpPr txBox="1"/>
          <p:nvPr/>
        </p:nvSpPr>
        <p:spPr>
          <a:xfrm>
            <a:off x="8046720" y="5001768"/>
            <a:ext cx="3017520" cy="777240"/>
          </a:xfrm>
          <a:prstGeom prst="rect">
            <a:avLst/>
          </a:prstGeom>
          <a:noFill/>
          <a:ln/>
        </p:spPr>
        <p:txBody>
          <a:bodyPr wrap="square" lIns="0" tIns="0" rIns="0" bIns="0" rtlCol="0" anchor="t"/>
          <a:lstStyle/>
          <a:p>
            <a:pPr marL="0" indent="0">
              <a:buNone/>
            </a:pPr>
            <a:r>
              <a:rPr lang="en-US" sz="1600" b="1" dirty="0">
                <a:solidFill>
                  <a:schemeClr val="bg1"/>
                </a:solidFill>
              </a:rPr>
              <a:t>Người 3 – </a:t>
            </a:r>
            <a:r>
              <a:rPr lang="en-US" sz="1600" b="1" dirty="0" err="1">
                <a:solidFill>
                  <a:schemeClr val="bg1"/>
                </a:solidFill>
              </a:rPr>
              <a:t>Hồ</a:t>
            </a:r>
            <a:r>
              <a:rPr lang="en-US" sz="1600" b="1" dirty="0">
                <a:solidFill>
                  <a:schemeClr val="bg1"/>
                </a:solidFill>
              </a:rPr>
              <a:t> </a:t>
            </a:r>
            <a:r>
              <a:rPr lang="en-US" sz="1600" b="1" dirty="0" err="1">
                <a:solidFill>
                  <a:schemeClr val="bg1"/>
                </a:solidFill>
              </a:rPr>
              <a:t>Sĩ</a:t>
            </a:r>
            <a:r>
              <a:rPr lang="en-US" sz="1600" b="1" dirty="0">
                <a:solidFill>
                  <a:schemeClr val="bg1"/>
                </a:solidFill>
              </a:rPr>
              <a:t> Tuấn</a:t>
            </a:r>
            <a:endParaRPr lang="en-US" sz="1400" dirty="0"/>
          </a:p>
          <a:p>
            <a:pPr marL="0" indent="0">
              <a:buNone/>
            </a:pPr>
            <a:r>
              <a:rPr lang="en-US" sz="1200" dirty="0">
                <a:solidFill>
                  <a:srgbClr val="CFE3D6"/>
                </a:solidFill>
              </a:rPr>
              <a:t>Cảnh báo Telegram, ghép hệ thống, kiểm thử</a:t>
            </a:r>
            <a:endParaRPr lang="en-US" sz="1400" dirty="0"/>
          </a:p>
        </p:txBody>
      </p:sp>
      <p:sp>
        <p:nvSpPr>
          <p:cNvPr id="21" name="cover-supervisor"/>
          <p:cNvSpPr txBox="1"/>
          <p:nvPr/>
        </p:nvSpPr>
        <p:spPr>
          <a:xfrm>
            <a:off x="731520" y="6080760"/>
            <a:ext cx="10698480" cy="320040"/>
          </a:xfrm>
          <a:prstGeom prst="rect">
            <a:avLst/>
          </a:prstGeom>
          <a:noFill/>
          <a:ln/>
        </p:spPr>
        <p:txBody>
          <a:bodyPr wrap="square" lIns="0" tIns="0" rIns="0" bIns="0" rtlCol="0" anchor="t"/>
          <a:lstStyle/>
          <a:p>
            <a:pPr marL="0" indent="0">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Bài toán và giải pháp</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Tự động giữ vi khí hậu cho vườn lan, vẫn cho người chăm sóc giám sát và can thiệp từ xa</a:t>
            </a:r>
            <a:endParaRPr lang="en-US" sz="1600" dirty="0"/>
          </a:p>
        </p:txBody>
      </p:sp>
      <p:sp>
        <p:nvSpPr>
          <p:cNvPr id="4" name="intro-problem-card"/>
          <p:cNvSpPr/>
          <p:nvPr/>
        </p:nvSpPr>
        <p:spPr>
          <a:xfrm>
            <a:off x="548640" y="1645920"/>
            <a:ext cx="5440680" cy="2743200"/>
          </a:xfrm>
          <a:prstGeom prst="roundRect">
            <a:avLst>
              <a:gd name="adj" fmla="val 4000"/>
            </a:avLst>
          </a:prstGeom>
          <a:solidFill>
            <a:schemeClr val="bg2"/>
          </a:solidFill>
          <a:ln w="12700">
            <a:solidFill>
              <a:schemeClr val="bg2"/>
            </a:solidFill>
            <a:prstDash val="solid"/>
          </a:ln>
        </p:spPr>
      </p:sp>
      <p:sp>
        <p:nvSpPr>
          <p:cNvPr id="5" name="intro-problem-circle"/>
          <p:cNvSpPr/>
          <p:nvPr/>
        </p:nvSpPr>
        <p:spPr>
          <a:xfrm>
            <a:off x="777240" y="1828800"/>
            <a:ext cx="502920" cy="502920"/>
          </a:xfrm>
          <a:prstGeom prst="ellipse">
            <a:avLst/>
          </a:prstGeom>
          <a:solidFill>
            <a:schemeClr val="accent2"/>
          </a:solidFill>
          <a:ln w="12700">
            <a:solidFill>
              <a:schemeClr val="accent2"/>
            </a:solidFill>
            <a:prstDash val="solid"/>
          </a:ln>
        </p:spPr>
      </p:sp>
      <p:pic>
        <p:nvPicPr>
          <p:cNvPr id="6" name="intro-problem-icon" descr="preencoded.png"/>
          <p:cNvPicPr>
            <a:picLocks noChangeAspect="1"/>
          </p:cNvPicPr>
          <p:nvPr/>
        </p:nvPicPr>
        <p:blipFill>
          <a:blip r:embed="rId3"/>
          <a:stretch>
            <a:fillRect/>
          </a:stretch>
        </p:blipFill>
        <p:spPr>
          <a:xfrm>
            <a:off x="887882" y="1939442"/>
            <a:ext cx="281635" cy="281635"/>
          </a:xfrm>
          <a:prstGeom prst="rect">
            <a:avLst/>
          </a:prstGeom>
        </p:spPr>
      </p:pic>
      <p:sp>
        <p:nvSpPr>
          <p:cNvPr id="7" name="intro-problem-title"/>
          <p:cNvSpPr txBox="1"/>
          <p:nvPr/>
        </p:nvSpPr>
        <p:spPr>
          <a:xfrm>
            <a:off x="1417320" y="1892808"/>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Vấn đề</a:t>
            </a:r>
            <a:endParaRPr lang="en-US" sz="2000" dirty="0"/>
          </a:p>
        </p:txBody>
      </p:sp>
      <p:sp>
        <p:nvSpPr>
          <p:cNvPr id="8" name="intro-problem-body"/>
          <p:cNvSpPr txBox="1"/>
          <p:nvPr/>
        </p:nvSpPr>
        <p:spPr>
          <a:xfrm>
            <a:off x="777240" y="2514600"/>
            <a:ext cx="5029200" cy="1783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Lan cần độ ẩm, nhiệt độ và ánh sáng ổn định; chăm tay dễ quên, dễ trễ</a:t>
            </a:r>
            <a:endParaRPr lang="en-US" sz="1500" dirty="0"/>
          </a:p>
          <a:p>
            <a:pPr marL="342900" indent="-342900">
              <a:spcAft>
                <a:spcPts val="600"/>
              </a:spcAft>
              <a:buSzPct val="100000"/>
              <a:buChar char="•"/>
            </a:pPr>
            <a:r>
              <a:rPr lang="en-US" sz="1500" dirty="0">
                <a:solidFill>
                  <a:schemeClr val="tx1"/>
                </a:solidFill>
              </a:rPr>
              <a:t>Phun quá nhiều hoặc để lá đọng nước lâu dễ gây thối nõn, nấm</a:t>
            </a:r>
            <a:endParaRPr lang="en-US" sz="1500" dirty="0"/>
          </a:p>
          <a:p>
            <a:pPr marL="342900" indent="-342900">
              <a:spcAft>
                <a:spcPts val="600"/>
              </a:spcAft>
              <a:buSzPct val="100000"/>
              <a:buChar char="•"/>
            </a:pPr>
            <a:r>
              <a:rPr lang="en-US" sz="1500" dirty="0">
                <a:solidFill>
                  <a:schemeClr val="tx1"/>
                </a:solidFill>
              </a:rPr>
              <a:t>Bơm chạy khi bình cạn nước có thể hỏng bơm</a:t>
            </a:r>
            <a:endParaRPr lang="en-US" sz="1500" dirty="0"/>
          </a:p>
        </p:txBody>
      </p:sp>
      <p:sp>
        <p:nvSpPr>
          <p:cNvPr id="9" name="intro-goal-card"/>
          <p:cNvSpPr/>
          <p:nvPr/>
        </p:nvSpPr>
        <p:spPr>
          <a:xfrm>
            <a:off x="6172200" y="1645920"/>
            <a:ext cx="5440680" cy="2743200"/>
          </a:xfrm>
          <a:prstGeom prst="roundRect">
            <a:avLst>
              <a:gd name="adj" fmla="val 4000"/>
            </a:avLst>
          </a:prstGeom>
          <a:solidFill>
            <a:schemeClr val="bg2"/>
          </a:solidFill>
          <a:ln w="12700">
            <a:solidFill>
              <a:schemeClr val="bg2"/>
            </a:solidFill>
            <a:prstDash val="solid"/>
          </a:ln>
        </p:spPr>
      </p:sp>
      <p:sp>
        <p:nvSpPr>
          <p:cNvPr id="10" name="intro-goal-circle"/>
          <p:cNvSpPr/>
          <p:nvPr/>
        </p:nvSpPr>
        <p:spPr>
          <a:xfrm>
            <a:off x="6400800" y="1828800"/>
            <a:ext cx="502920" cy="502920"/>
          </a:xfrm>
          <a:prstGeom prst="ellipse">
            <a:avLst/>
          </a:prstGeom>
          <a:solidFill>
            <a:schemeClr val="accent1"/>
          </a:solidFill>
          <a:ln w="12700">
            <a:solidFill>
              <a:schemeClr val="accent1"/>
            </a:solidFill>
            <a:prstDash val="solid"/>
          </a:ln>
        </p:spPr>
      </p:sp>
      <p:pic>
        <p:nvPicPr>
          <p:cNvPr id="11" name="intro-goal-icon" descr="preencoded.png"/>
          <p:cNvPicPr>
            <a:picLocks noChangeAspect="1"/>
          </p:cNvPicPr>
          <p:nvPr/>
        </p:nvPicPr>
        <p:blipFill>
          <a:blip r:embed="rId4"/>
          <a:stretch>
            <a:fillRect/>
          </a:stretch>
        </p:blipFill>
        <p:spPr>
          <a:xfrm>
            <a:off x="6511442" y="1939442"/>
            <a:ext cx="281635" cy="281635"/>
          </a:xfrm>
          <a:prstGeom prst="rect">
            <a:avLst/>
          </a:prstGeom>
        </p:spPr>
      </p:pic>
      <p:sp>
        <p:nvSpPr>
          <p:cNvPr id="12" name="intro-goal-title"/>
          <p:cNvSpPr txBox="1"/>
          <p:nvPr/>
        </p:nvSpPr>
        <p:spPr>
          <a:xfrm>
            <a:off x="7040880" y="1892808"/>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Giải pháp</a:t>
            </a:r>
            <a:endParaRPr lang="en-US" sz="2000" dirty="0"/>
          </a:p>
        </p:txBody>
      </p:sp>
      <p:sp>
        <p:nvSpPr>
          <p:cNvPr id="13" name="intro-goal-body"/>
          <p:cNvSpPr txBox="1"/>
          <p:nvPr/>
        </p:nvSpPr>
        <p:spPr>
          <a:xfrm>
            <a:off x="6400800" y="2514600"/>
            <a:ext cx="5029200" cy="178308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ESP32 tự đo và điều khiển phun, quạt, đèn ngay tại vườn</a:t>
            </a:r>
            <a:endParaRPr lang="en-US" sz="1500" dirty="0"/>
          </a:p>
          <a:p>
            <a:pPr marL="342900" indent="-342900">
              <a:spcAft>
                <a:spcPts val="600"/>
              </a:spcAft>
              <a:buSzPct val="100000"/>
              <a:buChar char="•"/>
            </a:pPr>
            <a:r>
              <a:rPr lang="en-US" sz="1500" dirty="0">
                <a:solidFill>
                  <a:schemeClr val="tx1"/>
                </a:solidFill>
              </a:rPr>
              <a:t>Trang web theo dõi trực tiếp, bấm điều khiển và thấy thiết bị xác nhận</a:t>
            </a:r>
            <a:endParaRPr lang="en-US" sz="1500" dirty="0"/>
          </a:p>
          <a:p>
            <a:pPr marL="342900" indent="-342900">
              <a:spcAft>
                <a:spcPts val="600"/>
              </a:spcAft>
              <a:buSzPct val="100000"/>
              <a:buChar char="•"/>
            </a:pPr>
            <a:r>
              <a:rPr lang="en-US" sz="1500" dirty="0">
                <a:solidFill>
                  <a:schemeClr val="tx1"/>
                </a:solidFill>
              </a:rPr>
              <a:t>Các khóa an toàn chạy ngay trên ESP32: mất mạng vẫn tự chăm vườn an toàn</a:t>
            </a:r>
            <a:endParaRPr lang="en-US" sz="1500" dirty="0"/>
          </a:p>
        </p:txBody>
      </p:sp>
      <p:sp>
        <p:nvSpPr>
          <p:cNvPr id="14" name="intro-layers-label"/>
          <p:cNvSpPr txBox="1"/>
          <p:nvPr/>
        </p:nvSpPr>
        <p:spPr>
          <a:xfrm>
            <a:off x="548640" y="461772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Kiến trúc 4 tầng</a:t>
            </a:r>
            <a:endParaRPr lang="en-US" sz="1300" dirty="0"/>
          </a:p>
        </p:txBody>
      </p:sp>
      <p:sp>
        <p:nvSpPr>
          <p:cNvPr id="15" name="intro-layer1"/>
          <p:cNvSpPr/>
          <p:nvPr/>
        </p:nvSpPr>
        <p:spPr>
          <a:xfrm>
            <a:off x="548640" y="4983480"/>
            <a:ext cx="2514600" cy="914400"/>
          </a:xfrm>
          <a:prstGeom prst="roundRect">
            <a:avLst>
              <a:gd name="adj" fmla="val 12000"/>
            </a:avLst>
          </a:prstGeom>
          <a:solidFill>
            <a:schemeClr val="bg2"/>
          </a:solidFill>
          <a:ln w="12700">
            <a:solidFill>
              <a:schemeClr val="bg2"/>
            </a:solidFill>
            <a:prstDash val="solid"/>
          </a:ln>
        </p:spPr>
      </p:sp>
      <p:sp>
        <p:nvSpPr>
          <p:cNvPr id="16" name="intro-layer1-circle"/>
          <p:cNvSpPr/>
          <p:nvPr/>
        </p:nvSpPr>
        <p:spPr>
          <a:xfrm>
            <a:off x="685800" y="5166360"/>
            <a:ext cx="548640" cy="548640"/>
          </a:xfrm>
          <a:prstGeom prst="ellipse">
            <a:avLst/>
          </a:prstGeom>
          <a:solidFill>
            <a:schemeClr val="accent1"/>
          </a:solidFill>
          <a:ln w="12700">
            <a:solidFill>
              <a:schemeClr val="accent1"/>
            </a:solidFill>
            <a:prstDash val="solid"/>
          </a:ln>
        </p:spPr>
      </p:sp>
      <p:pic>
        <p:nvPicPr>
          <p:cNvPr id="17" name="intro-layer1-icon" descr="preencoded.png"/>
          <p:cNvPicPr>
            <a:picLocks noChangeAspect="1"/>
          </p:cNvPicPr>
          <p:nvPr/>
        </p:nvPicPr>
        <p:blipFill>
          <a:blip r:embed="rId5"/>
          <a:stretch>
            <a:fillRect/>
          </a:stretch>
        </p:blipFill>
        <p:spPr>
          <a:xfrm>
            <a:off x="806501" y="5287061"/>
            <a:ext cx="307238" cy="307238"/>
          </a:xfrm>
          <a:prstGeom prst="rect">
            <a:avLst/>
          </a:prstGeom>
        </p:spPr>
      </p:pic>
      <p:sp>
        <p:nvSpPr>
          <p:cNvPr id="18" name="intro-layer1-text"/>
          <p:cNvSpPr txBox="1"/>
          <p:nvPr/>
        </p:nvSpPr>
        <p:spPr>
          <a:xfrm>
            <a:off x="137160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Thiết bị</a:t>
            </a:r>
            <a:endParaRPr lang="en-US" sz="1400" dirty="0"/>
          </a:p>
          <a:p>
            <a:pPr marL="0" indent="0">
              <a:buNone/>
            </a:pPr>
            <a:r>
              <a:rPr lang="en-US" sz="1200" dirty="0">
                <a:solidFill>
                  <a:schemeClr val="accent5"/>
                </a:solidFill>
              </a:rPr>
              <a:t>ESP32 + cảm biến + relay</a:t>
            </a:r>
            <a:endParaRPr lang="en-US" sz="1400" dirty="0"/>
          </a:p>
        </p:txBody>
      </p:sp>
      <p:sp>
        <p:nvSpPr>
          <p:cNvPr id="19" name="intro-layer-arrow1"/>
          <p:cNvSpPr/>
          <p:nvPr/>
        </p:nvSpPr>
        <p:spPr>
          <a:xfrm>
            <a:off x="3090672" y="5321808"/>
            <a:ext cx="274320" cy="237744"/>
          </a:xfrm>
          <a:prstGeom prst="leftRightArrow">
            <a:avLst/>
          </a:prstGeom>
          <a:solidFill>
            <a:schemeClr val="accent6"/>
          </a:solidFill>
          <a:ln w="12700">
            <a:solidFill>
              <a:schemeClr val="accent6"/>
            </a:solidFill>
            <a:prstDash val="solid"/>
          </a:ln>
        </p:spPr>
      </p:sp>
      <p:sp>
        <p:nvSpPr>
          <p:cNvPr id="20" name="intro-layer2"/>
          <p:cNvSpPr/>
          <p:nvPr/>
        </p:nvSpPr>
        <p:spPr>
          <a:xfrm>
            <a:off x="3383280" y="4983480"/>
            <a:ext cx="2514600" cy="914400"/>
          </a:xfrm>
          <a:prstGeom prst="roundRect">
            <a:avLst>
              <a:gd name="adj" fmla="val 12000"/>
            </a:avLst>
          </a:prstGeom>
          <a:solidFill>
            <a:schemeClr val="bg2"/>
          </a:solidFill>
          <a:ln w="12700">
            <a:solidFill>
              <a:schemeClr val="bg2"/>
            </a:solidFill>
            <a:prstDash val="solid"/>
          </a:ln>
        </p:spPr>
      </p:sp>
      <p:sp>
        <p:nvSpPr>
          <p:cNvPr id="21" name="intro-layer2-circle"/>
          <p:cNvSpPr/>
          <p:nvPr/>
        </p:nvSpPr>
        <p:spPr>
          <a:xfrm>
            <a:off x="3520440" y="5166360"/>
            <a:ext cx="548640" cy="548640"/>
          </a:xfrm>
          <a:prstGeom prst="ellipse">
            <a:avLst/>
          </a:prstGeom>
          <a:solidFill>
            <a:schemeClr val="accent2"/>
          </a:solidFill>
          <a:ln w="12700">
            <a:solidFill>
              <a:schemeClr val="accent2"/>
            </a:solidFill>
            <a:prstDash val="solid"/>
          </a:ln>
        </p:spPr>
      </p:sp>
      <p:pic>
        <p:nvPicPr>
          <p:cNvPr id="22" name="intro-layer2-icon" descr="preencoded.png"/>
          <p:cNvPicPr>
            <a:picLocks noChangeAspect="1"/>
          </p:cNvPicPr>
          <p:nvPr/>
        </p:nvPicPr>
        <p:blipFill>
          <a:blip r:embed="rId6"/>
          <a:stretch>
            <a:fillRect/>
          </a:stretch>
        </p:blipFill>
        <p:spPr>
          <a:xfrm>
            <a:off x="3641141" y="5287061"/>
            <a:ext cx="307238" cy="307238"/>
          </a:xfrm>
          <a:prstGeom prst="rect">
            <a:avLst/>
          </a:prstGeom>
        </p:spPr>
      </p:pic>
      <p:sp>
        <p:nvSpPr>
          <p:cNvPr id="23" name="intro-layer2-text"/>
          <p:cNvSpPr txBox="1"/>
          <p:nvPr/>
        </p:nvSpPr>
        <p:spPr>
          <a:xfrm>
            <a:off x="420624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Truyền thông</a:t>
            </a:r>
            <a:endParaRPr lang="en-US" sz="1400" dirty="0"/>
          </a:p>
          <a:p>
            <a:pPr marL="0" indent="0">
              <a:buNone/>
            </a:pPr>
            <a:r>
              <a:rPr lang="en-US" sz="1200" dirty="0">
                <a:solidFill>
                  <a:schemeClr val="accent5"/>
                </a:solidFill>
              </a:rPr>
              <a:t>MQTT broker.emqx.io</a:t>
            </a:r>
            <a:endParaRPr lang="en-US" sz="1400" dirty="0"/>
          </a:p>
        </p:txBody>
      </p:sp>
      <p:sp>
        <p:nvSpPr>
          <p:cNvPr id="24" name="intro-layer-arrow2"/>
          <p:cNvSpPr/>
          <p:nvPr/>
        </p:nvSpPr>
        <p:spPr>
          <a:xfrm>
            <a:off x="5925312" y="5321808"/>
            <a:ext cx="274320" cy="237744"/>
          </a:xfrm>
          <a:prstGeom prst="leftRightArrow">
            <a:avLst/>
          </a:prstGeom>
          <a:solidFill>
            <a:schemeClr val="accent6"/>
          </a:solidFill>
          <a:ln w="12700">
            <a:solidFill>
              <a:schemeClr val="accent6"/>
            </a:solidFill>
            <a:prstDash val="solid"/>
          </a:ln>
        </p:spPr>
      </p:sp>
      <p:sp>
        <p:nvSpPr>
          <p:cNvPr id="25" name="intro-layer3"/>
          <p:cNvSpPr/>
          <p:nvPr/>
        </p:nvSpPr>
        <p:spPr>
          <a:xfrm>
            <a:off x="6217920" y="4983480"/>
            <a:ext cx="2514600" cy="914400"/>
          </a:xfrm>
          <a:prstGeom prst="roundRect">
            <a:avLst>
              <a:gd name="adj" fmla="val 12000"/>
            </a:avLst>
          </a:prstGeom>
          <a:solidFill>
            <a:schemeClr val="bg2"/>
          </a:solidFill>
          <a:ln w="12700">
            <a:solidFill>
              <a:schemeClr val="bg2"/>
            </a:solidFill>
            <a:prstDash val="solid"/>
          </a:ln>
        </p:spPr>
      </p:sp>
      <p:sp>
        <p:nvSpPr>
          <p:cNvPr id="26" name="intro-layer3-circle"/>
          <p:cNvSpPr/>
          <p:nvPr/>
        </p:nvSpPr>
        <p:spPr>
          <a:xfrm>
            <a:off x="6355080" y="5166360"/>
            <a:ext cx="548640" cy="548640"/>
          </a:xfrm>
          <a:prstGeom prst="ellipse">
            <a:avLst/>
          </a:prstGeom>
          <a:solidFill>
            <a:schemeClr val="accent3"/>
          </a:solidFill>
          <a:ln w="12700">
            <a:solidFill>
              <a:schemeClr val="accent3"/>
            </a:solidFill>
            <a:prstDash val="solid"/>
          </a:ln>
        </p:spPr>
      </p:sp>
      <p:pic>
        <p:nvPicPr>
          <p:cNvPr id="27" name="intro-layer3-icon" descr="preencoded.png"/>
          <p:cNvPicPr>
            <a:picLocks noChangeAspect="1"/>
          </p:cNvPicPr>
          <p:nvPr/>
        </p:nvPicPr>
        <p:blipFill>
          <a:blip r:embed="rId7"/>
          <a:stretch>
            <a:fillRect/>
          </a:stretch>
        </p:blipFill>
        <p:spPr>
          <a:xfrm>
            <a:off x="6475781" y="5287061"/>
            <a:ext cx="307238" cy="307238"/>
          </a:xfrm>
          <a:prstGeom prst="rect">
            <a:avLst/>
          </a:prstGeom>
        </p:spPr>
      </p:pic>
      <p:sp>
        <p:nvSpPr>
          <p:cNvPr id="28" name="intro-layer3-text"/>
          <p:cNvSpPr txBox="1"/>
          <p:nvPr/>
        </p:nvSpPr>
        <p:spPr>
          <a:xfrm>
            <a:off x="704088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Xử lý</a:t>
            </a:r>
            <a:endParaRPr lang="en-US" sz="1400" dirty="0"/>
          </a:p>
          <a:p>
            <a:pPr marL="0" indent="0">
              <a:buNone/>
            </a:pPr>
            <a:r>
              <a:rPr lang="en-US" sz="1200" dirty="0">
                <a:solidFill>
                  <a:schemeClr val="accent5"/>
                </a:solidFill>
              </a:rPr>
              <a:t>Node-RED: luật tự động, nhật ký</a:t>
            </a:r>
            <a:endParaRPr lang="en-US" sz="1400" dirty="0"/>
          </a:p>
        </p:txBody>
      </p:sp>
      <p:sp>
        <p:nvSpPr>
          <p:cNvPr id="29" name="intro-layer-arrow3"/>
          <p:cNvSpPr/>
          <p:nvPr/>
        </p:nvSpPr>
        <p:spPr>
          <a:xfrm>
            <a:off x="8759952" y="5321808"/>
            <a:ext cx="274320" cy="237744"/>
          </a:xfrm>
          <a:prstGeom prst="leftRightArrow">
            <a:avLst/>
          </a:prstGeom>
          <a:solidFill>
            <a:schemeClr val="accent6"/>
          </a:solidFill>
          <a:ln w="12700">
            <a:solidFill>
              <a:schemeClr val="accent6"/>
            </a:solidFill>
            <a:prstDash val="solid"/>
          </a:ln>
        </p:spPr>
      </p:sp>
      <p:sp>
        <p:nvSpPr>
          <p:cNvPr id="30" name="intro-layer4"/>
          <p:cNvSpPr/>
          <p:nvPr/>
        </p:nvSpPr>
        <p:spPr>
          <a:xfrm>
            <a:off x="9052560" y="4983480"/>
            <a:ext cx="2514600" cy="914400"/>
          </a:xfrm>
          <a:prstGeom prst="roundRect">
            <a:avLst>
              <a:gd name="adj" fmla="val 12000"/>
            </a:avLst>
          </a:prstGeom>
          <a:solidFill>
            <a:schemeClr val="bg2"/>
          </a:solidFill>
          <a:ln w="12700">
            <a:solidFill>
              <a:schemeClr val="bg2"/>
            </a:solidFill>
            <a:prstDash val="solid"/>
          </a:ln>
        </p:spPr>
      </p:sp>
      <p:sp>
        <p:nvSpPr>
          <p:cNvPr id="31" name="intro-layer4-circle"/>
          <p:cNvSpPr/>
          <p:nvPr/>
        </p:nvSpPr>
        <p:spPr>
          <a:xfrm>
            <a:off x="9189720" y="5166360"/>
            <a:ext cx="548640" cy="548640"/>
          </a:xfrm>
          <a:prstGeom prst="ellipse">
            <a:avLst/>
          </a:prstGeom>
          <a:solidFill>
            <a:schemeClr val="accent5"/>
          </a:solidFill>
          <a:ln w="12700">
            <a:solidFill>
              <a:schemeClr val="accent5"/>
            </a:solidFill>
            <a:prstDash val="solid"/>
          </a:ln>
        </p:spPr>
      </p:sp>
      <p:pic>
        <p:nvPicPr>
          <p:cNvPr id="32" name="intro-layer4-icon" descr="preencoded.png"/>
          <p:cNvPicPr>
            <a:picLocks noChangeAspect="1"/>
          </p:cNvPicPr>
          <p:nvPr/>
        </p:nvPicPr>
        <p:blipFill>
          <a:blip r:embed="rId8"/>
          <a:stretch>
            <a:fillRect/>
          </a:stretch>
        </p:blipFill>
        <p:spPr>
          <a:xfrm>
            <a:off x="9310421" y="5287061"/>
            <a:ext cx="307238" cy="307238"/>
          </a:xfrm>
          <a:prstGeom prst="rect">
            <a:avLst/>
          </a:prstGeom>
        </p:spPr>
      </p:pic>
      <p:sp>
        <p:nvSpPr>
          <p:cNvPr id="33" name="intro-layer4-text"/>
          <p:cNvSpPr txBox="1"/>
          <p:nvPr/>
        </p:nvSpPr>
        <p:spPr>
          <a:xfrm>
            <a:off x="9875520" y="5120640"/>
            <a:ext cx="1645920" cy="731520"/>
          </a:xfrm>
          <a:prstGeom prst="rect">
            <a:avLst/>
          </a:prstGeom>
          <a:noFill/>
          <a:ln/>
        </p:spPr>
        <p:txBody>
          <a:bodyPr wrap="square" lIns="0" tIns="0" rIns="0" bIns="0" rtlCol="0" anchor="t"/>
          <a:lstStyle/>
          <a:p>
            <a:pPr marL="0" indent="0">
              <a:buNone/>
            </a:pPr>
            <a:r>
              <a:rPr lang="en-US" sz="1500" b="1" dirty="0">
                <a:solidFill>
                  <a:schemeClr val="tx2"/>
                </a:solidFill>
              </a:rPr>
              <a:t>Ứng dụng</a:t>
            </a:r>
            <a:endParaRPr lang="en-US" sz="1400" dirty="0"/>
          </a:p>
          <a:p>
            <a:pPr marL="0" indent="0">
              <a:buNone/>
            </a:pPr>
            <a:r>
              <a:rPr lang="en-US" sz="1200" dirty="0">
                <a:solidFill>
                  <a:schemeClr val="accent5"/>
                </a:solidFill>
              </a:rPr>
              <a:t>Dashboard + Telegram</a:t>
            </a:r>
            <a:endParaRPr lang="en-US" sz="1400" dirty="0"/>
          </a:p>
        </p:txBody>
      </p:sp>
      <p:sp>
        <p:nvSpPr>
          <p:cNvPr id="34" name="intro-layers-note"/>
          <p:cNvSpPr txBox="1"/>
          <p:nvPr/>
        </p:nvSpPr>
        <p:spPr>
          <a:xfrm>
            <a:off x="548640" y="6035040"/>
            <a:ext cx="11064240" cy="274320"/>
          </a:xfrm>
          <a:prstGeom prst="rect">
            <a:avLst/>
          </a:prstGeom>
          <a:noFill/>
          <a:ln/>
        </p:spPr>
        <p:txBody>
          <a:bodyPr wrap="square" lIns="0" tIns="0" rIns="0" bIns="0" rtlCol="0" anchor="t"/>
          <a:lstStyle/>
          <a:p>
            <a:pPr marL="0" indent="0">
              <a:buNone/>
            </a:pPr>
            <a:r>
              <a:rPr lang="en-US" sz="1100" i="1" dirty="0">
                <a:solidFill>
                  <a:schemeClr val="accent5"/>
                </a:solidFill>
              </a:rPr>
              <a:t>Mũi tên hai chiều: số đo đi lên (uplink), lệnh điều khiển đi xuống và xác nhận quay về (downlink)</a:t>
            </a:r>
            <a:endParaRPr lang="en-US" sz="1100" dirty="0"/>
          </a:p>
        </p:txBody>
      </p:sp>
      <p:sp>
        <p:nvSpPr>
          <p:cNvPr id="3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1: Thiết bị ESP32 tại vườn</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Bộ não nhỏ đặt ngay tại vườn: tự đo môi trường và tự bật/tắt thiết bị, không cần chờ server</a:t>
            </a:r>
            <a:endParaRPr lang="en-US" sz="1600" dirty="0"/>
          </a:p>
        </p:txBody>
      </p:sp>
      <p:sp>
        <p:nvSpPr>
          <p:cNvPr id="4" name="p1a-sensor-card"/>
          <p:cNvSpPr/>
          <p:nvPr/>
        </p:nvSpPr>
        <p:spPr>
          <a:xfrm>
            <a:off x="548640" y="1645920"/>
            <a:ext cx="4480560" cy="4663440"/>
          </a:xfrm>
          <a:prstGeom prst="roundRect">
            <a:avLst>
              <a:gd name="adj" fmla="val 2449"/>
            </a:avLst>
          </a:prstGeom>
          <a:solidFill>
            <a:schemeClr val="bg2"/>
          </a:solidFill>
          <a:ln w="12700">
            <a:solidFill>
              <a:schemeClr val="bg2"/>
            </a:solidFill>
            <a:prstDash val="solid"/>
          </a:ln>
        </p:spPr>
      </p:sp>
      <p:sp>
        <p:nvSpPr>
          <p:cNvPr id="5" name="p1a-sensor-title"/>
          <p:cNvSpPr txBox="1"/>
          <p:nvPr/>
        </p:nvSpPr>
        <p:spPr>
          <a:xfrm>
            <a:off x="822960" y="1828800"/>
            <a:ext cx="393192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Cảm biến (đầu vào)</a:t>
            </a:r>
            <a:endParaRPr lang="en-US" sz="2000" dirty="0"/>
          </a:p>
        </p:txBody>
      </p:sp>
      <p:sp>
        <p:nvSpPr>
          <p:cNvPr id="6" name="p1a-sensor0-circle"/>
          <p:cNvSpPr/>
          <p:nvPr/>
        </p:nvSpPr>
        <p:spPr>
          <a:xfrm>
            <a:off x="822960" y="2514600"/>
            <a:ext cx="685800" cy="685800"/>
          </a:xfrm>
          <a:prstGeom prst="ellipse">
            <a:avLst/>
          </a:prstGeom>
          <a:solidFill>
            <a:schemeClr val="accent1"/>
          </a:solidFill>
          <a:ln w="12700">
            <a:solidFill>
              <a:schemeClr val="accent1"/>
            </a:solidFill>
            <a:prstDash val="solid"/>
          </a:ln>
        </p:spPr>
      </p:sp>
      <p:pic>
        <p:nvPicPr>
          <p:cNvPr id="7" name="p1a-sensor0-icon" descr="preencoded.png"/>
          <p:cNvPicPr>
            <a:picLocks noChangeAspect="1"/>
          </p:cNvPicPr>
          <p:nvPr/>
        </p:nvPicPr>
        <p:blipFill>
          <a:blip r:embed="rId3"/>
          <a:stretch>
            <a:fillRect/>
          </a:stretch>
        </p:blipFill>
        <p:spPr>
          <a:xfrm>
            <a:off x="973836" y="2665476"/>
            <a:ext cx="384048" cy="384048"/>
          </a:xfrm>
          <a:prstGeom prst="rect">
            <a:avLst/>
          </a:prstGeom>
        </p:spPr>
      </p:pic>
      <p:sp>
        <p:nvSpPr>
          <p:cNvPr id="8" name="p1a-sensor0-text"/>
          <p:cNvSpPr txBox="1"/>
          <p:nvPr/>
        </p:nvSpPr>
        <p:spPr>
          <a:xfrm>
            <a:off x="1691640" y="2441448"/>
            <a:ext cx="3200400" cy="960120"/>
          </a:xfrm>
          <a:prstGeom prst="rect">
            <a:avLst/>
          </a:prstGeom>
          <a:noFill/>
          <a:ln/>
        </p:spPr>
        <p:txBody>
          <a:bodyPr wrap="square" lIns="0" tIns="0" rIns="0" bIns="0" rtlCol="0" anchor="t"/>
          <a:lstStyle/>
          <a:p>
            <a:pPr marL="0" indent="0">
              <a:buNone/>
            </a:pPr>
            <a:r>
              <a:rPr lang="en-US" sz="1700" b="1" dirty="0">
                <a:solidFill>
                  <a:schemeClr val="tx1"/>
                </a:solidFill>
              </a:rPr>
              <a:t>DHT22</a:t>
            </a:r>
            <a:endParaRPr lang="en-US" sz="1400" dirty="0"/>
          </a:p>
          <a:p>
            <a:pPr marL="0" indent="0">
              <a:buNone/>
            </a:pPr>
            <a:r>
              <a:rPr lang="en-US" sz="1300" b="1" dirty="0">
                <a:solidFill>
                  <a:schemeClr val="accent1"/>
                </a:solidFill>
              </a:rPr>
              <a:t>GPIO15</a:t>
            </a:r>
            <a:endParaRPr lang="en-US" sz="1400" dirty="0"/>
          </a:p>
          <a:p>
            <a:pPr marL="0" indent="0">
              <a:buNone/>
            </a:pPr>
            <a:r>
              <a:rPr lang="en-US" sz="1400" dirty="0">
                <a:solidFill>
                  <a:schemeClr val="accent5"/>
                </a:solidFill>
              </a:rPr>
              <a:t>Đo nhiệt độ và độ ẩm không khí</a:t>
            </a:r>
            <a:endParaRPr lang="en-US" sz="1400" dirty="0"/>
          </a:p>
        </p:txBody>
      </p:sp>
      <p:sp>
        <p:nvSpPr>
          <p:cNvPr id="9" name="p1a-sensor1-circle"/>
          <p:cNvSpPr/>
          <p:nvPr/>
        </p:nvSpPr>
        <p:spPr>
          <a:xfrm>
            <a:off x="822960" y="3749040"/>
            <a:ext cx="685800" cy="685800"/>
          </a:xfrm>
          <a:prstGeom prst="ellipse">
            <a:avLst/>
          </a:prstGeom>
          <a:solidFill>
            <a:schemeClr val="accent1"/>
          </a:solidFill>
          <a:ln w="12700">
            <a:solidFill>
              <a:schemeClr val="accent1"/>
            </a:solidFill>
            <a:prstDash val="solid"/>
          </a:ln>
        </p:spPr>
      </p:sp>
      <p:pic>
        <p:nvPicPr>
          <p:cNvPr id="10" name="p1a-sensor1-icon" descr="preencoded.png"/>
          <p:cNvPicPr>
            <a:picLocks noChangeAspect="1"/>
          </p:cNvPicPr>
          <p:nvPr/>
        </p:nvPicPr>
        <p:blipFill>
          <a:blip r:embed="rId4"/>
          <a:stretch>
            <a:fillRect/>
          </a:stretch>
        </p:blipFill>
        <p:spPr>
          <a:xfrm>
            <a:off x="973836" y="3899916"/>
            <a:ext cx="384048" cy="384048"/>
          </a:xfrm>
          <a:prstGeom prst="rect">
            <a:avLst/>
          </a:prstGeom>
        </p:spPr>
      </p:pic>
      <p:sp>
        <p:nvSpPr>
          <p:cNvPr id="11" name="p1a-sensor1-text"/>
          <p:cNvSpPr txBox="1"/>
          <p:nvPr/>
        </p:nvSpPr>
        <p:spPr>
          <a:xfrm>
            <a:off x="1691640" y="3675888"/>
            <a:ext cx="3200400" cy="960120"/>
          </a:xfrm>
          <a:prstGeom prst="rect">
            <a:avLst/>
          </a:prstGeom>
          <a:noFill/>
          <a:ln/>
        </p:spPr>
        <p:txBody>
          <a:bodyPr wrap="square" lIns="0" tIns="0" rIns="0" bIns="0" rtlCol="0" anchor="t"/>
          <a:lstStyle/>
          <a:p>
            <a:pPr marL="0" indent="0">
              <a:buNone/>
            </a:pPr>
            <a:r>
              <a:rPr lang="en-US" sz="1700" b="1" dirty="0">
                <a:solidFill>
                  <a:schemeClr val="tx1"/>
                </a:solidFill>
              </a:rPr>
              <a:t>Quang trở LDR</a:t>
            </a:r>
            <a:endParaRPr lang="en-US" sz="1400" dirty="0"/>
          </a:p>
          <a:p>
            <a:pPr marL="0" indent="0">
              <a:buNone/>
            </a:pPr>
            <a:r>
              <a:rPr lang="en-US" sz="1300" b="1" dirty="0">
                <a:solidFill>
                  <a:schemeClr val="accent1"/>
                </a:solidFill>
              </a:rPr>
              <a:t>GPIO34</a:t>
            </a:r>
            <a:endParaRPr lang="en-US" sz="1400" dirty="0"/>
          </a:p>
          <a:p>
            <a:pPr marL="0" indent="0">
              <a:buNone/>
            </a:pPr>
            <a:r>
              <a:rPr lang="en-US" sz="1400" dirty="0">
                <a:solidFill>
                  <a:schemeClr val="accent5"/>
                </a:solidFill>
              </a:rPr>
              <a:t>Biết trời đang sáng hay tối</a:t>
            </a:r>
            <a:endParaRPr lang="en-US" sz="1400" dirty="0"/>
          </a:p>
        </p:txBody>
      </p:sp>
      <p:sp>
        <p:nvSpPr>
          <p:cNvPr id="12" name="p1a-sensor2-circle"/>
          <p:cNvSpPr/>
          <p:nvPr/>
        </p:nvSpPr>
        <p:spPr>
          <a:xfrm>
            <a:off x="822960" y="4983480"/>
            <a:ext cx="685800" cy="685800"/>
          </a:xfrm>
          <a:prstGeom prst="ellipse">
            <a:avLst/>
          </a:prstGeom>
          <a:solidFill>
            <a:schemeClr val="accent1"/>
          </a:solidFill>
          <a:ln w="12700">
            <a:solidFill>
              <a:schemeClr val="accent1"/>
            </a:solidFill>
            <a:prstDash val="solid"/>
          </a:ln>
        </p:spPr>
      </p:sp>
      <p:pic>
        <p:nvPicPr>
          <p:cNvPr id="13" name="p1a-sensor2-icon" descr="preencoded.png"/>
          <p:cNvPicPr>
            <a:picLocks noChangeAspect="1"/>
          </p:cNvPicPr>
          <p:nvPr/>
        </p:nvPicPr>
        <p:blipFill>
          <a:blip r:embed="rId5"/>
          <a:stretch>
            <a:fillRect/>
          </a:stretch>
        </p:blipFill>
        <p:spPr>
          <a:xfrm>
            <a:off x="973836" y="5134356"/>
            <a:ext cx="384048" cy="384048"/>
          </a:xfrm>
          <a:prstGeom prst="rect">
            <a:avLst/>
          </a:prstGeom>
        </p:spPr>
      </p:pic>
      <p:sp>
        <p:nvSpPr>
          <p:cNvPr id="14" name="p1a-sensor2-text"/>
          <p:cNvSpPr txBox="1"/>
          <p:nvPr/>
        </p:nvSpPr>
        <p:spPr>
          <a:xfrm>
            <a:off x="1691640" y="4910328"/>
            <a:ext cx="3200400" cy="960120"/>
          </a:xfrm>
          <a:prstGeom prst="rect">
            <a:avLst/>
          </a:prstGeom>
          <a:noFill/>
          <a:ln/>
        </p:spPr>
        <p:txBody>
          <a:bodyPr wrap="square" lIns="0" tIns="0" rIns="0" bIns="0" rtlCol="0" anchor="t"/>
          <a:lstStyle/>
          <a:p>
            <a:pPr marL="0" indent="0">
              <a:buNone/>
            </a:pPr>
            <a:r>
              <a:rPr lang="en-US" sz="1700" b="1" dirty="0">
                <a:solidFill>
                  <a:schemeClr val="tx1"/>
                </a:solidFill>
              </a:rPr>
              <a:t>Cảm biến mực nước</a:t>
            </a:r>
            <a:endParaRPr lang="en-US" sz="1400" dirty="0"/>
          </a:p>
          <a:p>
            <a:pPr marL="0" indent="0">
              <a:buNone/>
            </a:pPr>
            <a:r>
              <a:rPr lang="en-US" sz="1300" b="1" dirty="0">
                <a:solidFill>
                  <a:schemeClr val="accent1"/>
                </a:solidFill>
              </a:rPr>
              <a:t>GPIO35</a:t>
            </a:r>
            <a:endParaRPr lang="en-US" sz="1400" dirty="0"/>
          </a:p>
          <a:p>
            <a:pPr marL="0" indent="0">
              <a:buNone/>
            </a:pPr>
            <a:r>
              <a:rPr lang="en-US" sz="1400" dirty="0">
                <a:solidFill>
                  <a:schemeClr val="accent5"/>
                </a:solidFill>
              </a:rPr>
              <a:t>Biết bình nước còn đủ hay sắp cạn</a:t>
            </a:r>
            <a:endParaRPr lang="en-US" sz="1400" dirty="0"/>
          </a:p>
        </p:txBody>
      </p:sp>
      <p:sp>
        <p:nvSpPr>
          <p:cNvPr id="15" name="p1a-relay-card"/>
          <p:cNvSpPr/>
          <p:nvPr/>
        </p:nvSpPr>
        <p:spPr>
          <a:xfrm>
            <a:off x="7132320" y="1645920"/>
            <a:ext cx="4480560" cy="4663440"/>
          </a:xfrm>
          <a:prstGeom prst="roundRect">
            <a:avLst>
              <a:gd name="adj" fmla="val 2449"/>
            </a:avLst>
          </a:prstGeom>
          <a:solidFill>
            <a:schemeClr val="bg2"/>
          </a:solidFill>
          <a:ln w="12700">
            <a:solidFill>
              <a:schemeClr val="bg2"/>
            </a:solidFill>
            <a:prstDash val="solid"/>
          </a:ln>
        </p:spPr>
      </p:sp>
      <p:sp>
        <p:nvSpPr>
          <p:cNvPr id="16" name="p1a-relay-title"/>
          <p:cNvSpPr txBox="1"/>
          <p:nvPr/>
        </p:nvSpPr>
        <p:spPr>
          <a:xfrm>
            <a:off x="7406640" y="1828800"/>
            <a:ext cx="393192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Thiết bị được bật/tắt (đầu ra)</a:t>
            </a:r>
            <a:endParaRPr lang="en-US" sz="2000" dirty="0"/>
          </a:p>
        </p:txBody>
      </p:sp>
      <p:sp>
        <p:nvSpPr>
          <p:cNvPr id="17" name="p1a-relay0-circle"/>
          <p:cNvSpPr/>
          <p:nvPr/>
        </p:nvSpPr>
        <p:spPr>
          <a:xfrm>
            <a:off x="7406640" y="2514600"/>
            <a:ext cx="685800" cy="685800"/>
          </a:xfrm>
          <a:prstGeom prst="ellipse">
            <a:avLst/>
          </a:prstGeom>
          <a:solidFill>
            <a:schemeClr val="accent2"/>
          </a:solidFill>
          <a:ln w="12700">
            <a:solidFill>
              <a:schemeClr val="accent2"/>
            </a:solidFill>
            <a:prstDash val="solid"/>
          </a:ln>
        </p:spPr>
      </p:sp>
      <p:pic>
        <p:nvPicPr>
          <p:cNvPr id="18" name="p1a-relay0-icon" descr="preencoded.png"/>
          <p:cNvPicPr>
            <a:picLocks noChangeAspect="1"/>
          </p:cNvPicPr>
          <p:nvPr/>
        </p:nvPicPr>
        <p:blipFill>
          <a:blip r:embed="rId6"/>
          <a:stretch>
            <a:fillRect/>
          </a:stretch>
        </p:blipFill>
        <p:spPr>
          <a:xfrm>
            <a:off x="7557516" y="2665476"/>
            <a:ext cx="384048" cy="384048"/>
          </a:xfrm>
          <a:prstGeom prst="rect">
            <a:avLst/>
          </a:prstGeom>
        </p:spPr>
      </p:pic>
      <p:sp>
        <p:nvSpPr>
          <p:cNvPr id="19" name="p1a-relay0-text"/>
          <p:cNvSpPr txBox="1"/>
          <p:nvPr/>
        </p:nvSpPr>
        <p:spPr>
          <a:xfrm>
            <a:off x="8275320" y="244144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bơm phun sương</a:t>
            </a:r>
            <a:endParaRPr lang="en-US" sz="1400" dirty="0"/>
          </a:p>
          <a:p>
            <a:pPr marL="0" indent="0">
              <a:buNone/>
            </a:pPr>
            <a:r>
              <a:rPr lang="en-US" sz="1300" b="1" dirty="0">
                <a:solidFill>
                  <a:schemeClr val="accent2"/>
                </a:solidFill>
              </a:rPr>
              <a:t>GPIO25</a:t>
            </a:r>
            <a:endParaRPr lang="en-US" sz="1400" dirty="0"/>
          </a:p>
          <a:p>
            <a:pPr marL="0" indent="0">
              <a:buNone/>
            </a:pPr>
            <a:r>
              <a:rPr lang="en-US" sz="1400" dirty="0">
                <a:solidFill>
                  <a:schemeClr val="accent5"/>
                </a:solidFill>
              </a:rPr>
              <a:t>Phun sương để tăng độ ẩm, làm mát</a:t>
            </a:r>
            <a:endParaRPr lang="en-US" sz="1400" dirty="0"/>
          </a:p>
        </p:txBody>
      </p:sp>
      <p:sp>
        <p:nvSpPr>
          <p:cNvPr id="20" name="p1a-relay1-circle"/>
          <p:cNvSpPr/>
          <p:nvPr/>
        </p:nvSpPr>
        <p:spPr>
          <a:xfrm>
            <a:off x="7406640" y="3749040"/>
            <a:ext cx="685800" cy="685800"/>
          </a:xfrm>
          <a:prstGeom prst="ellipse">
            <a:avLst/>
          </a:prstGeom>
          <a:solidFill>
            <a:schemeClr val="accent2"/>
          </a:solidFill>
          <a:ln w="12700">
            <a:solidFill>
              <a:schemeClr val="accent2"/>
            </a:solidFill>
            <a:prstDash val="solid"/>
          </a:ln>
        </p:spPr>
      </p:sp>
      <p:pic>
        <p:nvPicPr>
          <p:cNvPr id="21" name="p1a-relay1-icon" descr="preencoded.png"/>
          <p:cNvPicPr>
            <a:picLocks noChangeAspect="1"/>
          </p:cNvPicPr>
          <p:nvPr/>
        </p:nvPicPr>
        <p:blipFill>
          <a:blip r:embed="rId7"/>
          <a:stretch>
            <a:fillRect/>
          </a:stretch>
        </p:blipFill>
        <p:spPr>
          <a:xfrm>
            <a:off x="7557516" y="3899916"/>
            <a:ext cx="384048" cy="384048"/>
          </a:xfrm>
          <a:prstGeom prst="rect">
            <a:avLst/>
          </a:prstGeom>
        </p:spPr>
      </p:pic>
      <p:sp>
        <p:nvSpPr>
          <p:cNvPr id="22" name="p1a-relay1-text"/>
          <p:cNvSpPr txBox="1"/>
          <p:nvPr/>
        </p:nvSpPr>
        <p:spPr>
          <a:xfrm>
            <a:off x="8275320" y="367588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quạt</a:t>
            </a:r>
            <a:endParaRPr lang="en-US" sz="1400" dirty="0"/>
          </a:p>
          <a:p>
            <a:pPr marL="0" indent="0">
              <a:buNone/>
            </a:pPr>
            <a:r>
              <a:rPr lang="en-US" sz="1300" b="1" dirty="0">
                <a:solidFill>
                  <a:schemeClr val="accent2"/>
                </a:solidFill>
              </a:rPr>
              <a:t>GPIO26</a:t>
            </a:r>
            <a:endParaRPr lang="en-US" sz="1400" dirty="0"/>
          </a:p>
          <a:p>
            <a:pPr marL="0" indent="0">
              <a:buNone/>
            </a:pPr>
            <a:r>
              <a:rPr lang="en-US" sz="1400" dirty="0">
                <a:solidFill>
                  <a:schemeClr val="accent5"/>
                </a:solidFill>
              </a:rPr>
              <a:t>Thông gió, làm khô nước đọng trên lá</a:t>
            </a:r>
            <a:endParaRPr lang="en-US" sz="1400" dirty="0"/>
          </a:p>
        </p:txBody>
      </p:sp>
      <p:sp>
        <p:nvSpPr>
          <p:cNvPr id="23" name="p1a-relay2-circle"/>
          <p:cNvSpPr/>
          <p:nvPr/>
        </p:nvSpPr>
        <p:spPr>
          <a:xfrm>
            <a:off x="7406640" y="4983480"/>
            <a:ext cx="685800" cy="685800"/>
          </a:xfrm>
          <a:prstGeom prst="ellipse">
            <a:avLst/>
          </a:prstGeom>
          <a:solidFill>
            <a:schemeClr val="accent2"/>
          </a:solidFill>
          <a:ln w="12700">
            <a:solidFill>
              <a:schemeClr val="accent2"/>
            </a:solidFill>
            <a:prstDash val="solid"/>
          </a:ln>
        </p:spPr>
      </p:sp>
      <p:pic>
        <p:nvPicPr>
          <p:cNvPr id="24" name="p1a-relay2-icon" descr="preencoded.png"/>
          <p:cNvPicPr>
            <a:picLocks noChangeAspect="1"/>
          </p:cNvPicPr>
          <p:nvPr/>
        </p:nvPicPr>
        <p:blipFill>
          <a:blip r:embed="rId8"/>
          <a:stretch>
            <a:fillRect/>
          </a:stretch>
        </p:blipFill>
        <p:spPr>
          <a:xfrm>
            <a:off x="7557516" y="5134356"/>
            <a:ext cx="384048" cy="384048"/>
          </a:xfrm>
          <a:prstGeom prst="rect">
            <a:avLst/>
          </a:prstGeom>
        </p:spPr>
      </p:pic>
      <p:sp>
        <p:nvSpPr>
          <p:cNvPr id="25" name="p1a-relay2-text"/>
          <p:cNvSpPr txBox="1"/>
          <p:nvPr/>
        </p:nvSpPr>
        <p:spPr>
          <a:xfrm>
            <a:off x="8275320" y="4910328"/>
            <a:ext cx="3200400" cy="960120"/>
          </a:xfrm>
          <a:prstGeom prst="rect">
            <a:avLst/>
          </a:prstGeom>
          <a:noFill/>
          <a:ln/>
        </p:spPr>
        <p:txBody>
          <a:bodyPr wrap="square" lIns="0" tIns="0" rIns="0" bIns="0" rtlCol="0" anchor="t"/>
          <a:lstStyle/>
          <a:p>
            <a:pPr marL="0" indent="0">
              <a:buNone/>
            </a:pPr>
            <a:r>
              <a:rPr lang="en-US" sz="1700" b="1" dirty="0">
                <a:solidFill>
                  <a:schemeClr val="tx1"/>
                </a:solidFill>
              </a:rPr>
              <a:t>Relay đèn</a:t>
            </a:r>
            <a:endParaRPr lang="en-US" sz="1400" dirty="0"/>
          </a:p>
          <a:p>
            <a:pPr marL="0" indent="0">
              <a:buNone/>
            </a:pPr>
            <a:r>
              <a:rPr lang="en-US" sz="1300" b="1" dirty="0">
                <a:solidFill>
                  <a:schemeClr val="accent2"/>
                </a:solidFill>
              </a:rPr>
              <a:t>GPIO27</a:t>
            </a:r>
            <a:endParaRPr lang="en-US" sz="1400" dirty="0"/>
          </a:p>
          <a:p>
            <a:pPr marL="0" indent="0">
              <a:buNone/>
            </a:pPr>
            <a:r>
              <a:rPr lang="en-US" sz="1400" dirty="0">
                <a:solidFill>
                  <a:schemeClr val="accent5"/>
                </a:solidFill>
              </a:rPr>
              <a:t>Đèn LED bù sáng khi trời tối</a:t>
            </a:r>
            <a:endParaRPr lang="en-US" sz="1400" dirty="0"/>
          </a:p>
        </p:txBody>
      </p:sp>
      <p:sp>
        <p:nvSpPr>
          <p:cNvPr id="26" name="p1a-esp32-circle"/>
          <p:cNvSpPr/>
          <p:nvPr/>
        </p:nvSpPr>
        <p:spPr>
          <a:xfrm>
            <a:off x="5440680" y="3154680"/>
            <a:ext cx="1325880" cy="1325880"/>
          </a:xfrm>
          <a:prstGeom prst="ellipse">
            <a:avLst/>
          </a:prstGeom>
          <a:solidFill>
            <a:schemeClr val="tx2"/>
          </a:solidFill>
          <a:ln w="12700">
            <a:solidFill>
              <a:schemeClr val="tx2"/>
            </a:solidFill>
            <a:prstDash val="solid"/>
          </a:ln>
        </p:spPr>
      </p:sp>
      <p:pic>
        <p:nvPicPr>
          <p:cNvPr id="27" name="p1a-esp32-icon" descr="preencoded.png"/>
          <p:cNvPicPr>
            <a:picLocks noChangeAspect="1"/>
          </p:cNvPicPr>
          <p:nvPr/>
        </p:nvPicPr>
        <p:blipFill>
          <a:blip r:embed="rId9"/>
          <a:stretch>
            <a:fillRect/>
          </a:stretch>
        </p:blipFill>
        <p:spPr>
          <a:xfrm>
            <a:off x="5732374" y="3446374"/>
            <a:ext cx="742493" cy="742493"/>
          </a:xfrm>
          <a:prstGeom prst="rect">
            <a:avLst/>
          </a:prstGeom>
        </p:spPr>
      </p:pic>
      <p:sp>
        <p:nvSpPr>
          <p:cNvPr id="28" name="p1a-esp32-label"/>
          <p:cNvSpPr txBox="1"/>
          <p:nvPr/>
        </p:nvSpPr>
        <p:spPr>
          <a:xfrm>
            <a:off x="5120640" y="4572000"/>
            <a:ext cx="1965960" cy="365760"/>
          </a:xfrm>
          <a:prstGeom prst="rect">
            <a:avLst/>
          </a:prstGeom>
          <a:noFill/>
          <a:ln/>
        </p:spPr>
        <p:txBody>
          <a:bodyPr wrap="square" lIns="0" tIns="0" rIns="0" bIns="0" rtlCol="0" anchor="t"/>
          <a:lstStyle/>
          <a:p>
            <a:pPr marL="0" indent="0" algn="ctr">
              <a:buNone/>
            </a:pPr>
            <a:r>
              <a:rPr lang="en-US" sz="1800" b="1" dirty="0">
                <a:solidFill>
                  <a:schemeClr val="tx2"/>
                </a:solidFill>
              </a:rPr>
              <a:t>ESP32</a:t>
            </a:r>
            <a:endParaRPr lang="en-US" sz="1800" dirty="0"/>
          </a:p>
        </p:txBody>
      </p:sp>
      <p:sp>
        <p:nvSpPr>
          <p:cNvPr id="29" name="p1a-esp32-desc"/>
          <p:cNvSpPr txBox="1"/>
          <p:nvPr/>
        </p:nvSpPr>
        <p:spPr>
          <a:xfrm>
            <a:off x="5120640" y="4937760"/>
            <a:ext cx="1965960" cy="548640"/>
          </a:xfrm>
          <a:prstGeom prst="rect">
            <a:avLst/>
          </a:prstGeom>
          <a:noFill/>
          <a:ln/>
        </p:spPr>
        <p:txBody>
          <a:bodyPr wrap="square" lIns="0" tIns="0" rIns="0" bIns="0" rtlCol="0" anchor="t"/>
          <a:lstStyle/>
          <a:p>
            <a:pPr marL="0" indent="0" algn="ctr">
              <a:buNone/>
            </a:pPr>
            <a:r>
              <a:rPr lang="en-US" sz="1200" dirty="0">
                <a:solidFill>
                  <a:schemeClr val="accent5"/>
                </a:solidFill>
              </a:rPr>
              <a:t>đọc → quyết định → bật/tắt</a:t>
            </a:r>
            <a:endParaRPr lang="en-US" sz="1200" dirty="0"/>
          </a:p>
        </p:txBody>
      </p:sp>
      <p:sp>
        <p:nvSpPr>
          <p:cNvPr id="30" name="p1a-arrow-in"/>
          <p:cNvSpPr/>
          <p:nvPr/>
        </p:nvSpPr>
        <p:spPr>
          <a:xfrm>
            <a:off x="5074920" y="3657600"/>
            <a:ext cx="320040" cy="292608"/>
          </a:xfrm>
          <a:prstGeom prst="rightArrow">
            <a:avLst/>
          </a:prstGeom>
          <a:solidFill>
            <a:schemeClr val="accent6"/>
          </a:solidFill>
          <a:ln w="12700">
            <a:solidFill>
              <a:schemeClr val="accent6"/>
            </a:solidFill>
            <a:prstDash val="solid"/>
          </a:ln>
        </p:spPr>
      </p:sp>
      <p:sp>
        <p:nvSpPr>
          <p:cNvPr id="31" name="p1a-arrow-out"/>
          <p:cNvSpPr/>
          <p:nvPr/>
        </p:nvSpPr>
        <p:spPr>
          <a:xfrm>
            <a:off x="6812280" y="3657600"/>
            <a:ext cx="320040" cy="292608"/>
          </a:xfrm>
          <a:prstGeom prst="rightArrow">
            <a:avLst/>
          </a:prstGeom>
          <a:solidFill>
            <a:schemeClr val="accent6"/>
          </a:solidFill>
          <a:ln w="12700">
            <a:solidFill>
              <a:schemeClr val="accent6"/>
            </a:solidFill>
            <a:prstDash val="solid"/>
          </a:ln>
        </p:spPr>
      </p:sp>
      <p:sp>
        <p:nvSpPr>
          <p:cNvPr id="32"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1: Chương trình trên ESP32</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Hai việc chạy song song liên tục; chương trình không bao giờ đứng chờ nên không bị treo</a:t>
            </a:r>
            <a:endParaRPr lang="en-US" sz="1600" dirty="0"/>
          </a:p>
        </p:txBody>
      </p:sp>
      <p:sp>
        <p:nvSpPr>
          <p:cNvPr id="4" name="p1b-collect-card"/>
          <p:cNvSpPr/>
          <p:nvPr/>
        </p:nvSpPr>
        <p:spPr>
          <a:xfrm>
            <a:off x="548640" y="1645920"/>
            <a:ext cx="5440680" cy="2377440"/>
          </a:xfrm>
          <a:prstGeom prst="roundRect">
            <a:avLst>
              <a:gd name="adj" fmla="val 4615"/>
            </a:avLst>
          </a:prstGeom>
          <a:solidFill>
            <a:schemeClr val="bg2"/>
          </a:solidFill>
          <a:ln w="12700">
            <a:solidFill>
              <a:schemeClr val="bg2"/>
            </a:solidFill>
            <a:prstDash val="solid"/>
          </a:ln>
        </p:spPr>
      </p:sp>
      <p:sp>
        <p:nvSpPr>
          <p:cNvPr id="5" name="p1b-collect-circle"/>
          <p:cNvSpPr/>
          <p:nvPr/>
        </p:nvSpPr>
        <p:spPr>
          <a:xfrm>
            <a:off x="777240" y="1828800"/>
            <a:ext cx="548640" cy="548640"/>
          </a:xfrm>
          <a:prstGeom prst="ellipse">
            <a:avLst/>
          </a:prstGeom>
          <a:solidFill>
            <a:schemeClr val="accent1"/>
          </a:solidFill>
          <a:ln w="12700">
            <a:solidFill>
              <a:schemeClr val="accent1"/>
            </a:solidFill>
            <a:prstDash val="solid"/>
          </a:ln>
        </p:spPr>
      </p:sp>
      <p:pic>
        <p:nvPicPr>
          <p:cNvPr id="6" name="p1b-collect-icon" descr="preencoded.png"/>
          <p:cNvPicPr>
            <a:picLocks noChangeAspect="1"/>
          </p:cNvPicPr>
          <p:nvPr/>
        </p:nvPicPr>
        <p:blipFill>
          <a:blip r:embed="rId3"/>
          <a:stretch>
            <a:fillRect/>
          </a:stretch>
        </p:blipFill>
        <p:spPr>
          <a:xfrm>
            <a:off x="897941" y="1949501"/>
            <a:ext cx="307238" cy="307238"/>
          </a:xfrm>
          <a:prstGeom prst="rect">
            <a:avLst/>
          </a:prstGeom>
        </p:spPr>
      </p:pic>
      <p:sp>
        <p:nvSpPr>
          <p:cNvPr id="7" name="p1b-collect-title"/>
          <p:cNvSpPr txBox="1"/>
          <p:nvPr/>
        </p:nvSpPr>
        <p:spPr>
          <a:xfrm>
            <a:off x="1463040" y="1901952"/>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1. Đọc cảm biến</a:t>
            </a:r>
            <a:endParaRPr lang="en-US" sz="2000" dirty="0"/>
          </a:p>
        </p:txBody>
      </p:sp>
      <p:sp>
        <p:nvSpPr>
          <p:cNvPr id="8" name="p1b-collect-body"/>
          <p:cNvSpPr txBox="1"/>
          <p:nvPr/>
        </p:nvSpPr>
        <p:spPr>
          <a:xfrm>
            <a:off x="777240" y="2514600"/>
            <a:ext cx="5029200" cy="1463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Cứ 2,5 giây đo một lần</a:t>
            </a:r>
            <a:endParaRPr lang="en-US" sz="1500" dirty="0"/>
          </a:p>
          <a:p>
            <a:pPr marL="342900" indent="-342900">
              <a:spcAft>
                <a:spcPts val="500"/>
              </a:spcAft>
              <a:buSzPct val="100000"/>
              <a:buChar char="•"/>
            </a:pPr>
            <a:r>
              <a:rPr lang="en-US" sz="1500" dirty="0">
                <a:solidFill>
                  <a:schemeClr val="tx1"/>
                </a:solidFill>
              </a:rPr>
              <a:t>Lọc nhiễu: bỏ số nhảy vọt bất thường, rồi lấy trung bình 5 lần đo gần nhất</a:t>
            </a:r>
            <a:endParaRPr lang="en-US" sz="1500" dirty="0"/>
          </a:p>
          <a:p>
            <a:pPr marL="342900" indent="-342900">
              <a:spcAft>
                <a:spcPts val="500"/>
              </a:spcAft>
              <a:buSzPct val="100000"/>
              <a:buChar char="•"/>
            </a:pPr>
            <a:r>
              <a:rPr lang="en-US" sz="1500" dirty="0">
                <a:solidFill>
                  <a:schemeClr val="tx1"/>
                </a:solidFill>
              </a:rPr>
              <a:t>Cảm biến DHT lỗi 3 lần liền thì báo hỏng (SENSOR_FAULT)</a:t>
            </a:r>
            <a:endParaRPr lang="en-US" sz="1500" dirty="0"/>
          </a:p>
        </p:txBody>
      </p:sp>
      <p:sp>
        <p:nvSpPr>
          <p:cNvPr id="9" name="p1b-control-card"/>
          <p:cNvSpPr/>
          <p:nvPr/>
        </p:nvSpPr>
        <p:spPr>
          <a:xfrm>
            <a:off x="6172200" y="1645920"/>
            <a:ext cx="5440680" cy="2377440"/>
          </a:xfrm>
          <a:prstGeom prst="roundRect">
            <a:avLst>
              <a:gd name="adj" fmla="val 4615"/>
            </a:avLst>
          </a:prstGeom>
          <a:solidFill>
            <a:schemeClr val="bg2"/>
          </a:solidFill>
          <a:ln w="12700">
            <a:solidFill>
              <a:schemeClr val="bg2"/>
            </a:solidFill>
            <a:prstDash val="solid"/>
          </a:ln>
        </p:spPr>
      </p:sp>
      <p:sp>
        <p:nvSpPr>
          <p:cNvPr id="10" name="p1b-control-circle"/>
          <p:cNvSpPr/>
          <p:nvPr/>
        </p:nvSpPr>
        <p:spPr>
          <a:xfrm>
            <a:off x="6400800" y="1828800"/>
            <a:ext cx="548640" cy="548640"/>
          </a:xfrm>
          <a:prstGeom prst="ellipse">
            <a:avLst/>
          </a:prstGeom>
          <a:solidFill>
            <a:schemeClr val="accent2"/>
          </a:solidFill>
          <a:ln w="12700">
            <a:solidFill>
              <a:schemeClr val="accent2"/>
            </a:solidFill>
            <a:prstDash val="solid"/>
          </a:ln>
        </p:spPr>
      </p:sp>
      <p:pic>
        <p:nvPicPr>
          <p:cNvPr id="11" name="p1b-control-icon" descr="preencoded.png"/>
          <p:cNvPicPr>
            <a:picLocks noChangeAspect="1"/>
          </p:cNvPicPr>
          <p:nvPr/>
        </p:nvPicPr>
        <p:blipFill>
          <a:blip r:embed="rId4"/>
          <a:stretch>
            <a:fillRect/>
          </a:stretch>
        </p:blipFill>
        <p:spPr>
          <a:xfrm>
            <a:off x="6521501" y="1949501"/>
            <a:ext cx="307238" cy="307238"/>
          </a:xfrm>
          <a:prstGeom prst="rect">
            <a:avLst/>
          </a:prstGeom>
        </p:spPr>
      </p:pic>
      <p:sp>
        <p:nvSpPr>
          <p:cNvPr id="12" name="p1b-control-title"/>
          <p:cNvSpPr txBox="1"/>
          <p:nvPr/>
        </p:nvSpPr>
        <p:spPr>
          <a:xfrm>
            <a:off x="7086600" y="1901952"/>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2. Điều khiển an toàn</a:t>
            </a:r>
            <a:endParaRPr lang="en-US" sz="2000" dirty="0"/>
          </a:p>
        </p:txBody>
      </p:sp>
      <p:sp>
        <p:nvSpPr>
          <p:cNvPr id="13" name="p1b-control-body"/>
          <p:cNvSpPr txBox="1"/>
          <p:nvPr/>
        </p:nvSpPr>
        <p:spPr>
          <a:xfrm>
            <a:off x="6400800" y="2514600"/>
            <a:ext cx="5029200" cy="14630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chemeClr val="tx1"/>
                </a:solidFill>
              </a:rPr>
              <a:t>Bơm phun chạy theo các trạng thái ở dưới</a:t>
            </a:r>
            <a:endParaRPr lang="en-US" sz="1500" dirty="0"/>
          </a:p>
          <a:p>
            <a:pPr marL="342900" indent="-342900">
              <a:spcAft>
                <a:spcPts val="500"/>
              </a:spcAft>
              <a:buSzPct val="100000"/>
              <a:buChar char="•"/>
            </a:pPr>
            <a:r>
              <a:rPr lang="en-US" sz="1500" dirty="0">
                <a:solidFill>
                  <a:schemeClr val="tx1"/>
                </a:solidFill>
              </a:rPr>
              <a:t>Bình cạn (số đo &lt; 1200): tắt bơm ngay, không cho bật phun, kể cả lệnh từ xa</a:t>
            </a:r>
            <a:endParaRPr lang="en-US" sz="1500" dirty="0"/>
          </a:p>
          <a:p>
            <a:pPr marL="342900" indent="-342900">
              <a:spcAft>
                <a:spcPts val="500"/>
              </a:spcAft>
              <a:buSzPct val="100000"/>
              <a:buChar char="•"/>
            </a:pPr>
            <a:r>
              <a:rPr lang="en-US" sz="1500" dirty="0">
                <a:solidFill>
                  <a:schemeClr val="tx1"/>
                </a:solidFill>
              </a:rPr>
              <a:t>Lệnh bấm tay có thời hạn, hết giờ tự về chế độ tự động</a:t>
            </a:r>
            <a:endParaRPr lang="en-US" sz="1500" dirty="0"/>
          </a:p>
        </p:txBody>
      </p:sp>
      <p:sp>
        <p:nvSpPr>
          <p:cNvPr id="14" name="p1b-fsm-label"/>
          <p:cNvSpPr txBox="1"/>
          <p:nvPr/>
        </p:nvSpPr>
        <p:spPr>
          <a:xfrm>
            <a:off x="548640" y="4251960"/>
            <a:ext cx="5486400" cy="320040"/>
          </a:xfrm>
          <a:prstGeom prst="rect">
            <a:avLst/>
          </a:prstGeom>
          <a:noFill/>
          <a:ln/>
        </p:spPr>
        <p:txBody>
          <a:bodyPr wrap="square" lIns="0" tIns="0" rIns="0" bIns="0" rtlCol="0" anchor="t"/>
          <a:lstStyle/>
          <a:p>
            <a:pPr marL="0" indent="0">
              <a:buNone/>
            </a:pPr>
            <a:r>
              <a:rPr lang="en-US" sz="1500" b="1" dirty="0">
                <a:solidFill>
                  <a:schemeClr val="accent5"/>
                </a:solidFill>
              </a:rPr>
              <a:t>Các trạng thái của bơm phun sương</a:t>
            </a:r>
            <a:endParaRPr lang="en-US" sz="1500" dirty="0"/>
          </a:p>
        </p:txBody>
      </p:sp>
      <p:sp>
        <p:nvSpPr>
          <p:cNvPr id="15" name="p1b-fsm-IDLE"/>
          <p:cNvSpPr/>
          <p:nvPr/>
        </p:nvSpPr>
        <p:spPr>
          <a:xfrm>
            <a:off x="548640" y="4709160"/>
            <a:ext cx="2651760" cy="594360"/>
          </a:xfrm>
          <a:prstGeom prst="roundRect">
            <a:avLst>
              <a:gd name="adj" fmla="val 46154"/>
            </a:avLst>
          </a:prstGeom>
          <a:solidFill>
            <a:schemeClr val="accent5"/>
          </a:solidFill>
          <a:ln w="12700">
            <a:solidFill>
              <a:schemeClr val="accent5"/>
            </a:solidFill>
            <a:prstDash val="solid"/>
          </a:ln>
        </p:spPr>
      </p:sp>
      <p:sp>
        <p:nvSpPr>
          <p:cNvPr id="16" name="p1b-fsm-IDLE-text"/>
          <p:cNvSpPr txBox="1"/>
          <p:nvPr/>
        </p:nvSpPr>
        <p:spPr>
          <a:xfrm>
            <a:off x="54864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IDLE</a:t>
            </a:r>
            <a:endParaRPr lang="en-US" sz="1400" dirty="0"/>
          </a:p>
          <a:p>
            <a:pPr marL="0" indent="0" algn="ctr">
              <a:buNone/>
            </a:pPr>
            <a:r>
              <a:rPr lang="en-US" sz="1200" dirty="0">
                <a:solidFill>
                  <a:schemeClr val="bg1"/>
                </a:solidFill>
              </a:rPr>
              <a:t>chờ</a:t>
            </a:r>
            <a:endParaRPr lang="en-US" sz="1400" dirty="0"/>
          </a:p>
        </p:txBody>
      </p:sp>
      <p:sp>
        <p:nvSpPr>
          <p:cNvPr id="17" name="p1b-fsm-RUNNING"/>
          <p:cNvSpPr/>
          <p:nvPr/>
        </p:nvSpPr>
        <p:spPr>
          <a:xfrm>
            <a:off x="4572000" y="4709160"/>
            <a:ext cx="2651760" cy="594360"/>
          </a:xfrm>
          <a:prstGeom prst="roundRect">
            <a:avLst>
              <a:gd name="adj" fmla="val 46154"/>
            </a:avLst>
          </a:prstGeom>
          <a:solidFill>
            <a:schemeClr val="accent1"/>
          </a:solidFill>
          <a:ln w="12700">
            <a:solidFill>
              <a:schemeClr val="accent1"/>
            </a:solidFill>
            <a:prstDash val="solid"/>
          </a:ln>
        </p:spPr>
      </p:sp>
      <p:sp>
        <p:nvSpPr>
          <p:cNvPr id="18" name="p1b-fsm-RUNNING-text"/>
          <p:cNvSpPr txBox="1"/>
          <p:nvPr/>
        </p:nvSpPr>
        <p:spPr>
          <a:xfrm>
            <a:off x="457200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RUNNING</a:t>
            </a:r>
            <a:endParaRPr lang="en-US" sz="1400" dirty="0"/>
          </a:p>
          <a:p>
            <a:pPr marL="0" indent="0" algn="ctr">
              <a:buNone/>
            </a:pPr>
            <a:r>
              <a:rPr lang="en-US" sz="1200" dirty="0">
                <a:solidFill>
                  <a:schemeClr val="bg1"/>
                </a:solidFill>
              </a:rPr>
              <a:t>đang phun</a:t>
            </a:r>
            <a:endParaRPr lang="en-US" sz="1400" dirty="0"/>
          </a:p>
        </p:txBody>
      </p:sp>
      <p:sp>
        <p:nvSpPr>
          <p:cNvPr id="19" name="p1b-fsm-COOLDOWN"/>
          <p:cNvSpPr/>
          <p:nvPr/>
        </p:nvSpPr>
        <p:spPr>
          <a:xfrm>
            <a:off x="8595360" y="4709160"/>
            <a:ext cx="2651760" cy="594360"/>
          </a:xfrm>
          <a:prstGeom prst="roundRect">
            <a:avLst>
              <a:gd name="adj" fmla="val 46154"/>
            </a:avLst>
          </a:prstGeom>
          <a:solidFill>
            <a:schemeClr val="accent3"/>
          </a:solidFill>
          <a:ln w="12700">
            <a:solidFill>
              <a:schemeClr val="accent3"/>
            </a:solidFill>
            <a:prstDash val="solid"/>
          </a:ln>
        </p:spPr>
      </p:sp>
      <p:sp>
        <p:nvSpPr>
          <p:cNvPr id="20" name="p1b-fsm-COOLDOWN-text"/>
          <p:cNvSpPr txBox="1"/>
          <p:nvPr/>
        </p:nvSpPr>
        <p:spPr>
          <a:xfrm>
            <a:off x="8595360" y="4709160"/>
            <a:ext cx="2651760" cy="594360"/>
          </a:xfrm>
          <a:prstGeom prst="rect">
            <a:avLst/>
          </a:prstGeom>
          <a:noFill/>
          <a:ln/>
        </p:spPr>
        <p:txBody>
          <a:bodyPr wrap="square" lIns="0" tIns="0" rIns="0" bIns="0" rtlCol="0" anchor="ctr"/>
          <a:lstStyle/>
          <a:p>
            <a:pPr marL="0" indent="0" algn="ctr">
              <a:buNone/>
            </a:pPr>
            <a:r>
              <a:rPr lang="en-US" sz="1500" b="1" dirty="0">
                <a:solidFill>
                  <a:schemeClr val="bg1"/>
                </a:solidFill>
              </a:rPr>
              <a:t>COOLDOWN</a:t>
            </a:r>
            <a:endParaRPr lang="en-US" sz="1400" dirty="0"/>
          </a:p>
          <a:p>
            <a:pPr marL="0" indent="0" algn="ctr">
              <a:buNone/>
            </a:pPr>
            <a:r>
              <a:rPr lang="en-US" sz="1200" dirty="0">
                <a:solidFill>
                  <a:schemeClr val="bg1"/>
                </a:solidFill>
              </a:rPr>
              <a:t>nghỉ cho bơm</a:t>
            </a:r>
            <a:endParaRPr lang="en-US" sz="1400" dirty="0"/>
          </a:p>
        </p:txBody>
      </p:sp>
      <p:sp>
        <p:nvSpPr>
          <p:cNvPr id="21" name="p1b-fsm-arrow0"/>
          <p:cNvSpPr/>
          <p:nvPr/>
        </p:nvSpPr>
        <p:spPr>
          <a:xfrm>
            <a:off x="3291840" y="4846320"/>
            <a:ext cx="1188720" cy="320040"/>
          </a:xfrm>
          <a:prstGeom prst="rightArrow">
            <a:avLst/>
          </a:prstGeom>
          <a:solidFill>
            <a:schemeClr val="accent6"/>
          </a:solidFill>
          <a:ln w="12700">
            <a:solidFill>
              <a:schemeClr val="accent6"/>
            </a:solidFill>
            <a:prstDash val="solid"/>
          </a:ln>
        </p:spPr>
      </p:sp>
      <p:sp>
        <p:nvSpPr>
          <p:cNvPr id="22" name="p1b-fsm-arrow0-label"/>
          <p:cNvSpPr txBox="1"/>
          <p:nvPr/>
        </p:nvSpPr>
        <p:spPr>
          <a:xfrm>
            <a:off x="3108960" y="4434840"/>
            <a:ext cx="1554480" cy="365760"/>
          </a:xfrm>
          <a:prstGeom prst="rect">
            <a:avLst/>
          </a:prstGeom>
          <a:noFill/>
          <a:ln/>
        </p:spPr>
        <p:txBody>
          <a:bodyPr wrap="square" lIns="0" tIns="0" rIns="0" bIns="0" rtlCol="0" anchor="t"/>
          <a:lstStyle/>
          <a:p>
            <a:pPr marL="0" indent="0" algn="ctr">
              <a:buNone/>
            </a:pPr>
            <a:r>
              <a:rPr lang="en-US" sz="1200" dirty="0">
                <a:solidFill>
                  <a:schemeClr val="tx1"/>
                </a:solidFill>
              </a:rPr>
              <a:t>độ ẩm &lt; 65%</a:t>
            </a:r>
            <a:endParaRPr lang="en-US" sz="1200" dirty="0"/>
          </a:p>
        </p:txBody>
      </p:sp>
      <p:sp>
        <p:nvSpPr>
          <p:cNvPr id="23" name="p1b-fsm-arrow1"/>
          <p:cNvSpPr/>
          <p:nvPr/>
        </p:nvSpPr>
        <p:spPr>
          <a:xfrm>
            <a:off x="7315200" y="4846320"/>
            <a:ext cx="1188720" cy="320040"/>
          </a:xfrm>
          <a:prstGeom prst="rightArrow">
            <a:avLst/>
          </a:prstGeom>
          <a:solidFill>
            <a:schemeClr val="accent6"/>
          </a:solidFill>
          <a:ln w="12700">
            <a:solidFill>
              <a:schemeClr val="accent6"/>
            </a:solidFill>
            <a:prstDash val="solid"/>
          </a:ln>
        </p:spPr>
      </p:sp>
      <p:sp>
        <p:nvSpPr>
          <p:cNvPr id="24" name="p1b-fsm-arrow1-label"/>
          <p:cNvSpPr txBox="1"/>
          <p:nvPr/>
        </p:nvSpPr>
        <p:spPr>
          <a:xfrm>
            <a:off x="7132320" y="4434840"/>
            <a:ext cx="1554480" cy="365760"/>
          </a:xfrm>
          <a:prstGeom prst="rect">
            <a:avLst/>
          </a:prstGeom>
          <a:noFill/>
          <a:ln/>
        </p:spPr>
        <p:txBody>
          <a:bodyPr wrap="square" lIns="0" tIns="0" rIns="0" bIns="0" rtlCol="0" anchor="t"/>
          <a:lstStyle/>
          <a:p>
            <a:pPr marL="0" indent="0" algn="ctr">
              <a:buNone/>
            </a:pPr>
            <a:r>
              <a:rPr lang="en-US" sz="1200" dirty="0">
                <a:solidFill>
                  <a:schemeClr val="tx1"/>
                </a:solidFill>
              </a:rPr>
              <a:t>phun đủ 120 giây</a:t>
            </a:r>
            <a:endParaRPr lang="en-US" sz="1200" dirty="0"/>
          </a:p>
        </p:txBody>
      </p:sp>
      <p:sp>
        <p:nvSpPr>
          <p:cNvPr id="25" name="p1b-fsm-rules"/>
          <p:cNvSpPr txBox="1"/>
          <p:nvPr/>
        </p:nvSpPr>
        <p:spPr>
          <a:xfrm>
            <a:off x="548640" y="5532120"/>
            <a:ext cx="11064240" cy="640080"/>
          </a:xfrm>
          <a:prstGeom prst="rect">
            <a:avLst/>
          </a:prstGeom>
          <a:noFill/>
          <a:ln/>
        </p:spPr>
        <p:txBody>
          <a:bodyPr wrap="square" lIns="0" tIns="0" rIns="0" bIns="0" rtlCol="0" anchor="t"/>
          <a:lstStyle/>
          <a:p>
            <a:pPr marL="0" indent="0">
              <a:buNone/>
            </a:pPr>
            <a:r>
              <a:rPr lang="en-US" sz="1400" b="1" dirty="0">
                <a:solidFill>
                  <a:schemeClr val="tx1"/>
                </a:solidFill>
              </a:rPr>
              <a:t>Quay về chờ: </a:t>
            </a:r>
            <a:r>
              <a:rPr lang="en-US" sz="1400" dirty="0">
                <a:solidFill>
                  <a:schemeClr val="tx1"/>
                </a:solidFill>
              </a:rPr>
              <a:t>khi độ ẩm ≥ 80% (đủ ẩm), hoặc sau 60 giây nghỉ.  </a:t>
            </a:r>
            <a:r>
              <a:rPr lang="en-US" sz="1400" b="1" dirty="0">
                <a:solidFill>
                  <a:schemeClr val="accent4"/>
                </a:solidFill>
              </a:rPr>
              <a:t>Cạn nước hoặc hỏng cảm biến: </a:t>
            </a:r>
            <a:r>
              <a:rPr lang="en-US" sz="1400" dirty="0">
                <a:solidFill>
                  <a:schemeClr val="tx1"/>
                </a:solidFill>
              </a:rPr>
              <a:t>bơm tắt ngay, dù đang ở trạng thái nào.</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2: MQTT – tin đi lên và tin đi xuống</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ESP32 và server không nói chuyện trực tiếp: cả hai cùng gửi và nhận tin qua một bưu điện chung (broker)</a:t>
            </a:r>
            <a:endParaRPr lang="en-US" sz="1600" dirty="0"/>
          </a:p>
        </p:txBody>
      </p:sp>
      <p:sp>
        <p:nvSpPr>
          <p:cNvPr id="4" name="p2a-node-ESP32"/>
          <p:cNvSpPr/>
          <p:nvPr/>
        </p:nvSpPr>
        <p:spPr>
          <a:xfrm>
            <a:off x="548640" y="1828800"/>
            <a:ext cx="2743200" cy="1828800"/>
          </a:xfrm>
          <a:prstGeom prst="roundRect">
            <a:avLst>
              <a:gd name="adj" fmla="val 6000"/>
            </a:avLst>
          </a:prstGeom>
          <a:solidFill>
            <a:schemeClr val="bg2"/>
          </a:solidFill>
          <a:ln w="12700">
            <a:solidFill>
              <a:schemeClr val="bg2"/>
            </a:solidFill>
            <a:prstDash val="solid"/>
          </a:ln>
        </p:spPr>
      </p:sp>
      <p:sp>
        <p:nvSpPr>
          <p:cNvPr id="5" name="p2a-node-ESP32-circle"/>
          <p:cNvSpPr/>
          <p:nvPr/>
        </p:nvSpPr>
        <p:spPr>
          <a:xfrm>
            <a:off x="1508760" y="1965960"/>
            <a:ext cx="822960" cy="822960"/>
          </a:xfrm>
          <a:prstGeom prst="ellipse">
            <a:avLst/>
          </a:prstGeom>
          <a:solidFill>
            <a:schemeClr val="accent1"/>
          </a:solidFill>
          <a:ln w="12700">
            <a:solidFill>
              <a:schemeClr val="accent1"/>
            </a:solidFill>
            <a:prstDash val="solid"/>
          </a:ln>
        </p:spPr>
      </p:sp>
      <p:pic>
        <p:nvPicPr>
          <p:cNvPr id="6" name="p2a-node-ESP32-icon" descr="preencoded.png"/>
          <p:cNvPicPr>
            <a:picLocks noChangeAspect="1"/>
          </p:cNvPicPr>
          <p:nvPr/>
        </p:nvPicPr>
        <p:blipFill>
          <a:blip r:embed="rId3"/>
          <a:stretch>
            <a:fillRect/>
          </a:stretch>
        </p:blipFill>
        <p:spPr>
          <a:xfrm>
            <a:off x="1689811" y="2147011"/>
            <a:ext cx="460858" cy="460858"/>
          </a:xfrm>
          <a:prstGeom prst="rect">
            <a:avLst/>
          </a:prstGeom>
        </p:spPr>
      </p:pic>
      <p:sp>
        <p:nvSpPr>
          <p:cNvPr id="7" name="p2a-node-ESP32-text"/>
          <p:cNvSpPr txBox="1"/>
          <p:nvPr/>
        </p:nvSpPr>
        <p:spPr>
          <a:xfrm>
            <a:off x="54864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ESP32</a:t>
            </a:r>
            <a:endParaRPr lang="en-US" sz="1400" dirty="0"/>
          </a:p>
          <a:p>
            <a:pPr marL="0" indent="0" algn="ctr">
              <a:buNone/>
            </a:pPr>
            <a:r>
              <a:rPr lang="en-US" sz="1300" dirty="0">
                <a:solidFill>
                  <a:schemeClr val="accent5"/>
                </a:solidFill>
              </a:rPr>
              <a:t>tại vườn</a:t>
            </a:r>
            <a:endParaRPr lang="en-US" sz="1400" dirty="0"/>
          </a:p>
        </p:txBody>
      </p:sp>
      <p:sp>
        <p:nvSpPr>
          <p:cNvPr id="8" name="p2a-node-Broker"/>
          <p:cNvSpPr/>
          <p:nvPr/>
        </p:nvSpPr>
        <p:spPr>
          <a:xfrm>
            <a:off x="4709160" y="1828800"/>
            <a:ext cx="2743200" cy="1828800"/>
          </a:xfrm>
          <a:prstGeom prst="roundRect">
            <a:avLst>
              <a:gd name="adj" fmla="val 6000"/>
            </a:avLst>
          </a:prstGeom>
          <a:solidFill>
            <a:schemeClr val="bg2"/>
          </a:solidFill>
          <a:ln w="12700">
            <a:solidFill>
              <a:schemeClr val="bg2"/>
            </a:solidFill>
            <a:prstDash val="solid"/>
          </a:ln>
        </p:spPr>
      </p:sp>
      <p:sp>
        <p:nvSpPr>
          <p:cNvPr id="9" name="p2a-node-Broker-circle"/>
          <p:cNvSpPr/>
          <p:nvPr/>
        </p:nvSpPr>
        <p:spPr>
          <a:xfrm>
            <a:off x="5669280" y="1965960"/>
            <a:ext cx="822960" cy="822960"/>
          </a:xfrm>
          <a:prstGeom prst="ellipse">
            <a:avLst/>
          </a:prstGeom>
          <a:solidFill>
            <a:schemeClr val="accent2"/>
          </a:solidFill>
          <a:ln w="12700">
            <a:solidFill>
              <a:schemeClr val="accent2"/>
            </a:solidFill>
            <a:prstDash val="solid"/>
          </a:ln>
        </p:spPr>
      </p:sp>
      <p:pic>
        <p:nvPicPr>
          <p:cNvPr id="10" name="p2a-node-Broker-icon" descr="preencoded.png"/>
          <p:cNvPicPr>
            <a:picLocks noChangeAspect="1"/>
          </p:cNvPicPr>
          <p:nvPr/>
        </p:nvPicPr>
        <p:blipFill>
          <a:blip r:embed="rId4"/>
          <a:stretch>
            <a:fillRect/>
          </a:stretch>
        </p:blipFill>
        <p:spPr>
          <a:xfrm>
            <a:off x="5850331" y="2147011"/>
            <a:ext cx="460858" cy="460858"/>
          </a:xfrm>
          <a:prstGeom prst="rect">
            <a:avLst/>
          </a:prstGeom>
        </p:spPr>
      </p:pic>
      <p:sp>
        <p:nvSpPr>
          <p:cNvPr id="11" name="p2a-node-Broker-text"/>
          <p:cNvSpPr txBox="1"/>
          <p:nvPr/>
        </p:nvSpPr>
        <p:spPr>
          <a:xfrm>
            <a:off x="470916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Broker</a:t>
            </a:r>
            <a:endParaRPr lang="en-US" sz="1400" dirty="0"/>
          </a:p>
          <a:p>
            <a:pPr marL="0" indent="0" algn="ctr">
              <a:buNone/>
            </a:pPr>
            <a:r>
              <a:rPr lang="en-US" sz="1300" dirty="0">
                <a:solidFill>
                  <a:schemeClr val="accent5"/>
                </a:solidFill>
              </a:rPr>
              <a:t>broker.emqx.io</a:t>
            </a:r>
            <a:endParaRPr lang="en-US" sz="1400" dirty="0"/>
          </a:p>
        </p:txBody>
      </p:sp>
      <p:sp>
        <p:nvSpPr>
          <p:cNvPr id="12" name="p2a-node-Node-RED"/>
          <p:cNvSpPr/>
          <p:nvPr/>
        </p:nvSpPr>
        <p:spPr>
          <a:xfrm>
            <a:off x="8869680" y="1828800"/>
            <a:ext cx="2743200" cy="1828800"/>
          </a:xfrm>
          <a:prstGeom prst="roundRect">
            <a:avLst>
              <a:gd name="adj" fmla="val 6000"/>
            </a:avLst>
          </a:prstGeom>
          <a:solidFill>
            <a:schemeClr val="bg2"/>
          </a:solidFill>
          <a:ln w="12700">
            <a:solidFill>
              <a:schemeClr val="bg2"/>
            </a:solidFill>
            <a:prstDash val="solid"/>
          </a:ln>
        </p:spPr>
      </p:sp>
      <p:sp>
        <p:nvSpPr>
          <p:cNvPr id="13" name="p2a-node-Node-RED-circle"/>
          <p:cNvSpPr/>
          <p:nvPr/>
        </p:nvSpPr>
        <p:spPr>
          <a:xfrm>
            <a:off x="9829800" y="1965960"/>
            <a:ext cx="822960" cy="822960"/>
          </a:xfrm>
          <a:prstGeom prst="ellipse">
            <a:avLst/>
          </a:prstGeom>
          <a:solidFill>
            <a:schemeClr val="accent3"/>
          </a:solidFill>
          <a:ln w="12700">
            <a:solidFill>
              <a:schemeClr val="accent3"/>
            </a:solidFill>
            <a:prstDash val="solid"/>
          </a:ln>
        </p:spPr>
      </p:sp>
      <p:pic>
        <p:nvPicPr>
          <p:cNvPr id="14" name="p2a-node-Node-RED-icon" descr="preencoded.png"/>
          <p:cNvPicPr>
            <a:picLocks noChangeAspect="1"/>
          </p:cNvPicPr>
          <p:nvPr/>
        </p:nvPicPr>
        <p:blipFill>
          <a:blip r:embed="rId5"/>
          <a:stretch>
            <a:fillRect/>
          </a:stretch>
        </p:blipFill>
        <p:spPr>
          <a:xfrm>
            <a:off x="10010851" y="2147011"/>
            <a:ext cx="460858" cy="460858"/>
          </a:xfrm>
          <a:prstGeom prst="rect">
            <a:avLst/>
          </a:prstGeom>
        </p:spPr>
      </p:pic>
      <p:sp>
        <p:nvSpPr>
          <p:cNvPr id="15" name="p2a-node-Node-RED-text"/>
          <p:cNvSpPr txBox="1"/>
          <p:nvPr/>
        </p:nvSpPr>
        <p:spPr>
          <a:xfrm>
            <a:off x="8869680" y="2834640"/>
            <a:ext cx="2743200" cy="731520"/>
          </a:xfrm>
          <a:prstGeom prst="rect">
            <a:avLst/>
          </a:prstGeom>
          <a:noFill/>
          <a:ln/>
        </p:spPr>
        <p:txBody>
          <a:bodyPr wrap="square" lIns="0" tIns="0" rIns="0" bIns="0" rtlCol="0" anchor="t"/>
          <a:lstStyle/>
          <a:p>
            <a:pPr marL="0" indent="0" algn="ctr">
              <a:buNone/>
            </a:pPr>
            <a:r>
              <a:rPr lang="en-US" sz="1800" b="1" dirty="0">
                <a:solidFill>
                  <a:schemeClr val="tx2"/>
                </a:solidFill>
              </a:rPr>
              <a:t>Node-RED</a:t>
            </a:r>
            <a:endParaRPr lang="en-US" sz="1400" dirty="0"/>
          </a:p>
          <a:p>
            <a:pPr marL="0" indent="0" algn="ctr">
              <a:buNone/>
            </a:pPr>
            <a:r>
              <a:rPr lang="en-US" sz="1300" dirty="0">
                <a:solidFill>
                  <a:schemeClr val="accent5"/>
                </a:solidFill>
              </a:rPr>
              <a:t>server + dashboard</a:t>
            </a:r>
            <a:endParaRPr lang="en-US" sz="1400" dirty="0"/>
          </a:p>
        </p:txBody>
      </p:sp>
      <p:sp>
        <p:nvSpPr>
          <p:cNvPr id="16" name="p2a-a1-up"/>
          <p:cNvSpPr/>
          <p:nvPr/>
        </p:nvSpPr>
        <p:spPr>
          <a:xfrm>
            <a:off x="3337560" y="2331720"/>
            <a:ext cx="1325880" cy="320040"/>
          </a:xfrm>
          <a:prstGeom prst="rightArrow">
            <a:avLst/>
          </a:prstGeom>
          <a:solidFill>
            <a:schemeClr val="accent1"/>
          </a:solidFill>
          <a:ln w="12700">
            <a:solidFill>
              <a:schemeClr val="accent1"/>
            </a:solidFill>
            <a:prstDash val="solid"/>
          </a:ln>
        </p:spPr>
      </p:sp>
      <p:sp>
        <p:nvSpPr>
          <p:cNvPr id="17" name="p2a-a1-down"/>
          <p:cNvSpPr/>
          <p:nvPr/>
        </p:nvSpPr>
        <p:spPr>
          <a:xfrm>
            <a:off x="3337560" y="2880360"/>
            <a:ext cx="1325880" cy="320040"/>
          </a:xfrm>
          <a:prstGeom prst="leftArrow">
            <a:avLst/>
          </a:prstGeom>
          <a:solidFill>
            <a:schemeClr val="accent2"/>
          </a:solidFill>
          <a:ln w="12700">
            <a:solidFill>
              <a:schemeClr val="accent2"/>
            </a:solidFill>
            <a:prstDash val="solid"/>
          </a:ln>
        </p:spPr>
      </p:sp>
      <p:sp>
        <p:nvSpPr>
          <p:cNvPr id="18" name="p2a-a2-up"/>
          <p:cNvSpPr/>
          <p:nvPr/>
        </p:nvSpPr>
        <p:spPr>
          <a:xfrm>
            <a:off x="7498080" y="2331720"/>
            <a:ext cx="1325880" cy="320040"/>
          </a:xfrm>
          <a:prstGeom prst="rightArrow">
            <a:avLst/>
          </a:prstGeom>
          <a:solidFill>
            <a:schemeClr val="accent1"/>
          </a:solidFill>
          <a:ln w="12700">
            <a:solidFill>
              <a:schemeClr val="accent1"/>
            </a:solidFill>
            <a:prstDash val="solid"/>
          </a:ln>
        </p:spPr>
      </p:sp>
      <p:sp>
        <p:nvSpPr>
          <p:cNvPr id="19" name="p2a-a2-down"/>
          <p:cNvSpPr/>
          <p:nvPr/>
        </p:nvSpPr>
        <p:spPr>
          <a:xfrm>
            <a:off x="7498080" y="2880360"/>
            <a:ext cx="1325880" cy="320040"/>
          </a:xfrm>
          <a:prstGeom prst="leftArrow">
            <a:avLst/>
          </a:prstGeom>
          <a:solidFill>
            <a:schemeClr val="accent2"/>
          </a:solidFill>
          <a:ln w="12700">
            <a:solidFill>
              <a:schemeClr val="accent2"/>
            </a:solidFill>
            <a:prstDash val="solid"/>
          </a:ln>
        </p:spPr>
      </p:sp>
      <p:sp>
        <p:nvSpPr>
          <p:cNvPr id="20" name="p2a-up-card"/>
          <p:cNvSpPr/>
          <p:nvPr/>
        </p:nvSpPr>
        <p:spPr>
          <a:xfrm>
            <a:off x="548640" y="3977640"/>
            <a:ext cx="5440680" cy="2011680"/>
          </a:xfrm>
          <a:prstGeom prst="roundRect">
            <a:avLst>
              <a:gd name="adj" fmla="val 5455"/>
            </a:avLst>
          </a:prstGeom>
          <a:solidFill>
            <a:schemeClr val="bg2"/>
          </a:solidFill>
          <a:ln w="12700">
            <a:solidFill>
              <a:schemeClr val="bg2"/>
            </a:solidFill>
            <a:prstDash val="solid"/>
          </a:ln>
        </p:spPr>
      </p:sp>
      <p:sp>
        <p:nvSpPr>
          <p:cNvPr id="21" name="p2a-up-title"/>
          <p:cNvSpPr txBox="1"/>
          <p:nvPr/>
        </p:nvSpPr>
        <p:spPr>
          <a:xfrm>
            <a:off x="777240" y="4114800"/>
            <a:ext cx="5029200" cy="365760"/>
          </a:xfrm>
          <a:prstGeom prst="rect">
            <a:avLst/>
          </a:prstGeom>
          <a:noFill/>
          <a:ln/>
        </p:spPr>
        <p:txBody>
          <a:bodyPr wrap="square" lIns="0" tIns="0" rIns="0" bIns="0" rtlCol="0" anchor="t"/>
          <a:lstStyle/>
          <a:p>
            <a:pPr marL="0" indent="0">
              <a:buNone/>
            </a:pPr>
            <a:r>
              <a:rPr lang="en-US" sz="1700" b="1" dirty="0">
                <a:solidFill>
                  <a:schemeClr val="accent1"/>
                </a:solidFill>
              </a:rPr>
              <a:t>Đi lên (uplink): ESP32 → server</a:t>
            </a:r>
            <a:endParaRPr lang="en-US" sz="1700" dirty="0"/>
          </a:p>
        </p:txBody>
      </p:sp>
      <p:sp>
        <p:nvSpPr>
          <p:cNvPr id="22" name="p2a-up-body"/>
          <p:cNvSpPr txBox="1"/>
          <p:nvPr/>
        </p:nvSpPr>
        <p:spPr>
          <a:xfrm>
            <a:off x="777240" y="4572000"/>
            <a:ext cx="5029200" cy="1645920"/>
          </a:xfrm>
          <a:prstGeom prst="rect">
            <a:avLst/>
          </a:prstGeom>
          <a:noFill/>
          <a:ln/>
        </p:spPr>
        <p:txBody>
          <a:bodyPr wrap="square" lIns="0" tIns="0" rIns="0" bIns="0" rtlCol="0" anchor="t"/>
          <a:lstStyle/>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telemetry</a:t>
            </a:r>
            <a:r>
              <a:rPr lang="en-US" sz="1400" dirty="0">
                <a:solidFill>
                  <a:schemeClr val="tx1"/>
                </a:solidFill>
              </a:rPr>
              <a:t>  số đo cảm biến, 2,5 giây một lần</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state</a:t>
            </a:r>
            <a:r>
              <a:rPr lang="en-US" sz="1400" dirty="0">
                <a:solidFill>
                  <a:schemeClr val="tx1"/>
                </a:solidFill>
              </a:rPr>
              <a:t>  bơm, quạt, đèn đang bật hay tắt</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availability</a:t>
            </a:r>
            <a:r>
              <a:rPr lang="en-US" sz="1400" dirty="0">
                <a:solidFill>
                  <a:schemeClr val="tx1"/>
                </a:solidFill>
              </a:rPr>
              <a:t>  thiết bị online hay offline</a:t>
            </a:r>
            <a:endParaRPr lang="en-US" sz="1400" dirty="0"/>
          </a:p>
          <a:p>
            <a:pPr marL="0" indent="0">
              <a:spcAft>
                <a:spcPts val="500"/>
              </a:spcAft>
              <a:buNone/>
            </a:pPr>
            <a:r>
              <a:rPr lang="en-US" sz="1300" b="1" dirty="0">
                <a:solidFill>
                  <a:schemeClr val="accent1"/>
                </a:solidFill>
                <a:latin typeface="Courier New" pitchFamily="34" charset="0"/>
                <a:ea typeface="Courier New" pitchFamily="34" charset="-122"/>
                <a:cs typeface="Courier New" pitchFamily="34" charset="-120"/>
              </a:rPr>
              <a:t>ack</a:t>
            </a:r>
            <a:r>
              <a:rPr lang="en-US" sz="1400" dirty="0">
                <a:solidFill>
                  <a:schemeClr val="tx1"/>
                </a:solidFill>
              </a:rPr>
              <a:t>  trả lời đã làm lệnh hay chưa</a:t>
            </a:r>
            <a:endParaRPr lang="en-US" sz="1400" dirty="0"/>
          </a:p>
        </p:txBody>
      </p:sp>
      <p:sp>
        <p:nvSpPr>
          <p:cNvPr id="23" name="p2a-down-card"/>
          <p:cNvSpPr/>
          <p:nvPr/>
        </p:nvSpPr>
        <p:spPr>
          <a:xfrm>
            <a:off x="6172200" y="3977640"/>
            <a:ext cx="5440680" cy="2011680"/>
          </a:xfrm>
          <a:prstGeom prst="roundRect">
            <a:avLst>
              <a:gd name="adj" fmla="val 5455"/>
            </a:avLst>
          </a:prstGeom>
          <a:solidFill>
            <a:schemeClr val="bg2"/>
          </a:solidFill>
          <a:ln w="12700">
            <a:solidFill>
              <a:schemeClr val="bg2"/>
            </a:solidFill>
            <a:prstDash val="solid"/>
          </a:ln>
        </p:spPr>
      </p:sp>
      <p:sp>
        <p:nvSpPr>
          <p:cNvPr id="24" name="p2a-down-title"/>
          <p:cNvSpPr txBox="1"/>
          <p:nvPr/>
        </p:nvSpPr>
        <p:spPr>
          <a:xfrm>
            <a:off x="6400800" y="4114800"/>
            <a:ext cx="5029200" cy="365760"/>
          </a:xfrm>
          <a:prstGeom prst="rect">
            <a:avLst/>
          </a:prstGeom>
          <a:noFill/>
          <a:ln/>
        </p:spPr>
        <p:txBody>
          <a:bodyPr wrap="square" lIns="0" tIns="0" rIns="0" bIns="0" rtlCol="0" anchor="t"/>
          <a:lstStyle/>
          <a:p>
            <a:pPr marL="0" indent="0">
              <a:buNone/>
            </a:pPr>
            <a:r>
              <a:rPr lang="en-US" sz="1700" b="1" dirty="0">
                <a:solidFill>
                  <a:schemeClr val="accent2"/>
                </a:solidFill>
              </a:rPr>
              <a:t>Đi xuống (downlink): server → ESP32</a:t>
            </a:r>
            <a:endParaRPr lang="en-US" sz="1700" dirty="0"/>
          </a:p>
        </p:txBody>
      </p:sp>
      <p:sp>
        <p:nvSpPr>
          <p:cNvPr id="25" name="p2a-down-body"/>
          <p:cNvSpPr txBox="1"/>
          <p:nvPr/>
        </p:nvSpPr>
        <p:spPr>
          <a:xfrm>
            <a:off x="6400800" y="4572000"/>
            <a:ext cx="5029200" cy="1645920"/>
          </a:xfrm>
          <a:prstGeom prst="rect">
            <a:avLst/>
          </a:prstGeom>
          <a:noFill/>
          <a:ln/>
        </p:spPr>
        <p:txBody>
          <a:bodyPr wrap="square" lIns="0" tIns="0" rIns="0" bIns="0" rtlCol="0" anchor="t"/>
          <a:lstStyle/>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cmd/mist</a:t>
            </a:r>
            <a:r>
              <a:rPr lang="en-US" sz="1400" dirty="0">
                <a:solidFill>
                  <a:schemeClr val="tx1"/>
                </a:solidFill>
              </a:rPr>
              <a:t>  lệnh bơm phun sương</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cmd/fan</a:t>
            </a:r>
            <a:r>
              <a:rPr lang="en-US" sz="1400" dirty="0">
                <a:solidFill>
                  <a:schemeClr val="tx1"/>
                </a:solidFill>
              </a:rPr>
              <a:t>  lệnh quạt</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cmd/light</a:t>
            </a:r>
            <a:r>
              <a:rPr lang="en-US" sz="1400" dirty="0">
                <a:solidFill>
                  <a:schemeClr val="tx1"/>
                </a:solidFill>
              </a:rPr>
              <a:t>  lệnh đèn</a:t>
            </a:r>
            <a:endParaRPr lang="en-US" sz="1400" dirty="0"/>
          </a:p>
          <a:p>
            <a:pPr marL="0" indent="0">
              <a:spcAft>
                <a:spcPts val="500"/>
              </a:spcAft>
              <a:buNone/>
            </a:pPr>
            <a:r>
              <a:rPr lang="en-US" sz="1300" b="1" dirty="0">
                <a:solidFill>
                  <a:schemeClr val="accent2"/>
                </a:solidFill>
                <a:latin typeface="Courier New" pitchFamily="34" charset="0"/>
                <a:ea typeface="Courier New" pitchFamily="34" charset="-122"/>
                <a:cs typeface="Courier New" pitchFamily="34" charset="-120"/>
              </a:rPr>
              <a:t>config</a:t>
            </a:r>
            <a:r>
              <a:rPr lang="en-US" sz="1400" dirty="0">
                <a:solidFill>
                  <a:schemeClr val="tx1"/>
                </a:solidFill>
              </a:rPr>
              <a:t>  đổi ngưỡng tự động</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2: Bốn dịch vụ chạy trên MQTT</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MQTT giống một bưu điện: ESP32 và server gửi tin qua broker broker.emqx.io, mỗi loại tin có một địa chỉ riêng (topic)</a:t>
            </a:r>
            <a:endParaRPr lang="en-US" sz="1600" dirty="0"/>
          </a:p>
        </p:txBody>
      </p:sp>
      <p:sp>
        <p:nvSpPr>
          <p:cNvPr id="4" name="p2-svc1"/>
          <p:cNvSpPr/>
          <p:nvPr/>
        </p:nvSpPr>
        <p:spPr>
          <a:xfrm>
            <a:off x="548640" y="1645920"/>
            <a:ext cx="5440680" cy="2240280"/>
          </a:xfrm>
          <a:prstGeom prst="roundRect">
            <a:avLst>
              <a:gd name="adj" fmla="val 4898"/>
            </a:avLst>
          </a:prstGeom>
          <a:solidFill>
            <a:schemeClr val="bg2"/>
          </a:solidFill>
          <a:ln w="12700">
            <a:solidFill>
              <a:schemeClr val="bg2"/>
            </a:solidFill>
            <a:prstDash val="solid"/>
          </a:ln>
        </p:spPr>
      </p:sp>
      <p:sp>
        <p:nvSpPr>
          <p:cNvPr id="5" name="p2-svc1-circle"/>
          <p:cNvSpPr/>
          <p:nvPr/>
        </p:nvSpPr>
        <p:spPr>
          <a:xfrm>
            <a:off x="777240" y="1847088"/>
            <a:ext cx="502920" cy="502920"/>
          </a:xfrm>
          <a:prstGeom prst="ellipse">
            <a:avLst/>
          </a:prstGeom>
          <a:solidFill>
            <a:schemeClr val="accent1"/>
          </a:solidFill>
          <a:ln w="12700">
            <a:solidFill>
              <a:schemeClr val="accent1"/>
            </a:solidFill>
            <a:prstDash val="solid"/>
          </a:ln>
        </p:spPr>
      </p:sp>
      <p:pic>
        <p:nvPicPr>
          <p:cNvPr id="6" name="p2-svc1-icon" descr="preencoded.png"/>
          <p:cNvPicPr>
            <a:picLocks noChangeAspect="1"/>
          </p:cNvPicPr>
          <p:nvPr/>
        </p:nvPicPr>
        <p:blipFill>
          <a:blip r:embed="rId3"/>
          <a:stretch>
            <a:fillRect/>
          </a:stretch>
        </p:blipFill>
        <p:spPr>
          <a:xfrm>
            <a:off x="887882" y="1957730"/>
            <a:ext cx="281635" cy="281635"/>
          </a:xfrm>
          <a:prstGeom prst="rect">
            <a:avLst/>
          </a:prstGeom>
        </p:spPr>
      </p:pic>
      <p:sp>
        <p:nvSpPr>
          <p:cNvPr id="7" name="p2-svc1-head"/>
          <p:cNvSpPr txBox="1"/>
          <p:nvPr/>
        </p:nvSpPr>
        <p:spPr>
          <a:xfrm>
            <a:off x="1417320" y="1810512"/>
            <a:ext cx="4389120" cy="685800"/>
          </a:xfrm>
          <a:prstGeom prst="rect">
            <a:avLst/>
          </a:prstGeom>
          <a:noFill/>
          <a:ln/>
        </p:spPr>
        <p:txBody>
          <a:bodyPr wrap="square" lIns="0" tIns="0" rIns="0" bIns="0" rtlCol="0" anchor="t"/>
          <a:lstStyle/>
          <a:p>
            <a:pPr marL="0" indent="0">
              <a:buNone/>
            </a:pPr>
            <a:r>
              <a:rPr lang="en-US" sz="1700" b="1" dirty="0">
                <a:solidFill>
                  <a:schemeClr val="tx2"/>
                </a:solidFill>
              </a:rPr>
              <a:t>1) Báo thiết bị còn hoạt động</a:t>
            </a:r>
            <a:endParaRPr lang="en-US" sz="1400" dirty="0"/>
          </a:p>
          <a:p>
            <a:pPr marL="0" indent="0">
              <a:buNone/>
            </a:pPr>
            <a:r>
              <a:rPr lang="en-US" sz="1200" dirty="0">
                <a:solidFill>
                  <a:schemeClr val="accent5"/>
                </a:solidFill>
              </a:rPr>
              <a:t>Server luôn biết ESP32 đang chạy hay đã mất kết nối</a:t>
            </a:r>
            <a:endParaRPr lang="en-US" sz="1400" dirty="0"/>
          </a:p>
        </p:txBody>
      </p:sp>
      <p:sp>
        <p:nvSpPr>
          <p:cNvPr id="8" name="p2-svc1-steps"/>
          <p:cNvSpPr txBox="1"/>
          <p:nvPr/>
        </p:nvSpPr>
        <p:spPr>
          <a:xfrm>
            <a:off x="822960" y="260604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availability</a:t>
            </a:r>
            <a:r>
              <a:rPr lang="en-US" sz="1300" dirty="0">
                <a:solidFill>
                  <a:schemeClr val="tx1"/>
                </a:solidFill>
              </a:rPr>
              <a:t>  ESP32 báo "online" khi vừa kết nối</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LWT</a:t>
            </a:r>
            <a:r>
              <a:rPr lang="en-US" sz="1300" dirty="0">
                <a:solidFill>
                  <a:schemeClr val="tx1"/>
                </a:solidFill>
              </a:rPr>
              <a:t>  ESP32 mất điện, mất mạng đột ngột: broker tự báo "offline" thay nó</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server</a:t>
            </a:r>
            <a:r>
              <a:rPr lang="en-US" sz="1300" dirty="0">
                <a:solidFill>
                  <a:schemeClr val="tx1"/>
                </a:solidFill>
              </a:rPr>
              <a:t>  Quá 15 giây không có dữ liệu mới: báo STALE (dữ liệu cũ)</a:t>
            </a:r>
            <a:endParaRPr lang="en-US" sz="1400" dirty="0"/>
          </a:p>
        </p:txBody>
      </p:sp>
      <p:sp>
        <p:nvSpPr>
          <p:cNvPr id="9" name="p2-svc2"/>
          <p:cNvSpPr/>
          <p:nvPr/>
        </p:nvSpPr>
        <p:spPr>
          <a:xfrm>
            <a:off x="6172200" y="1645920"/>
            <a:ext cx="5440680" cy="2240280"/>
          </a:xfrm>
          <a:prstGeom prst="roundRect">
            <a:avLst>
              <a:gd name="adj" fmla="val 4898"/>
            </a:avLst>
          </a:prstGeom>
          <a:solidFill>
            <a:schemeClr val="bg2"/>
          </a:solidFill>
          <a:ln w="12700">
            <a:solidFill>
              <a:schemeClr val="bg2"/>
            </a:solidFill>
            <a:prstDash val="solid"/>
          </a:ln>
        </p:spPr>
      </p:sp>
      <p:sp>
        <p:nvSpPr>
          <p:cNvPr id="10" name="p2-svc2-circle"/>
          <p:cNvSpPr/>
          <p:nvPr/>
        </p:nvSpPr>
        <p:spPr>
          <a:xfrm>
            <a:off x="6400800" y="1847088"/>
            <a:ext cx="502920" cy="502920"/>
          </a:xfrm>
          <a:prstGeom prst="ellipse">
            <a:avLst/>
          </a:prstGeom>
          <a:solidFill>
            <a:schemeClr val="accent1"/>
          </a:solidFill>
          <a:ln w="12700">
            <a:solidFill>
              <a:schemeClr val="accent1"/>
            </a:solidFill>
            <a:prstDash val="solid"/>
          </a:ln>
        </p:spPr>
      </p:sp>
      <p:pic>
        <p:nvPicPr>
          <p:cNvPr id="11" name="p2-svc2-icon" descr="preencoded.png"/>
          <p:cNvPicPr>
            <a:picLocks noChangeAspect="1"/>
          </p:cNvPicPr>
          <p:nvPr/>
        </p:nvPicPr>
        <p:blipFill>
          <a:blip r:embed="rId4"/>
          <a:stretch>
            <a:fillRect/>
          </a:stretch>
        </p:blipFill>
        <p:spPr>
          <a:xfrm>
            <a:off x="6511442" y="1957730"/>
            <a:ext cx="281635" cy="281635"/>
          </a:xfrm>
          <a:prstGeom prst="rect">
            <a:avLst/>
          </a:prstGeom>
        </p:spPr>
      </p:pic>
      <p:sp>
        <p:nvSpPr>
          <p:cNvPr id="12" name="p2-svc2-head"/>
          <p:cNvSpPr txBox="1"/>
          <p:nvPr/>
        </p:nvSpPr>
        <p:spPr>
          <a:xfrm>
            <a:off x="7040880" y="1810512"/>
            <a:ext cx="4389120" cy="685800"/>
          </a:xfrm>
          <a:prstGeom prst="rect">
            <a:avLst/>
          </a:prstGeom>
          <a:noFill/>
          <a:ln/>
        </p:spPr>
        <p:txBody>
          <a:bodyPr wrap="square" lIns="0" tIns="0" rIns="0" bIns="0" rtlCol="0" anchor="t"/>
          <a:lstStyle/>
          <a:p>
            <a:pPr marL="0" indent="0">
              <a:buNone/>
            </a:pPr>
            <a:r>
              <a:rPr lang="en-US" sz="1700" b="1" dirty="0">
                <a:solidFill>
                  <a:schemeClr val="tx2"/>
                </a:solidFill>
              </a:rPr>
              <a:t>2) Gửi số đo cảm biến</a:t>
            </a:r>
            <a:endParaRPr lang="en-US" sz="1400" dirty="0"/>
          </a:p>
          <a:p>
            <a:pPr marL="0" indent="0">
              <a:buNone/>
            </a:pPr>
            <a:r>
              <a:rPr lang="en-US" sz="1200" dirty="0">
                <a:solidFill>
                  <a:schemeClr val="accent5"/>
                </a:solidFill>
              </a:rPr>
              <a:t>Đưa số đo và tình trạng thiết bị lên server</a:t>
            </a:r>
            <a:endParaRPr lang="en-US" sz="1400" dirty="0"/>
          </a:p>
        </p:txBody>
      </p:sp>
      <p:sp>
        <p:nvSpPr>
          <p:cNvPr id="13" name="p2-svc2-steps"/>
          <p:cNvSpPr txBox="1"/>
          <p:nvPr/>
        </p:nvSpPr>
        <p:spPr>
          <a:xfrm>
            <a:off x="6446520" y="260604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telemetry</a:t>
            </a:r>
            <a:r>
              <a:rPr lang="en-US" sz="1300" dirty="0">
                <a:solidFill>
                  <a:schemeClr val="tx1"/>
                </a:solidFill>
              </a:rPr>
              <a:t>  Cứ 2,5 giây gửi nhiệt độ, độ ẩm, ánh sáng, mực nước</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state</a:t>
            </a:r>
            <a:r>
              <a:rPr lang="en-US" sz="1300" dirty="0">
                <a:solidFill>
                  <a:schemeClr val="tx1"/>
                </a:solidFill>
              </a:rPr>
              <a:t>  Bơm, quạt, đèn đang bật hay tắt; chế độ tự động hay bấm tay</a:t>
            </a:r>
            <a:endParaRPr lang="en-US" sz="1400" dirty="0"/>
          </a:p>
          <a:p>
            <a:pPr marL="0" indent="0">
              <a:spcAft>
                <a:spcPts val="500"/>
              </a:spcAft>
              <a:buNone/>
            </a:pPr>
            <a:r>
              <a:rPr lang="en-US" sz="1200" b="1" dirty="0">
                <a:solidFill>
                  <a:schemeClr val="accent1"/>
                </a:solidFill>
                <a:latin typeface="Courier New" pitchFamily="34" charset="0"/>
                <a:ea typeface="Courier New" pitchFamily="34" charset="-122"/>
                <a:cs typeface="Courier New" pitchFamily="34" charset="-120"/>
              </a:rPr>
              <a:t>server</a:t>
            </a:r>
            <a:r>
              <a:rPr lang="en-US" sz="1300" dirty="0">
                <a:solidFill>
                  <a:schemeClr val="tx1"/>
                </a:solidFill>
              </a:rPr>
              <a:t>  Nhận tin và cập nhật lên dashboard</a:t>
            </a:r>
            <a:endParaRPr lang="en-US" sz="1400" dirty="0"/>
          </a:p>
        </p:txBody>
      </p:sp>
      <p:sp>
        <p:nvSpPr>
          <p:cNvPr id="14" name="p2-svc3"/>
          <p:cNvSpPr/>
          <p:nvPr/>
        </p:nvSpPr>
        <p:spPr>
          <a:xfrm>
            <a:off x="548640" y="4069080"/>
            <a:ext cx="5440680" cy="2240280"/>
          </a:xfrm>
          <a:prstGeom prst="roundRect">
            <a:avLst>
              <a:gd name="adj" fmla="val 4898"/>
            </a:avLst>
          </a:prstGeom>
          <a:solidFill>
            <a:schemeClr val="bg2"/>
          </a:solidFill>
          <a:ln w="12700">
            <a:solidFill>
              <a:schemeClr val="bg2"/>
            </a:solidFill>
            <a:prstDash val="solid"/>
          </a:ln>
        </p:spPr>
      </p:sp>
      <p:sp>
        <p:nvSpPr>
          <p:cNvPr id="15" name="p2-svc3-circle"/>
          <p:cNvSpPr/>
          <p:nvPr/>
        </p:nvSpPr>
        <p:spPr>
          <a:xfrm>
            <a:off x="777240" y="4270248"/>
            <a:ext cx="502920" cy="502920"/>
          </a:xfrm>
          <a:prstGeom prst="ellipse">
            <a:avLst/>
          </a:prstGeom>
          <a:solidFill>
            <a:schemeClr val="accent2"/>
          </a:solidFill>
          <a:ln w="12700">
            <a:solidFill>
              <a:schemeClr val="accent2"/>
            </a:solidFill>
            <a:prstDash val="solid"/>
          </a:ln>
        </p:spPr>
      </p:sp>
      <p:pic>
        <p:nvPicPr>
          <p:cNvPr id="16" name="p2-svc3-icon" descr="preencoded.png"/>
          <p:cNvPicPr>
            <a:picLocks noChangeAspect="1"/>
          </p:cNvPicPr>
          <p:nvPr/>
        </p:nvPicPr>
        <p:blipFill>
          <a:blip r:embed="rId5"/>
          <a:stretch>
            <a:fillRect/>
          </a:stretch>
        </p:blipFill>
        <p:spPr>
          <a:xfrm>
            <a:off x="887882" y="4380890"/>
            <a:ext cx="281635" cy="281635"/>
          </a:xfrm>
          <a:prstGeom prst="rect">
            <a:avLst/>
          </a:prstGeom>
        </p:spPr>
      </p:pic>
      <p:sp>
        <p:nvSpPr>
          <p:cNvPr id="17" name="p2-svc3-head"/>
          <p:cNvSpPr txBox="1"/>
          <p:nvPr/>
        </p:nvSpPr>
        <p:spPr>
          <a:xfrm>
            <a:off x="1417320" y="4233672"/>
            <a:ext cx="4389120" cy="685800"/>
          </a:xfrm>
          <a:prstGeom prst="rect">
            <a:avLst/>
          </a:prstGeom>
          <a:noFill/>
          <a:ln/>
        </p:spPr>
        <p:txBody>
          <a:bodyPr wrap="square" lIns="0" tIns="0" rIns="0" bIns="0" rtlCol="0" anchor="t"/>
          <a:lstStyle/>
          <a:p>
            <a:pPr marL="0" indent="0">
              <a:buNone/>
            </a:pPr>
            <a:r>
              <a:rPr lang="en-US" sz="1700" b="1" dirty="0">
                <a:solidFill>
                  <a:schemeClr val="tx2"/>
                </a:solidFill>
              </a:rPr>
              <a:t>3) Điều khiển có xác nhận</a:t>
            </a:r>
            <a:endParaRPr lang="en-US" sz="1400" dirty="0"/>
          </a:p>
          <a:p>
            <a:pPr marL="0" indent="0">
              <a:buNone/>
            </a:pPr>
            <a:r>
              <a:rPr lang="en-US" sz="1200" dirty="0">
                <a:solidFill>
                  <a:schemeClr val="accent5"/>
                </a:solidFill>
              </a:rPr>
              <a:t>Gửi lệnh bật/tắt xuống và chờ ESP32 trả lời đã làm chưa (ACK)</a:t>
            </a:r>
            <a:endParaRPr lang="en-US" sz="1400" dirty="0"/>
          </a:p>
        </p:txBody>
      </p:sp>
      <p:sp>
        <p:nvSpPr>
          <p:cNvPr id="18" name="p2-svc3-steps"/>
          <p:cNvSpPr txBox="1"/>
          <p:nvPr/>
        </p:nvSpPr>
        <p:spPr>
          <a:xfrm>
            <a:off x="822960" y="502920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cmd/…</a:t>
            </a:r>
            <a:r>
              <a:rPr lang="en-US" sz="1300" dirty="0">
                <a:solidFill>
                  <a:schemeClr val="tx1"/>
                </a:solidFill>
              </a:rPr>
              <a:t>  Lệnh gồm: mã lệnh, chế độ, bật hay tắt, thời hạn</a:t>
            </a:r>
            <a:endParaRPr lang="en-US" sz="1400" dirty="0"/>
          </a:p>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ack</a:t>
            </a:r>
            <a:r>
              <a:rPr lang="en-US" sz="1300" dirty="0">
                <a:solidFill>
                  <a:schemeClr val="tx1"/>
                </a:solidFill>
              </a:rPr>
              <a:t>  ESP32 trả lời: đã làm (APPLIED) hoặc từ chối kèm lý do, ví dụ đang cạn nước</a:t>
            </a:r>
            <a:endParaRPr lang="en-US" sz="1400" dirty="0"/>
          </a:p>
          <a:p>
            <a:pPr marL="0" indent="0">
              <a:spcAft>
                <a:spcPts val="500"/>
              </a:spcAft>
              <a:buNone/>
            </a:pPr>
            <a:r>
              <a:rPr lang="en-US" sz="1200" b="1" dirty="0">
                <a:solidFill>
                  <a:schemeClr val="accent2"/>
                </a:solidFill>
                <a:latin typeface="Courier New" pitchFamily="34" charset="0"/>
                <a:ea typeface="Courier New" pitchFamily="34" charset="-122"/>
                <a:cs typeface="Courier New" pitchFamily="34" charset="-120"/>
              </a:rPr>
              <a:t>server</a:t>
            </a:r>
            <a:r>
              <a:rPr lang="en-US" sz="1300" dirty="0">
                <a:solidFill>
                  <a:schemeClr val="tx1"/>
                </a:solidFill>
              </a:rPr>
              <a:t>  Quá 6 giây không có trả lời: báo NO_ACK</a:t>
            </a:r>
            <a:endParaRPr lang="en-US" sz="1400" dirty="0"/>
          </a:p>
        </p:txBody>
      </p:sp>
      <p:sp>
        <p:nvSpPr>
          <p:cNvPr id="19" name="p2-svc4"/>
          <p:cNvSpPr/>
          <p:nvPr/>
        </p:nvSpPr>
        <p:spPr>
          <a:xfrm>
            <a:off x="6172200" y="4069080"/>
            <a:ext cx="5440680" cy="2240280"/>
          </a:xfrm>
          <a:prstGeom prst="roundRect">
            <a:avLst>
              <a:gd name="adj" fmla="val 4898"/>
            </a:avLst>
          </a:prstGeom>
          <a:solidFill>
            <a:schemeClr val="bg2"/>
          </a:solidFill>
          <a:ln w="12700">
            <a:solidFill>
              <a:schemeClr val="bg2"/>
            </a:solidFill>
            <a:prstDash val="solid"/>
          </a:ln>
        </p:spPr>
      </p:sp>
      <p:sp>
        <p:nvSpPr>
          <p:cNvPr id="20" name="p2-svc4-circle"/>
          <p:cNvSpPr/>
          <p:nvPr/>
        </p:nvSpPr>
        <p:spPr>
          <a:xfrm>
            <a:off x="6400800" y="4270248"/>
            <a:ext cx="502920" cy="502920"/>
          </a:xfrm>
          <a:prstGeom prst="ellipse">
            <a:avLst/>
          </a:prstGeom>
          <a:solidFill>
            <a:schemeClr val="accent3"/>
          </a:solidFill>
          <a:ln w="12700">
            <a:solidFill>
              <a:schemeClr val="accent3"/>
            </a:solidFill>
            <a:prstDash val="solid"/>
          </a:ln>
        </p:spPr>
      </p:sp>
      <p:pic>
        <p:nvPicPr>
          <p:cNvPr id="21" name="p2-svc4-icon" descr="preencoded.png"/>
          <p:cNvPicPr>
            <a:picLocks noChangeAspect="1"/>
          </p:cNvPicPr>
          <p:nvPr/>
        </p:nvPicPr>
        <p:blipFill>
          <a:blip r:embed="rId6"/>
          <a:stretch>
            <a:fillRect/>
          </a:stretch>
        </p:blipFill>
        <p:spPr>
          <a:xfrm>
            <a:off x="6511442" y="4380890"/>
            <a:ext cx="281635" cy="281635"/>
          </a:xfrm>
          <a:prstGeom prst="rect">
            <a:avLst/>
          </a:prstGeom>
        </p:spPr>
      </p:pic>
      <p:sp>
        <p:nvSpPr>
          <p:cNvPr id="22" name="p2-svc4-head"/>
          <p:cNvSpPr txBox="1"/>
          <p:nvPr/>
        </p:nvSpPr>
        <p:spPr>
          <a:xfrm>
            <a:off x="7040880" y="4233672"/>
            <a:ext cx="4389120" cy="685800"/>
          </a:xfrm>
          <a:prstGeom prst="rect">
            <a:avLst/>
          </a:prstGeom>
          <a:noFill/>
          <a:ln/>
        </p:spPr>
        <p:txBody>
          <a:bodyPr wrap="square" lIns="0" tIns="0" rIns="0" bIns="0" rtlCol="0" anchor="t"/>
          <a:lstStyle/>
          <a:p>
            <a:pPr marL="0" indent="0">
              <a:buNone/>
            </a:pPr>
            <a:r>
              <a:rPr lang="en-US" sz="1700" b="1" dirty="0">
                <a:solidFill>
                  <a:schemeClr val="tx2"/>
                </a:solidFill>
              </a:rPr>
              <a:t>4) Đổi ngưỡng từ xa</a:t>
            </a:r>
            <a:endParaRPr lang="en-US" sz="1400" dirty="0"/>
          </a:p>
          <a:p>
            <a:pPr marL="0" indent="0">
              <a:buNone/>
            </a:pPr>
            <a:r>
              <a:rPr lang="en-US" sz="1200" dirty="0">
                <a:solidFill>
                  <a:schemeClr val="accent5"/>
                </a:solidFill>
              </a:rPr>
              <a:t>Chỉnh mức độ ẩm, nhiệt độ, ánh sáng, nước mà không phải nạp lại chương trình</a:t>
            </a:r>
            <a:endParaRPr lang="en-US" sz="1400" dirty="0"/>
          </a:p>
        </p:txBody>
      </p:sp>
      <p:sp>
        <p:nvSpPr>
          <p:cNvPr id="23" name="p2-svc4-steps"/>
          <p:cNvSpPr txBox="1"/>
          <p:nvPr/>
        </p:nvSpPr>
        <p:spPr>
          <a:xfrm>
            <a:off x="6446520" y="5029200"/>
            <a:ext cx="4937760" cy="1188720"/>
          </a:xfrm>
          <a:prstGeom prst="rect">
            <a:avLst/>
          </a:prstGeom>
          <a:noFill/>
          <a:ln/>
        </p:spPr>
        <p:txBody>
          <a:bodyPr wrap="square" lIns="0" tIns="0" rIns="0" bIns="0" rtlCol="0" anchor="t"/>
          <a:lstStyle/>
          <a:p>
            <a:pPr marL="0" indent="0">
              <a:spcAft>
                <a:spcPts val="500"/>
              </a:spcAft>
              <a:buNone/>
            </a:pPr>
            <a:r>
              <a:rPr lang="en-US" sz="1200" b="1" dirty="0">
                <a:solidFill>
                  <a:schemeClr val="accent3"/>
                </a:solidFill>
                <a:latin typeface="Courier New" pitchFamily="34" charset="0"/>
                <a:ea typeface="Courier New" pitchFamily="34" charset="-122"/>
                <a:cs typeface="Courier New" pitchFamily="34" charset="-120"/>
              </a:rPr>
              <a:t>config</a:t>
            </a:r>
            <a:r>
              <a:rPr lang="en-US" sz="1300" dirty="0">
                <a:solidFill>
                  <a:schemeClr val="tx1"/>
                </a:solidFill>
              </a:rPr>
              <a:t>  Server gửi ngưỡng mới, ESP32 trả lời đã áp dụng</a:t>
            </a:r>
            <a:endParaRPr lang="en-US" sz="1400" dirty="0"/>
          </a:p>
          <a:p>
            <a:pPr marL="0" indent="0">
              <a:spcAft>
                <a:spcPts val="500"/>
              </a:spcAft>
              <a:buNone/>
            </a:pPr>
            <a:r>
              <a:rPr lang="en-US" sz="1200" b="1" dirty="0">
                <a:solidFill>
                  <a:schemeClr val="accent3"/>
                </a:solidFill>
                <a:latin typeface="Courier New" pitchFamily="34" charset="0"/>
                <a:ea typeface="Courier New" pitchFamily="34" charset="-122"/>
                <a:cs typeface="Courier New" pitchFamily="34" charset="-120"/>
              </a:rPr>
              <a:t>giới hạn</a:t>
            </a:r>
            <a:r>
              <a:rPr lang="en-US" sz="1300" dirty="0">
                <a:solidFill>
                  <a:schemeClr val="tx1"/>
                </a:solidFill>
              </a:rPr>
              <a:t>  ESP32 từ chối ngưỡng nguy hiểm, ví dụ mức báo cạn nước không được dưới 1200</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3: Ứng dụng web – Theo dõi và lưu dữ liệu</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Node-RED là phần mềm trung tâm trên server: nhận dữ liệu, chạy luật tự động và tạo trang dashboard</a:t>
            </a:r>
            <a:endParaRPr lang="en-US" sz="1600" dirty="0"/>
          </a:p>
        </p:txBody>
      </p:sp>
      <p:sp>
        <p:nvSpPr>
          <p:cNvPr id="4" name="p3a-rep-circle"/>
          <p:cNvSpPr/>
          <p:nvPr/>
        </p:nvSpPr>
        <p:spPr>
          <a:xfrm>
            <a:off x="548640" y="1645920"/>
            <a:ext cx="502920" cy="502920"/>
          </a:xfrm>
          <a:prstGeom prst="ellipse">
            <a:avLst/>
          </a:prstGeom>
          <a:solidFill>
            <a:schemeClr val="accent1"/>
          </a:solidFill>
          <a:ln w="12700">
            <a:solidFill>
              <a:schemeClr val="accent1"/>
            </a:solidFill>
            <a:prstDash val="solid"/>
          </a:ln>
        </p:spPr>
      </p:sp>
      <p:pic>
        <p:nvPicPr>
          <p:cNvPr id="5" name="p3a-rep-icon" descr="preencoded.png"/>
          <p:cNvPicPr>
            <a:picLocks noChangeAspect="1"/>
          </p:cNvPicPr>
          <p:nvPr/>
        </p:nvPicPr>
        <p:blipFill>
          <a:blip r:embed="rId3"/>
          <a:stretch>
            <a:fillRect/>
          </a:stretch>
        </p:blipFill>
        <p:spPr>
          <a:xfrm>
            <a:off x="659282" y="1756562"/>
            <a:ext cx="281635" cy="281635"/>
          </a:xfrm>
          <a:prstGeom prst="rect">
            <a:avLst/>
          </a:prstGeom>
        </p:spPr>
      </p:pic>
      <p:sp>
        <p:nvSpPr>
          <p:cNvPr id="6" name="p3a-rep-title"/>
          <p:cNvSpPr txBox="1"/>
          <p:nvPr/>
        </p:nvSpPr>
        <p:spPr>
          <a:xfrm>
            <a:off x="118872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1. Hiển thị dữ liệu</a:t>
            </a:r>
            <a:endParaRPr lang="en-US" sz="2000" dirty="0"/>
          </a:p>
        </p:txBody>
      </p:sp>
      <p:sp>
        <p:nvSpPr>
          <p:cNvPr id="7" name="p3a-rep-body"/>
          <p:cNvSpPr txBox="1"/>
          <p:nvPr/>
        </p:nvSpPr>
        <p:spPr>
          <a:xfrm>
            <a:off x="548640" y="2331720"/>
            <a:ext cx="548640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Mở được trên máy tính và điện thoại</a:t>
            </a:r>
            <a:endParaRPr lang="en-US" sz="1500" dirty="0"/>
          </a:p>
          <a:p>
            <a:pPr marL="342900" indent="-342900">
              <a:spcAft>
                <a:spcPts val="600"/>
              </a:spcAft>
              <a:buSzPct val="100000"/>
              <a:buChar char="•"/>
            </a:pPr>
            <a:r>
              <a:rPr lang="en-US" sz="1500" dirty="0">
                <a:solidFill>
                  <a:schemeClr val="tx1"/>
                </a:solidFill>
              </a:rPr>
              <a:t>Số đo trực tiếp: nhiệt độ (°C), độ ẩm (%), ánh sáng, mực nước</a:t>
            </a:r>
            <a:endParaRPr lang="en-US" sz="1500" dirty="0"/>
          </a:p>
          <a:p>
            <a:pPr marL="342900" indent="-342900">
              <a:spcAft>
                <a:spcPts val="600"/>
              </a:spcAft>
              <a:buSzPct val="100000"/>
              <a:buChar char="•"/>
            </a:pPr>
            <a:r>
              <a:rPr lang="en-US" sz="1500" dirty="0">
                <a:solidFill>
                  <a:schemeClr val="tx1"/>
                </a:solidFill>
              </a:rPr>
              <a:t>2 biểu đồ cho thấy diễn biến trong 1 giờ gần nhất</a:t>
            </a:r>
            <a:endParaRPr lang="en-US" sz="1500" dirty="0"/>
          </a:p>
          <a:p>
            <a:pPr marL="342900" indent="-342900">
              <a:spcAft>
                <a:spcPts val="600"/>
              </a:spcAft>
              <a:buSzPct val="100000"/>
              <a:buChar char="•"/>
            </a:pPr>
            <a:r>
              <a:rPr lang="en-US" sz="1500" dirty="0">
                <a:solidFill>
                  <a:schemeClr val="tx1"/>
                </a:solidFill>
              </a:rPr>
              <a:t>Cảm biến hỏng thì hiện chữ "DHT fault", không hiện số sai</a:t>
            </a:r>
            <a:endParaRPr lang="en-US" sz="1500" dirty="0"/>
          </a:p>
        </p:txBody>
      </p:sp>
      <p:sp>
        <p:nvSpPr>
          <p:cNvPr id="8" name="p3a-conn-label"/>
          <p:cNvSpPr txBox="1"/>
          <p:nvPr/>
        </p:nvSpPr>
        <p:spPr>
          <a:xfrm>
            <a:off x="548640" y="416052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Trạng thái kết nối</a:t>
            </a:r>
            <a:endParaRPr lang="en-US" sz="1300" dirty="0"/>
          </a:p>
        </p:txBody>
      </p:sp>
      <p:sp>
        <p:nvSpPr>
          <p:cNvPr id="9" name="p3a-conn-ONLINE"/>
          <p:cNvSpPr/>
          <p:nvPr/>
        </p:nvSpPr>
        <p:spPr>
          <a:xfrm>
            <a:off x="548640" y="4526280"/>
            <a:ext cx="1645920" cy="457200"/>
          </a:xfrm>
          <a:prstGeom prst="roundRect">
            <a:avLst>
              <a:gd name="adj" fmla="val 50000"/>
            </a:avLst>
          </a:prstGeom>
          <a:solidFill>
            <a:schemeClr val="accent1"/>
          </a:solidFill>
          <a:ln w="12700">
            <a:solidFill>
              <a:schemeClr val="accent1"/>
            </a:solidFill>
            <a:prstDash val="solid"/>
          </a:ln>
        </p:spPr>
      </p:sp>
      <p:sp>
        <p:nvSpPr>
          <p:cNvPr id="10" name="p3a-conn-ONLINE-text"/>
          <p:cNvSpPr txBox="1"/>
          <p:nvPr/>
        </p:nvSpPr>
        <p:spPr>
          <a:xfrm>
            <a:off x="5486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ONLINE</a:t>
            </a:r>
            <a:endParaRPr lang="en-US" sz="1400" dirty="0"/>
          </a:p>
        </p:txBody>
      </p:sp>
      <p:sp>
        <p:nvSpPr>
          <p:cNvPr id="11" name="p3a-conn-ONLINE-desc"/>
          <p:cNvSpPr txBox="1"/>
          <p:nvPr/>
        </p:nvSpPr>
        <p:spPr>
          <a:xfrm>
            <a:off x="5486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đang nhận dữ liệu</a:t>
            </a:r>
            <a:endParaRPr lang="en-US" sz="1100" dirty="0"/>
          </a:p>
        </p:txBody>
      </p:sp>
      <p:sp>
        <p:nvSpPr>
          <p:cNvPr id="12" name="p3a-conn-STALE"/>
          <p:cNvSpPr/>
          <p:nvPr/>
        </p:nvSpPr>
        <p:spPr>
          <a:xfrm>
            <a:off x="2377440" y="4526280"/>
            <a:ext cx="1645920" cy="457200"/>
          </a:xfrm>
          <a:prstGeom prst="roundRect">
            <a:avLst>
              <a:gd name="adj" fmla="val 50000"/>
            </a:avLst>
          </a:prstGeom>
          <a:solidFill>
            <a:schemeClr val="accent3"/>
          </a:solidFill>
          <a:ln w="12700">
            <a:solidFill>
              <a:schemeClr val="accent3"/>
            </a:solidFill>
            <a:prstDash val="solid"/>
          </a:ln>
        </p:spPr>
      </p:sp>
      <p:sp>
        <p:nvSpPr>
          <p:cNvPr id="13" name="p3a-conn-STALE-text"/>
          <p:cNvSpPr txBox="1"/>
          <p:nvPr/>
        </p:nvSpPr>
        <p:spPr>
          <a:xfrm>
            <a:off x="23774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STALE</a:t>
            </a:r>
            <a:endParaRPr lang="en-US" sz="1400" dirty="0"/>
          </a:p>
        </p:txBody>
      </p:sp>
      <p:sp>
        <p:nvSpPr>
          <p:cNvPr id="14" name="p3a-conn-STALE-desc"/>
          <p:cNvSpPr txBox="1"/>
          <p:nvPr/>
        </p:nvSpPr>
        <p:spPr>
          <a:xfrm>
            <a:off x="23774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15 s chưa có số mới</a:t>
            </a:r>
            <a:endParaRPr lang="en-US" sz="1100" dirty="0"/>
          </a:p>
        </p:txBody>
      </p:sp>
      <p:sp>
        <p:nvSpPr>
          <p:cNvPr id="15" name="p3a-conn-OFFLINE"/>
          <p:cNvSpPr/>
          <p:nvPr/>
        </p:nvSpPr>
        <p:spPr>
          <a:xfrm>
            <a:off x="4206240" y="4526280"/>
            <a:ext cx="1645920" cy="457200"/>
          </a:xfrm>
          <a:prstGeom prst="roundRect">
            <a:avLst>
              <a:gd name="adj" fmla="val 50000"/>
            </a:avLst>
          </a:prstGeom>
          <a:solidFill>
            <a:schemeClr val="accent4"/>
          </a:solidFill>
          <a:ln w="12700">
            <a:solidFill>
              <a:schemeClr val="accent4"/>
            </a:solidFill>
            <a:prstDash val="solid"/>
          </a:ln>
        </p:spPr>
      </p:sp>
      <p:sp>
        <p:nvSpPr>
          <p:cNvPr id="16" name="p3a-conn-OFFLINE-text"/>
          <p:cNvSpPr txBox="1"/>
          <p:nvPr/>
        </p:nvSpPr>
        <p:spPr>
          <a:xfrm>
            <a:off x="4206240" y="4526280"/>
            <a:ext cx="1645920" cy="457200"/>
          </a:xfrm>
          <a:prstGeom prst="rect">
            <a:avLst/>
          </a:prstGeom>
          <a:noFill/>
          <a:ln/>
        </p:spPr>
        <p:txBody>
          <a:bodyPr wrap="square" lIns="0" tIns="0" rIns="0" bIns="0" rtlCol="0" anchor="ctr"/>
          <a:lstStyle/>
          <a:p>
            <a:pPr marL="0" indent="0" algn="ctr">
              <a:buNone/>
            </a:pPr>
            <a:r>
              <a:rPr lang="en-US" sz="1400" b="1" dirty="0">
                <a:solidFill>
                  <a:schemeClr val="bg1"/>
                </a:solidFill>
              </a:rPr>
              <a:t>OFFLINE</a:t>
            </a:r>
            <a:endParaRPr lang="en-US" sz="1400" dirty="0"/>
          </a:p>
        </p:txBody>
      </p:sp>
      <p:sp>
        <p:nvSpPr>
          <p:cNvPr id="17" name="p3a-conn-OFFLINE-desc"/>
          <p:cNvSpPr txBox="1"/>
          <p:nvPr/>
        </p:nvSpPr>
        <p:spPr>
          <a:xfrm>
            <a:off x="4206240" y="5056632"/>
            <a:ext cx="1645920" cy="457200"/>
          </a:xfrm>
          <a:prstGeom prst="rect">
            <a:avLst/>
          </a:prstGeom>
          <a:noFill/>
          <a:ln/>
        </p:spPr>
        <p:txBody>
          <a:bodyPr wrap="square" lIns="0" tIns="0" rIns="0" bIns="0" rtlCol="0" anchor="t"/>
          <a:lstStyle/>
          <a:p>
            <a:pPr marL="0" indent="0" algn="ctr">
              <a:buNone/>
            </a:pPr>
            <a:r>
              <a:rPr lang="en-US" sz="1100" dirty="0">
                <a:solidFill>
                  <a:schemeClr val="accent5"/>
                </a:solidFill>
              </a:rPr>
              <a:t>thiết bị mất kết nối</a:t>
            </a:r>
            <a:endParaRPr lang="en-US" sz="1100" dirty="0"/>
          </a:p>
        </p:txBody>
      </p:sp>
      <p:sp>
        <p:nvSpPr>
          <p:cNvPr id="18" name="p3a-mgmt-card"/>
          <p:cNvSpPr/>
          <p:nvPr/>
        </p:nvSpPr>
        <p:spPr>
          <a:xfrm>
            <a:off x="6400800" y="1645920"/>
            <a:ext cx="5212080" cy="3931920"/>
          </a:xfrm>
          <a:prstGeom prst="roundRect">
            <a:avLst>
              <a:gd name="adj" fmla="val 2791"/>
            </a:avLst>
          </a:prstGeom>
          <a:solidFill>
            <a:schemeClr val="bg2"/>
          </a:solidFill>
          <a:ln w="12700">
            <a:solidFill>
              <a:schemeClr val="bg2"/>
            </a:solidFill>
            <a:prstDash val="solid"/>
          </a:ln>
        </p:spPr>
      </p:sp>
      <p:sp>
        <p:nvSpPr>
          <p:cNvPr id="19" name="p3a-mgmt-circle"/>
          <p:cNvSpPr/>
          <p:nvPr/>
        </p:nvSpPr>
        <p:spPr>
          <a:xfrm>
            <a:off x="6675120" y="1874520"/>
            <a:ext cx="502920" cy="502920"/>
          </a:xfrm>
          <a:prstGeom prst="ellipse">
            <a:avLst/>
          </a:prstGeom>
          <a:solidFill>
            <a:schemeClr val="accent2"/>
          </a:solidFill>
          <a:ln w="12700">
            <a:solidFill>
              <a:schemeClr val="accent2"/>
            </a:solidFill>
            <a:prstDash val="solid"/>
          </a:ln>
        </p:spPr>
      </p:sp>
      <p:pic>
        <p:nvPicPr>
          <p:cNvPr id="20" name="p3a-mgmt-icon" descr="preencoded.png"/>
          <p:cNvPicPr>
            <a:picLocks noChangeAspect="1"/>
          </p:cNvPicPr>
          <p:nvPr/>
        </p:nvPicPr>
        <p:blipFill>
          <a:blip r:embed="rId4"/>
          <a:stretch>
            <a:fillRect/>
          </a:stretch>
        </p:blipFill>
        <p:spPr>
          <a:xfrm>
            <a:off x="6785762" y="1985162"/>
            <a:ext cx="281635" cy="281635"/>
          </a:xfrm>
          <a:prstGeom prst="rect">
            <a:avLst/>
          </a:prstGeom>
        </p:spPr>
      </p:pic>
      <p:sp>
        <p:nvSpPr>
          <p:cNvPr id="21" name="p3a-mgmt-title"/>
          <p:cNvSpPr txBox="1"/>
          <p:nvPr/>
        </p:nvSpPr>
        <p:spPr>
          <a:xfrm>
            <a:off x="7315200" y="1920240"/>
            <a:ext cx="41148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2. Lưu nhật ký</a:t>
            </a:r>
            <a:endParaRPr lang="en-US" sz="2000" dirty="0"/>
          </a:p>
        </p:txBody>
      </p:sp>
      <p:sp>
        <p:nvSpPr>
          <p:cNvPr id="22" name="p3a-mgmt-lead"/>
          <p:cNvSpPr txBox="1"/>
          <p:nvPr/>
        </p:nvSpPr>
        <p:spPr>
          <a:xfrm>
            <a:off x="6675120" y="2560320"/>
            <a:ext cx="4663440" cy="640080"/>
          </a:xfrm>
          <a:prstGeom prst="rect">
            <a:avLst/>
          </a:prstGeom>
          <a:noFill/>
          <a:ln/>
        </p:spPr>
        <p:txBody>
          <a:bodyPr wrap="square" lIns="0" tIns="0" rIns="0" bIns="0" rtlCol="0" anchor="t"/>
          <a:lstStyle/>
          <a:p>
            <a:pPr marL="0" indent="0">
              <a:buNone/>
            </a:pPr>
            <a:r>
              <a:rPr lang="en-US" sz="1400" i="1" dirty="0">
                <a:solidFill>
                  <a:schemeClr val="accent5"/>
                </a:solidFill>
              </a:rPr>
              <a:t>Không cần cơ sở dữ liệu: mọi sự kiện được ghi nối tiếp vào một file nhật ký</a:t>
            </a:r>
            <a:endParaRPr lang="en-US" sz="1400" dirty="0"/>
          </a:p>
        </p:txBody>
      </p:sp>
      <p:sp>
        <p:nvSpPr>
          <p:cNvPr id="23" name="p3a-file"/>
          <p:cNvSpPr/>
          <p:nvPr/>
        </p:nvSpPr>
        <p:spPr>
          <a:xfrm>
            <a:off x="6675120" y="3291840"/>
            <a:ext cx="4663440" cy="457200"/>
          </a:xfrm>
          <a:prstGeom prst="roundRect">
            <a:avLst>
              <a:gd name="adj" fmla="val 16000"/>
            </a:avLst>
          </a:prstGeom>
          <a:solidFill>
            <a:schemeClr val="tx2"/>
          </a:solidFill>
          <a:ln w="12700">
            <a:solidFill>
              <a:schemeClr val="tx2"/>
            </a:solidFill>
            <a:prstDash val="solid"/>
          </a:ln>
        </p:spPr>
      </p:sp>
      <p:sp>
        <p:nvSpPr>
          <p:cNvPr id="24" name="p3a-file-text"/>
          <p:cNvSpPr txBox="1"/>
          <p:nvPr/>
        </p:nvSpPr>
        <p:spPr>
          <a:xfrm>
            <a:off x="6812280" y="3291840"/>
            <a:ext cx="4389120" cy="457200"/>
          </a:xfrm>
          <a:prstGeom prst="rect">
            <a:avLst/>
          </a:prstGeom>
          <a:noFill/>
          <a:ln/>
        </p:spPr>
        <p:txBody>
          <a:bodyPr wrap="square" lIns="0" tIns="0" rIns="0" bIns="0" rtlCol="0" anchor="ctr"/>
          <a:lstStyle/>
          <a:p>
            <a:pPr marL="0" indent="0">
              <a:buNone/>
            </a:pPr>
            <a:r>
              <a:rPr lang="en-US" sz="1400" b="1" dirty="0">
                <a:solidFill>
                  <a:schemeClr val="bg1"/>
                </a:solidFill>
                <a:latin typeface="Courier New" pitchFamily="34" charset="0"/>
                <a:ea typeface="Courier New" pitchFamily="34" charset="-122"/>
                <a:cs typeface="Courier New" pitchFamily="34" charset="-120"/>
              </a:rPr>
              <a:t>orchid-history.jsonl</a:t>
            </a:r>
            <a:endParaRPr lang="en-US" sz="1400" dirty="0"/>
          </a:p>
        </p:txBody>
      </p:sp>
      <p:sp>
        <p:nvSpPr>
          <p:cNvPr id="25" name="p3a-mgmt-body"/>
          <p:cNvSpPr txBox="1"/>
          <p:nvPr/>
        </p:nvSpPr>
        <p:spPr>
          <a:xfrm>
            <a:off x="6675120" y="3931920"/>
            <a:ext cx="466344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Mỗi dòng một sự kiện: lúc nào, ai bấm, lệnh gì, kết quả, mất bao lâu</a:t>
            </a:r>
            <a:endParaRPr lang="en-US" sz="1400" dirty="0"/>
          </a:p>
          <a:p>
            <a:pPr marL="342900" indent="-342900">
              <a:spcAft>
                <a:spcPts val="600"/>
              </a:spcAft>
              <a:buSzPct val="100000"/>
              <a:buChar char="•"/>
            </a:pPr>
            <a:r>
              <a:rPr lang="en-US" sz="1400" dirty="0">
                <a:solidFill>
                  <a:schemeClr val="tx1"/>
                </a:solidFill>
              </a:rPr>
              <a:t>Ghi cả sự cố: cảm biến hỏng, cạn nước, mất kết nối</a:t>
            </a:r>
            <a:endParaRPr lang="en-US" sz="1400" dirty="0"/>
          </a:p>
          <a:p>
            <a:pPr marL="342900" indent="-342900">
              <a:spcAft>
                <a:spcPts val="600"/>
              </a:spcAft>
              <a:buSzPct val="100000"/>
              <a:buChar char="•"/>
            </a:pPr>
            <a:r>
              <a:rPr lang="en-US" sz="1400" dirty="0">
                <a:solidFill>
                  <a:schemeClr val="tx1"/>
                </a:solidFill>
              </a:rPr>
              <a:t>Dùng làm bằng chứng khi nghiệm thu và khi tìm lỗi</a:t>
            </a:r>
            <a:endParaRPr lang="en-US" sz="1400" dirty="0"/>
          </a:p>
        </p:txBody>
      </p:sp>
      <p:sp>
        <p:nvSpPr>
          <p:cNvPr id="26"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68580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Phần 3: Ứng dụng web – Điều khiển và tự động</a:t>
            </a:r>
            <a:endParaRPr lang="en-US" sz="3200" dirty="0"/>
          </a:p>
        </p:txBody>
      </p:sp>
      <p:sp>
        <p:nvSpPr>
          <p:cNvPr id="3" name="Text 0"/>
          <p:cNvSpPr>
            <a:spLocks noGrp="1"/>
          </p:cNvSpPr>
          <p:nvPr>
            <p:ph type="body" idx="101" hasCustomPrompt="1"/>
          </p:nvPr>
        </p:nvSpPr>
        <p:spPr>
          <a:xfrm>
            <a:off x="548640" y="1005840"/>
            <a:ext cx="11064240" cy="411480"/>
          </a:xfrm>
          <a:prstGeom prst="rect">
            <a:avLst/>
          </a:prstGeom>
          <a:noFill/>
          <a:ln/>
        </p:spPr>
        <p:txBody>
          <a:bodyPr wrap="square" lIns="0" tIns="0" rIns="0" bIns="0" rtlCol="0" anchor="t"/>
          <a:lstStyle/>
          <a:p>
            <a:pPr marL="0" indent="0">
              <a:buNone/>
            </a:pPr>
            <a:r>
              <a:rPr lang="en-US" sz="1600" i="1" dirty="0">
                <a:solidFill>
                  <a:schemeClr val="accent5"/>
                </a:solidFill>
              </a:rPr>
              <a:t>Người dùng bấm điều khiển được, nhưng hệ thống tự khóa những thao tác có thể gây hại cho lan</a:t>
            </a:r>
            <a:endParaRPr lang="en-US" sz="1600" dirty="0"/>
          </a:p>
        </p:txBody>
      </p:sp>
      <p:sp>
        <p:nvSpPr>
          <p:cNvPr id="4" name="p3b-ctrl-circle"/>
          <p:cNvSpPr/>
          <p:nvPr/>
        </p:nvSpPr>
        <p:spPr>
          <a:xfrm>
            <a:off x="548640" y="1645920"/>
            <a:ext cx="502920" cy="502920"/>
          </a:xfrm>
          <a:prstGeom prst="ellipse">
            <a:avLst/>
          </a:prstGeom>
          <a:solidFill>
            <a:schemeClr val="accent2"/>
          </a:solidFill>
          <a:ln w="12700">
            <a:solidFill>
              <a:schemeClr val="accent2"/>
            </a:solidFill>
            <a:prstDash val="solid"/>
          </a:ln>
        </p:spPr>
      </p:sp>
      <p:pic>
        <p:nvPicPr>
          <p:cNvPr id="5" name="p3b-ctrl-icon" descr="preencoded.png"/>
          <p:cNvPicPr>
            <a:picLocks noChangeAspect="1"/>
          </p:cNvPicPr>
          <p:nvPr/>
        </p:nvPicPr>
        <p:blipFill>
          <a:blip r:embed="rId3"/>
          <a:stretch>
            <a:fillRect/>
          </a:stretch>
        </p:blipFill>
        <p:spPr>
          <a:xfrm>
            <a:off x="659282" y="1756562"/>
            <a:ext cx="281635" cy="281635"/>
          </a:xfrm>
          <a:prstGeom prst="rect">
            <a:avLst/>
          </a:prstGeom>
        </p:spPr>
      </p:pic>
      <p:sp>
        <p:nvSpPr>
          <p:cNvPr id="6" name="p3b-ctrl-title"/>
          <p:cNvSpPr txBox="1"/>
          <p:nvPr/>
        </p:nvSpPr>
        <p:spPr>
          <a:xfrm>
            <a:off x="118872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3. Điều khiển và phân quyền</a:t>
            </a:r>
            <a:endParaRPr lang="en-US" sz="2000" dirty="0"/>
          </a:p>
        </p:txBody>
      </p:sp>
      <p:sp>
        <p:nvSpPr>
          <p:cNvPr id="7" name="p3b-ctrl-body"/>
          <p:cNvSpPr txBox="1"/>
          <p:nvPr/>
        </p:nvSpPr>
        <p:spPr>
          <a:xfrm>
            <a:off x="548640" y="2286000"/>
            <a:ext cx="5486400"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AUTO: hệ thống tự làm theo luật. MANUAL: người dùng bấm tay, có hạn 1–60 phút</a:t>
            </a:r>
            <a:endParaRPr lang="en-US" sz="1500" dirty="0"/>
          </a:p>
          <a:p>
            <a:pPr marL="342900" indent="-342900">
              <a:spcAft>
                <a:spcPts val="600"/>
              </a:spcAft>
              <a:buSzPct val="100000"/>
              <a:buChar char="•"/>
            </a:pPr>
            <a:r>
              <a:rPr lang="en-US" sz="1500" dirty="0">
                <a:solidFill>
                  <a:schemeClr val="tx1"/>
                </a:solidFill>
              </a:rPr>
              <a:t>Đang AUTO hoặc thiết bị mất kết nối: khóa hết nút bấm</a:t>
            </a:r>
            <a:endParaRPr lang="en-US" sz="1500" dirty="0"/>
          </a:p>
          <a:p>
            <a:pPr marL="342900" indent="-342900">
              <a:spcAft>
                <a:spcPts val="600"/>
              </a:spcAft>
              <a:buSzPct val="100000"/>
              <a:buChar char="•"/>
            </a:pPr>
            <a:r>
              <a:rPr lang="en-US" sz="1500" dirty="0">
                <a:solidFill>
                  <a:schemeClr val="tx1"/>
                </a:solidFill>
              </a:rPr>
              <a:t>Cạn nước, bơm đang nghỉ hoặc cảm biến hỏng: khóa riêng nút bật phun</a:t>
            </a:r>
            <a:endParaRPr lang="en-US" sz="1500" dirty="0"/>
          </a:p>
          <a:p>
            <a:pPr marL="342900" indent="-342900">
              <a:spcAft>
                <a:spcPts val="600"/>
              </a:spcAft>
              <a:buSzPct val="100000"/>
              <a:buChar char="•"/>
            </a:pPr>
            <a:r>
              <a:rPr lang="en-US" sz="1500" dirty="0">
                <a:solidFill>
                  <a:schemeClr val="tx1"/>
                </a:solidFill>
              </a:rPr>
              <a:t>Bấm xong phải chờ ESP32 xác nhận mới bấm tiếp được</a:t>
            </a:r>
            <a:endParaRPr lang="en-US" sz="1500" dirty="0"/>
          </a:p>
        </p:txBody>
      </p:sp>
      <p:sp>
        <p:nvSpPr>
          <p:cNvPr id="8" name="p3b-roles-label"/>
          <p:cNvSpPr txBox="1"/>
          <p:nvPr/>
        </p:nvSpPr>
        <p:spPr>
          <a:xfrm>
            <a:off x="548640" y="4526280"/>
            <a:ext cx="3657600" cy="274320"/>
          </a:xfrm>
          <a:prstGeom prst="rect">
            <a:avLst/>
          </a:prstGeom>
          <a:noFill/>
          <a:ln/>
        </p:spPr>
        <p:txBody>
          <a:bodyPr wrap="square" lIns="0" tIns="0" rIns="0" bIns="0" rtlCol="0" anchor="t"/>
          <a:lstStyle/>
          <a:p>
            <a:pPr marL="0" indent="0">
              <a:buNone/>
            </a:pPr>
            <a:r>
              <a:rPr lang="en-US" sz="1300" b="1" dirty="0">
                <a:solidFill>
                  <a:schemeClr val="accent5"/>
                </a:solidFill>
              </a:rPr>
              <a:t>Phân quyền tài khoản</a:t>
            </a:r>
            <a:endParaRPr lang="en-US" sz="1300" dirty="0"/>
          </a:p>
        </p:txBody>
      </p:sp>
      <p:sp>
        <p:nvSpPr>
          <p:cNvPr id="9" name="p3b-role-admin"/>
          <p:cNvSpPr/>
          <p:nvPr/>
        </p:nvSpPr>
        <p:spPr>
          <a:xfrm>
            <a:off x="548640" y="4892040"/>
            <a:ext cx="1691640" cy="777240"/>
          </a:xfrm>
          <a:prstGeom prst="roundRect">
            <a:avLst>
              <a:gd name="adj" fmla="val 14118"/>
            </a:avLst>
          </a:prstGeom>
          <a:solidFill>
            <a:schemeClr val="bg2"/>
          </a:solidFill>
          <a:ln w="12700">
            <a:solidFill>
              <a:schemeClr val="bg2"/>
            </a:solidFill>
            <a:prstDash val="solid"/>
          </a:ln>
        </p:spPr>
      </p:sp>
      <p:sp>
        <p:nvSpPr>
          <p:cNvPr id="10" name="p3b-role-admin-text"/>
          <p:cNvSpPr txBox="1"/>
          <p:nvPr/>
        </p:nvSpPr>
        <p:spPr>
          <a:xfrm>
            <a:off x="6858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admin</a:t>
            </a:r>
            <a:endParaRPr lang="en-US" sz="1400" dirty="0"/>
          </a:p>
          <a:p>
            <a:pPr marL="0" indent="0">
              <a:buNone/>
            </a:pPr>
            <a:r>
              <a:rPr lang="en-US" sz="1200" dirty="0">
                <a:solidFill>
                  <a:schemeClr val="tx1"/>
                </a:solidFill>
              </a:rPr>
              <a:t>toàn quyền, sửa cấu hình</a:t>
            </a:r>
            <a:endParaRPr lang="en-US" sz="1400" dirty="0"/>
          </a:p>
        </p:txBody>
      </p:sp>
      <p:sp>
        <p:nvSpPr>
          <p:cNvPr id="11" name="p3b-role-operator"/>
          <p:cNvSpPr/>
          <p:nvPr/>
        </p:nvSpPr>
        <p:spPr>
          <a:xfrm>
            <a:off x="2377440" y="4892040"/>
            <a:ext cx="1691640" cy="777240"/>
          </a:xfrm>
          <a:prstGeom prst="roundRect">
            <a:avLst>
              <a:gd name="adj" fmla="val 14118"/>
            </a:avLst>
          </a:prstGeom>
          <a:solidFill>
            <a:schemeClr val="bg2"/>
          </a:solidFill>
          <a:ln w="12700">
            <a:solidFill>
              <a:schemeClr val="bg2"/>
            </a:solidFill>
            <a:prstDash val="solid"/>
          </a:ln>
        </p:spPr>
      </p:sp>
      <p:sp>
        <p:nvSpPr>
          <p:cNvPr id="12" name="p3b-role-operator-text"/>
          <p:cNvSpPr txBox="1"/>
          <p:nvPr/>
        </p:nvSpPr>
        <p:spPr>
          <a:xfrm>
            <a:off x="25146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operator</a:t>
            </a:r>
            <a:endParaRPr lang="en-US" sz="1400" dirty="0"/>
          </a:p>
          <a:p>
            <a:pPr marL="0" indent="0">
              <a:buNone/>
            </a:pPr>
            <a:r>
              <a:rPr lang="en-US" sz="1200" dirty="0">
                <a:solidFill>
                  <a:schemeClr val="tx1"/>
                </a:solidFill>
              </a:rPr>
              <a:t>được bấm điều khiển</a:t>
            </a:r>
            <a:endParaRPr lang="en-US" sz="1400" dirty="0"/>
          </a:p>
        </p:txBody>
      </p:sp>
      <p:sp>
        <p:nvSpPr>
          <p:cNvPr id="13" name="p3b-role-viewer"/>
          <p:cNvSpPr/>
          <p:nvPr/>
        </p:nvSpPr>
        <p:spPr>
          <a:xfrm>
            <a:off x="4206240" y="4892040"/>
            <a:ext cx="1691640" cy="777240"/>
          </a:xfrm>
          <a:prstGeom prst="roundRect">
            <a:avLst>
              <a:gd name="adj" fmla="val 14118"/>
            </a:avLst>
          </a:prstGeom>
          <a:solidFill>
            <a:schemeClr val="bg2"/>
          </a:solidFill>
          <a:ln w="12700">
            <a:solidFill>
              <a:schemeClr val="bg2"/>
            </a:solidFill>
            <a:prstDash val="solid"/>
          </a:ln>
        </p:spPr>
      </p:sp>
      <p:sp>
        <p:nvSpPr>
          <p:cNvPr id="14" name="p3b-role-viewer-text"/>
          <p:cNvSpPr txBox="1"/>
          <p:nvPr/>
        </p:nvSpPr>
        <p:spPr>
          <a:xfrm>
            <a:off x="4343400" y="4983480"/>
            <a:ext cx="1463040" cy="640080"/>
          </a:xfrm>
          <a:prstGeom prst="rect">
            <a:avLst/>
          </a:prstGeom>
          <a:noFill/>
          <a:ln/>
        </p:spPr>
        <p:txBody>
          <a:bodyPr wrap="square" lIns="0" tIns="0" rIns="0" bIns="0" rtlCol="0" anchor="t"/>
          <a:lstStyle/>
          <a:p>
            <a:pPr marL="0" indent="0">
              <a:buNone/>
            </a:pPr>
            <a:r>
              <a:rPr lang="en-US" sz="1500" b="1" dirty="0">
                <a:solidFill>
                  <a:schemeClr val="accent2"/>
                </a:solidFill>
              </a:rPr>
              <a:t>viewer</a:t>
            </a:r>
            <a:endParaRPr lang="en-US" sz="1400" dirty="0"/>
          </a:p>
          <a:p>
            <a:pPr marL="0" indent="0">
              <a:buNone/>
            </a:pPr>
            <a:r>
              <a:rPr lang="en-US" sz="1200" dirty="0">
                <a:solidFill>
                  <a:schemeClr val="tx1"/>
                </a:solidFill>
              </a:rPr>
              <a:t>chỉ được xem</a:t>
            </a:r>
            <a:endParaRPr lang="en-US" sz="1400" dirty="0"/>
          </a:p>
        </p:txBody>
      </p:sp>
      <p:sp>
        <p:nvSpPr>
          <p:cNvPr id="15" name="p3b-rule-circle"/>
          <p:cNvSpPr/>
          <p:nvPr/>
        </p:nvSpPr>
        <p:spPr>
          <a:xfrm>
            <a:off x="6400800" y="1645920"/>
            <a:ext cx="502920" cy="502920"/>
          </a:xfrm>
          <a:prstGeom prst="ellipse">
            <a:avLst/>
          </a:prstGeom>
          <a:solidFill>
            <a:schemeClr val="accent1"/>
          </a:solidFill>
          <a:ln w="12700">
            <a:solidFill>
              <a:schemeClr val="accent1"/>
            </a:solidFill>
            <a:prstDash val="solid"/>
          </a:ln>
        </p:spPr>
      </p:sp>
      <p:pic>
        <p:nvPicPr>
          <p:cNvPr id="16" name="p3b-rule-icon" descr="preencoded.png"/>
          <p:cNvPicPr>
            <a:picLocks noChangeAspect="1"/>
          </p:cNvPicPr>
          <p:nvPr/>
        </p:nvPicPr>
        <p:blipFill>
          <a:blip r:embed="rId4"/>
          <a:stretch>
            <a:fillRect/>
          </a:stretch>
        </p:blipFill>
        <p:spPr>
          <a:xfrm>
            <a:off x="6511442" y="1756562"/>
            <a:ext cx="281635" cy="281635"/>
          </a:xfrm>
          <a:prstGeom prst="rect">
            <a:avLst/>
          </a:prstGeom>
        </p:spPr>
      </p:pic>
      <p:sp>
        <p:nvSpPr>
          <p:cNvPr id="17" name="p3b-rule-title"/>
          <p:cNvSpPr txBox="1"/>
          <p:nvPr/>
        </p:nvSpPr>
        <p:spPr>
          <a:xfrm>
            <a:off x="7040880" y="1691640"/>
            <a:ext cx="457200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4. Luật tự động</a:t>
            </a:r>
            <a:endParaRPr lang="en-US" sz="2000" dirty="0"/>
          </a:p>
        </p:txBody>
      </p:sp>
      <p:sp>
        <p:nvSpPr>
          <p:cNvPr id="18" name="p3b-rule1"/>
          <p:cNvSpPr/>
          <p:nvPr/>
        </p:nvSpPr>
        <p:spPr>
          <a:xfrm>
            <a:off x="6400800" y="2331720"/>
            <a:ext cx="5212080" cy="1188720"/>
          </a:xfrm>
          <a:prstGeom prst="roundRect">
            <a:avLst>
              <a:gd name="adj" fmla="val 9231"/>
            </a:avLst>
          </a:prstGeom>
          <a:solidFill>
            <a:schemeClr val="bg2"/>
          </a:solidFill>
          <a:ln w="12700">
            <a:solidFill>
              <a:schemeClr val="bg2"/>
            </a:solidFill>
            <a:prstDash val="solid"/>
          </a:ln>
        </p:spPr>
      </p:sp>
      <p:sp>
        <p:nvSpPr>
          <p:cNvPr id="19" name="p3b-rule1-circle"/>
          <p:cNvSpPr/>
          <p:nvPr/>
        </p:nvSpPr>
        <p:spPr>
          <a:xfrm>
            <a:off x="6583680" y="2606040"/>
            <a:ext cx="548640" cy="548640"/>
          </a:xfrm>
          <a:prstGeom prst="ellipse">
            <a:avLst/>
          </a:prstGeom>
          <a:solidFill>
            <a:schemeClr val="accent3"/>
          </a:solidFill>
          <a:ln w="12700">
            <a:solidFill>
              <a:schemeClr val="accent3"/>
            </a:solidFill>
            <a:prstDash val="solid"/>
          </a:ln>
        </p:spPr>
      </p:sp>
      <p:pic>
        <p:nvPicPr>
          <p:cNvPr id="20" name="p3b-rule1-icon" descr="preencoded.png"/>
          <p:cNvPicPr>
            <a:picLocks noChangeAspect="1"/>
          </p:cNvPicPr>
          <p:nvPr/>
        </p:nvPicPr>
        <p:blipFill>
          <a:blip r:embed="rId5"/>
          <a:stretch>
            <a:fillRect/>
          </a:stretch>
        </p:blipFill>
        <p:spPr>
          <a:xfrm>
            <a:off x="6704381" y="2726741"/>
            <a:ext cx="307238" cy="307238"/>
          </a:xfrm>
          <a:prstGeom prst="rect">
            <a:avLst/>
          </a:prstGeom>
        </p:spPr>
      </p:pic>
      <p:sp>
        <p:nvSpPr>
          <p:cNvPr id="21" name="p3b-rule1-text"/>
          <p:cNvSpPr txBox="1"/>
          <p:nvPr/>
        </p:nvSpPr>
        <p:spPr>
          <a:xfrm>
            <a:off x="7315200" y="245059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Luật 1 – Đèn bù sáng</a:t>
            </a:r>
            <a:endParaRPr lang="en-US" sz="1400" dirty="0"/>
          </a:p>
          <a:p>
            <a:pPr marL="0" indent="0">
              <a:buNone/>
            </a:pPr>
            <a:r>
              <a:rPr lang="en-US" sz="1300" dirty="0">
                <a:solidFill>
                  <a:schemeClr val="tx1"/>
                </a:solidFill>
              </a:rPr>
              <a:t>Chỉ bật từ 06:00 đến 21:00 khi trời tối, tắt khi đủ sáng. Ban đêm không bật để lan nghỉ; tối đa 4 giờ/ngày</a:t>
            </a:r>
            <a:endParaRPr lang="en-US" sz="1400" dirty="0"/>
          </a:p>
        </p:txBody>
      </p:sp>
      <p:sp>
        <p:nvSpPr>
          <p:cNvPr id="22" name="p3b-rule2"/>
          <p:cNvSpPr/>
          <p:nvPr/>
        </p:nvSpPr>
        <p:spPr>
          <a:xfrm>
            <a:off x="6400800" y="3657600"/>
            <a:ext cx="5212080" cy="1188720"/>
          </a:xfrm>
          <a:prstGeom prst="roundRect">
            <a:avLst>
              <a:gd name="adj" fmla="val 9231"/>
            </a:avLst>
          </a:prstGeom>
          <a:solidFill>
            <a:schemeClr val="bg2"/>
          </a:solidFill>
          <a:ln w="12700">
            <a:solidFill>
              <a:schemeClr val="bg2"/>
            </a:solidFill>
            <a:prstDash val="solid"/>
          </a:ln>
        </p:spPr>
      </p:sp>
      <p:sp>
        <p:nvSpPr>
          <p:cNvPr id="23" name="p3b-rule2-circle"/>
          <p:cNvSpPr/>
          <p:nvPr/>
        </p:nvSpPr>
        <p:spPr>
          <a:xfrm>
            <a:off x="6583680" y="3931920"/>
            <a:ext cx="548640" cy="548640"/>
          </a:xfrm>
          <a:prstGeom prst="ellipse">
            <a:avLst/>
          </a:prstGeom>
          <a:solidFill>
            <a:schemeClr val="accent1"/>
          </a:solidFill>
          <a:ln w="12700">
            <a:solidFill>
              <a:schemeClr val="accent1"/>
            </a:solidFill>
            <a:prstDash val="solid"/>
          </a:ln>
        </p:spPr>
      </p:sp>
      <p:pic>
        <p:nvPicPr>
          <p:cNvPr id="24" name="p3b-rule2-icon" descr="preencoded.png"/>
          <p:cNvPicPr>
            <a:picLocks noChangeAspect="1"/>
          </p:cNvPicPr>
          <p:nvPr/>
        </p:nvPicPr>
        <p:blipFill>
          <a:blip r:embed="rId6"/>
          <a:stretch>
            <a:fillRect/>
          </a:stretch>
        </p:blipFill>
        <p:spPr>
          <a:xfrm>
            <a:off x="6704381" y="4052621"/>
            <a:ext cx="307238" cy="307238"/>
          </a:xfrm>
          <a:prstGeom prst="rect">
            <a:avLst/>
          </a:prstGeom>
        </p:spPr>
      </p:pic>
      <p:sp>
        <p:nvSpPr>
          <p:cNvPr id="25" name="p3b-rule2-text"/>
          <p:cNvSpPr txBox="1"/>
          <p:nvPr/>
        </p:nvSpPr>
        <p:spPr>
          <a:xfrm>
            <a:off x="7315200" y="377647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Luật 2 – Quạt sau khi phun</a:t>
            </a:r>
            <a:endParaRPr lang="en-US" sz="1400" dirty="0"/>
          </a:p>
          <a:p>
            <a:pPr marL="0" indent="0">
              <a:buNone/>
            </a:pPr>
            <a:r>
              <a:rPr lang="en-US" sz="1300" dirty="0">
                <a:solidFill>
                  <a:schemeClr val="tx1"/>
                </a:solidFill>
              </a:rPr>
              <a:t>Phun xong, quạt chạy 60 giây cho lá khô, tránh thối nõn và nấm</a:t>
            </a:r>
            <a:endParaRPr lang="en-US" sz="1400" dirty="0"/>
          </a:p>
        </p:txBody>
      </p:sp>
      <p:sp>
        <p:nvSpPr>
          <p:cNvPr id="26" name="p3b-rule3"/>
          <p:cNvSpPr/>
          <p:nvPr/>
        </p:nvSpPr>
        <p:spPr>
          <a:xfrm>
            <a:off x="6400800" y="4983480"/>
            <a:ext cx="5212080" cy="1188720"/>
          </a:xfrm>
          <a:prstGeom prst="roundRect">
            <a:avLst>
              <a:gd name="adj" fmla="val 9231"/>
            </a:avLst>
          </a:prstGeom>
          <a:solidFill>
            <a:schemeClr val="bg2"/>
          </a:solidFill>
          <a:ln w="12700">
            <a:solidFill>
              <a:schemeClr val="bg2"/>
            </a:solidFill>
            <a:prstDash val="solid"/>
          </a:ln>
        </p:spPr>
      </p:sp>
      <p:sp>
        <p:nvSpPr>
          <p:cNvPr id="27" name="p3b-rule3-circle"/>
          <p:cNvSpPr/>
          <p:nvPr/>
        </p:nvSpPr>
        <p:spPr>
          <a:xfrm>
            <a:off x="6583680" y="5257800"/>
            <a:ext cx="548640" cy="548640"/>
          </a:xfrm>
          <a:prstGeom prst="ellipse">
            <a:avLst/>
          </a:prstGeom>
          <a:solidFill>
            <a:schemeClr val="accent2"/>
          </a:solidFill>
          <a:ln w="12700">
            <a:solidFill>
              <a:schemeClr val="accent2"/>
            </a:solidFill>
            <a:prstDash val="solid"/>
          </a:ln>
        </p:spPr>
      </p:sp>
      <p:pic>
        <p:nvPicPr>
          <p:cNvPr id="28" name="p3b-rule3-icon" descr="preencoded.png"/>
          <p:cNvPicPr>
            <a:picLocks noChangeAspect="1"/>
          </p:cNvPicPr>
          <p:nvPr/>
        </p:nvPicPr>
        <p:blipFill>
          <a:blip r:embed="rId7"/>
          <a:stretch>
            <a:fillRect/>
          </a:stretch>
        </p:blipFill>
        <p:spPr>
          <a:xfrm>
            <a:off x="6704381" y="5378501"/>
            <a:ext cx="307238" cy="307238"/>
          </a:xfrm>
          <a:prstGeom prst="rect">
            <a:avLst/>
          </a:prstGeom>
        </p:spPr>
      </p:pic>
      <p:sp>
        <p:nvSpPr>
          <p:cNvPr id="29" name="p3b-rule3-text"/>
          <p:cNvSpPr txBox="1"/>
          <p:nvPr/>
        </p:nvSpPr>
        <p:spPr>
          <a:xfrm>
            <a:off x="7315200" y="5102352"/>
            <a:ext cx="4160520" cy="1005840"/>
          </a:xfrm>
          <a:prstGeom prst="rect">
            <a:avLst/>
          </a:prstGeom>
          <a:noFill/>
          <a:ln/>
        </p:spPr>
        <p:txBody>
          <a:bodyPr wrap="square" lIns="0" tIns="0" rIns="0" bIns="0" rtlCol="0" anchor="t"/>
          <a:lstStyle/>
          <a:p>
            <a:pPr marL="0" indent="0">
              <a:buNone/>
            </a:pPr>
            <a:r>
              <a:rPr lang="en-US" sz="1500" b="1" dirty="0">
                <a:solidFill>
                  <a:schemeClr val="tx2"/>
                </a:solidFill>
              </a:rPr>
              <a:t>Cảnh báo qua Telegram</a:t>
            </a:r>
            <a:endParaRPr lang="en-US" sz="1400" dirty="0"/>
          </a:p>
          <a:p>
            <a:pPr marL="0" indent="0">
              <a:buNone/>
            </a:pPr>
            <a:r>
              <a:rPr lang="en-US" sz="1300" dirty="0">
                <a:solidFill>
                  <a:schemeClr val="tx1"/>
                </a:solidFill>
              </a:rPr>
              <a:t>Nhắn vào nhóm chat khi bình cạn nước hoặc thiết bị mất kết nối quá 5 phút</a:t>
            </a:r>
            <a:endParaRPr lang="en-US" sz="1400" dirty="0"/>
          </a:p>
        </p:txBody>
      </p:sp>
      <p:sp>
        <p:nvSpPr>
          <p:cNvPr id="30"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457200"/>
            <a:ext cx="10698480" cy="731520"/>
          </a:xfrm>
          <a:prstGeom prst="rect">
            <a:avLst/>
          </a:prstGeom>
          <a:noFill/>
          <a:ln/>
        </p:spPr>
        <p:txBody>
          <a:bodyPr wrap="square" lIns="0" tIns="0" rIns="0" bIns="0" rtlCol="0" anchor="ctr"/>
          <a:lstStyle/>
          <a:p>
            <a:pPr marL="0" indent="0" algn="l">
              <a:buNone/>
            </a:pPr>
            <a:r>
              <a:rPr lang="en-US" sz="3600" b="1" dirty="0">
                <a:solidFill>
                  <a:schemeClr val="bg1"/>
                </a:solidFill>
                <a:latin typeface="Cambria" pitchFamily="34" charset="0"/>
                <a:ea typeface="Cambria" pitchFamily="34" charset="-122"/>
                <a:cs typeface="Cambria" pitchFamily="34" charset="-120"/>
              </a:rPr>
              <a:t>Kết luận</a:t>
            </a:r>
            <a:endParaRPr lang="en-US" sz="3600" dirty="0"/>
          </a:p>
        </p:txBody>
      </p:sp>
      <p:sp>
        <p:nvSpPr>
          <p:cNvPr id="3" name="Text 0"/>
          <p:cNvSpPr>
            <a:spLocks noGrp="1"/>
          </p:cNvSpPr>
          <p:nvPr>
            <p:ph type="body" idx="101" hasCustomPrompt="1"/>
          </p:nvPr>
        </p:nvSpPr>
        <p:spPr>
          <a:xfrm>
            <a:off x="731520" y="1234440"/>
            <a:ext cx="10698480" cy="457200"/>
          </a:xfrm>
          <a:prstGeom prst="rect">
            <a:avLst/>
          </a:prstGeom>
          <a:noFill/>
          <a:ln/>
        </p:spPr>
        <p:txBody>
          <a:bodyPr wrap="square" lIns="0" tIns="0" rIns="0" bIns="0" rtlCol="0" anchor="t"/>
          <a:lstStyle/>
          <a:p>
            <a:pPr marL="0" indent="0">
              <a:buNone/>
            </a:pPr>
            <a:r>
              <a:rPr lang="en-US" sz="1800" i="1" dirty="0">
                <a:solidFill>
                  <a:srgbClr val="CFE3D6"/>
                </a:solidFill>
              </a:rPr>
              <a:t>Dữ liệu đi lên và lệnh đi xuống đều chạy ổn định, kiểm chứng trên mô phỏng Wokwi với broker và dashboard thật</a:t>
            </a:r>
            <a:endParaRPr lang="en-US" sz="1800" dirty="0"/>
          </a:p>
        </p:txBody>
      </p:sp>
      <p:sp>
        <p:nvSpPr>
          <p:cNvPr id="12" name="close-next-title"/>
          <p:cNvSpPr txBox="1"/>
          <p:nvPr/>
        </p:nvSpPr>
        <p:spPr>
          <a:xfrm>
            <a:off x="731520" y="1965960"/>
            <a:ext cx="5486400" cy="411480"/>
          </a:xfrm>
          <a:prstGeom prst="rect">
            <a:avLst/>
          </a:prstGeom>
          <a:noFill/>
          <a:ln/>
        </p:spPr>
        <p:txBody>
          <a:bodyPr wrap="square" lIns="0" tIns="0" rIns="0" bIns="0" rtlCol="0" anchor="t"/>
          <a:lstStyle/>
          <a:p>
            <a:pPr marL="0" indent="0">
              <a:buNone/>
            </a:pPr>
            <a:r>
              <a:rPr lang="en-US" sz="2000" b="1" dirty="0">
                <a:solidFill>
                  <a:schemeClr val="bg1"/>
                </a:solidFill>
                <a:latin typeface="Cambria" pitchFamily="34" charset="0"/>
                <a:ea typeface="Cambria" pitchFamily="34" charset="-122"/>
                <a:cs typeface="Cambria" pitchFamily="34" charset="-120"/>
              </a:rPr>
              <a:t>Hướng phát triển</a:t>
            </a:r>
            <a:endParaRPr lang="en-US" sz="2000" dirty="0"/>
          </a:p>
        </p:txBody>
      </p:sp>
      <p:sp>
        <p:nvSpPr>
          <p:cNvPr id="13" name="close-next1-circle"/>
          <p:cNvSpPr/>
          <p:nvPr/>
        </p:nvSpPr>
        <p:spPr>
          <a:xfrm>
            <a:off x="731520" y="2560320"/>
            <a:ext cx="548640" cy="548640"/>
          </a:xfrm>
          <a:prstGeom prst="ellipse">
            <a:avLst/>
          </a:prstGeom>
          <a:solidFill>
            <a:schemeClr val="accent1"/>
          </a:solidFill>
          <a:ln w="12700">
            <a:solidFill>
              <a:schemeClr val="accent1"/>
            </a:solidFill>
            <a:prstDash val="solid"/>
          </a:ln>
        </p:spPr>
      </p:sp>
      <p:pic>
        <p:nvPicPr>
          <p:cNvPr id="14" name="close-next1-icon" descr="preencoded.png"/>
          <p:cNvPicPr>
            <a:picLocks noChangeAspect="1"/>
          </p:cNvPicPr>
          <p:nvPr/>
        </p:nvPicPr>
        <p:blipFill>
          <a:blip r:embed="rId3"/>
          <a:stretch>
            <a:fillRect/>
          </a:stretch>
        </p:blipFill>
        <p:spPr>
          <a:xfrm>
            <a:off x="852221" y="2681021"/>
            <a:ext cx="307238" cy="307238"/>
          </a:xfrm>
          <a:prstGeom prst="rect">
            <a:avLst/>
          </a:prstGeom>
        </p:spPr>
      </p:pic>
      <p:sp>
        <p:nvSpPr>
          <p:cNvPr id="15" name="close-next1-text"/>
          <p:cNvSpPr txBox="1"/>
          <p:nvPr/>
        </p:nvSpPr>
        <p:spPr>
          <a:xfrm>
            <a:off x="14630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Chạy trên board ESP32-S3 thật thay cho mô phỏng</a:t>
            </a:r>
            <a:endParaRPr lang="en-US" sz="1400" dirty="0"/>
          </a:p>
        </p:txBody>
      </p:sp>
      <p:sp>
        <p:nvSpPr>
          <p:cNvPr id="16" name="close-next2-circle"/>
          <p:cNvSpPr/>
          <p:nvPr/>
        </p:nvSpPr>
        <p:spPr>
          <a:xfrm>
            <a:off x="4389120" y="2560320"/>
            <a:ext cx="548640" cy="548640"/>
          </a:xfrm>
          <a:prstGeom prst="ellipse">
            <a:avLst/>
          </a:prstGeom>
          <a:solidFill>
            <a:schemeClr val="accent1"/>
          </a:solidFill>
          <a:ln w="12700">
            <a:solidFill>
              <a:schemeClr val="accent1"/>
            </a:solidFill>
            <a:prstDash val="solid"/>
          </a:ln>
        </p:spPr>
      </p:sp>
      <p:pic>
        <p:nvPicPr>
          <p:cNvPr id="17" name="close-next2-icon" descr="preencoded.png"/>
          <p:cNvPicPr>
            <a:picLocks noChangeAspect="1"/>
          </p:cNvPicPr>
          <p:nvPr/>
        </p:nvPicPr>
        <p:blipFill>
          <a:blip r:embed="rId4"/>
          <a:stretch>
            <a:fillRect/>
          </a:stretch>
        </p:blipFill>
        <p:spPr>
          <a:xfrm>
            <a:off x="4509821" y="2681021"/>
            <a:ext cx="307238" cy="307238"/>
          </a:xfrm>
          <a:prstGeom prst="rect">
            <a:avLst/>
          </a:prstGeom>
        </p:spPr>
      </p:pic>
      <p:sp>
        <p:nvSpPr>
          <p:cNvPr id="18" name="close-next2-text"/>
          <p:cNvSpPr txBox="1"/>
          <p:nvPr/>
        </p:nvSpPr>
        <p:spPr>
          <a:xfrm>
            <a:off x="51206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Dùng broker riêng có mật khẩu và mã hóa</a:t>
            </a:r>
            <a:endParaRPr lang="en-US" sz="1400" dirty="0"/>
          </a:p>
        </p:txBody>
      </p:sp>
      <p:sp>
        <p:nvSpPr>
          <p:cNvPr id="19" name="close-next3-circle"/>
          <p:cNvSpPr/>
          <p:nvPr/>
        </p:nvSpPr>
        <p:spPr>
          <a:xfrm>
            <a:off x="8046720" y="2560320"/>
            <a:ext cx="548640" cy="548640"/>
          </a:xfrm>
          <a:prstGeom prst="ellipse">
            <a:avLst/>
          </a:prstGeom>
          <a:solidFill>
            <a:schemeClr val="accent1"/>
          </a:solidFill>
          <a:ln w="12700">
            <a:solidFill>
              <a:schemeClr val="accent1"/>
            </a:solidFill>
            <a:prstDash val="solid"/>
          </a:ln>
        </p:spPr>
      </p:sp>
      <p:pic>
        <p:nvPicPr>
          <p:cNvPr id="20" name="close-next3-icon" descr="preencoded.png"/>
          <p:cNvPicPr>
            <a:picLocks noChangeAspect="1"/>
          </p:cNvPicPr>
          <p:nvPr/>
        </p:nvPicPr>
        <p:blipFill>
          <a:blip r:embed="rId5"/>
          <a:stretch>
            <a:fillRect/>
          </a:stretch>
        </p:blipFill>
        <p:spPr>
          <a:xfrm>
            <a:off x="8167421" y="2681021"/>
            <a:ext cx="307238" cy="307238"/>
          </a:xfrm>
          <a:prstGeom prst="rect">
            <a:avLst/>
          </a:prstGeom>
        </p:spPr>
      </p:pic>
      <p:sp>
        <p:nvSpPr>
          <p:cNvPr id="21" name="close-next3-text"/>
          <p:cNvSpPr txBox="1"/>
          <p:nvPr/>
        </p:nvSpPr>
        <p:spPr>
          <a:xfrm>
            <a:off x="8778240" y="2560320"/>
            <a:ext cx="2743200" cy="594360"/>
          </a:xfrm>
          <a:prstGeom prst="rect">
            <a:avLst/>
          </a:prstGeom>
          <a:noFill/>
          <a:ln/>
        </p:spPr>
        <p:txBody>
          <a:bodyPr wrap="square" lIns="0" tIns="0" rIns="0" bIns="0" rtlCol="0" anchor="ctr"/>
          <a:lstStyle/>
          <a:p>
            <a:pPr marL="0" indent="0">
              <a:buNone/>
            </a:pPr>
            <a:r>
              <a:rPr lang="en-US" sz="1400" dirty="0">
                <a:solidFill>
                  <a:schemeClr val="bg1"/>
                </a:solidFill>
              </a:rPr>
              <a:t>Lưu dữ liệu lâu dài để xem xu hướng theo mùa</a:t>
            </a:r>
            <a:endParaRPr lang="en-US" sz="1400" dirty="0"/>
          </a:p>
        </p:txBody>
      </p:sp>
      <p:sp>
        <p:nvSpPr>
          <p:cNvPr id="22" name="close-thanks"/>
          <p:cNvSpPr txBox="1"/>
          <p:nvPr/>
        </p:nvSpPr>
        <p:spPr>
          <a:xfrm>
            <a:off x="731520" y="5806440"/>
            <a:ext cx="10698480" cy="457200"/>
          </a:xfrm>
          <a:prstGeom prst="rect">
            <a:avLst/>
          </a:prstGeom>
          <a:noFill/>
          <a:ln/>
        </p:spPr>
        <p:txBody>
          <a:bodyPr wrap="square" lIns="0" tIns="0" rIns="0" bIns="0" rtlCol="0" anchor="t"/>
          <a:lstStyle/>
          <a:p>
            <a:pPr marL="0" indent="0">
              <a:buNone/>
            </a:pPr>
            <a:r>
              <a:rPr lang="en-US" sz="2000" i="1" dirty="0">
                <a:solidFill>
                  <a:srgbClr val="CFE3D6"/>
                </a:solidFill>
              </a:rPr>
              <a:t>Cảm ơn thầy cô và các bạn đã lắng nghe!</a:t>
            </a:r>
            <a:endParaRPr lang="en-US" sz="2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CFE3D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a:xfrm>
            <a:off x="548640" y="320040"/>
            <a:ext cx="11064240" cy="685800"/>
          </a:xfrm>
        </p:spPr>
        <p:txBody>
          <a:bodyPr lIns="0" rIns="0" tIns="0" bIns="0"/>
          <a:lstStyle/>
          <a:p>
            <a:pPr algn="l"/>
            <a:r>
              <a:t>Phần 1: Danh sách thiết bị</a:t>
            </a:r>
          </a:p>
        </p:txBody>
      </p:sp>
      <p:sp>
        <p:nvSpPr>
          <p:cNvPr id="3" name="Text Placeholder 2"/>
          <p:cNvSpPr>
            <a:spLocks noGrp="1"/>
          </p:cNvSpPr>
          <p:nvPr>
            <p:ph type="body" idx="101"/>
          </p:nvPr>
        </p:nvSpPr>
        <p:spPr>
          <a:xfrm>
            <a:off x="548640" y="1005840"/>
            <a:ext cx="11064240" cy="411480"/>
          </a:xfrm>
        </p:spPr>
        <p:txBody>
          <a:bodyPr lIns="0" rIns="0" tIns="0" bIns="0"/>
          <a:lstStyle/>
          <a:p>
            <a:pPr/>
            <a:r>
              <a:t>Mỗi thiết bị một chiếc; trên Wokwi là linh kiện mô phỏng, cột cuối là chân nối khi lắp board thật</a:t>
            </a:r>
          </a:p>
        </p:txBody>
      </p:sp>
      <p:graphicFrame>
        <p:nvGraphicFramePr>
          <p:cNvPr id="4" name="devices-table"/>
          <p:cNvGraphicFramePr>
            <a:graphicFrameLocks noGrp="1"/>
          </p:cNvGraphicFramePr>
          <p:nvPr/>
        </p:nvGraphicFramePr>
        <p:xfrm>
          <a:off x="548640" y="1600200"/>
          <a:ext cx="11064240" cy="4206240"/>
        </p:xfrm>
        <a:graphic>
          <a:graphicData uri="http://schemas.openxmlformats.org/drawingml/2006/table">
            <a:tbl>
              <a:tblPr firstRow="1" bandRow="1">
                <a:tableStyleId>{5C22544A-7EE6-4342-B048-85BDC9FD1C3A}</a:tableStyleId>
              </a:tblPr>
              <a:tblGrid>
                <a:gridCol w="548640"/>
                <a:gridCol w="2743200"/>
                <a:gridCol w="4480560"/>
                <a:gridCol w="1645920"/>
                <a:gridCol w="1645920"/>
              </a:tblGrid>
              <a:tr h="420624">
                <a:tc>
                  <a:txBody>
                    <a:bodyPr wrap="square"/>
                    <a:lstStyle/>
                    <a:p>
                      <a:pPr algn="ctr"/>
                      <a:r>
                        <a:rPr sz="1400" b="1">
                          <a:solidFill>
                            <a:srgbClr val="FFFFFF"/>
                          </a:solidFill>
                        </a:rPr>
                        <a:t>STT</a:t>
                      </a:r>
                    </a:p>
                  </a:txBody>
                  <a:tcPr marL="91440" marR="91440" marT="27432" marB="27432" anchor="ctr">
                    <a:solidFill>
                      <a:srgbClr val="17402C"/>
                    </a:solidFill>
                  </a:tcPr>
                </a:tc>
                <a:tc>
                  <a:txBody>
                    <a:bodyPr wrap="square"/>
                    <a:lstStyle/>
                    <a:p>
                      <a:pPr algn="l"/>
                      <a:r>
                        <a:rPr sz="1400" b="1">
                          <a:solidFill>
                            <a:srgbClr val="FFFFFF"/>
                          </a:solidFill>
                        </a:rPr>
                        <a:t>Thiết bị</a:t>
                      </a:r>
                    </a:p>
                  </a:txBody>
                  <a:tcPr marL="91440" marR="91440" marT="27432" marB="27432" anchor="ctr">
                    <a:solidFill>
                      <a:srgbClr val="17402C"/>
                    </a:solidFill>
                  </a:tcPr>
                </a:tc>
                <a:tc>
                  <a:txBody>
                    <a:bodyPr wrap="square"/>
                    <a:lstStyle/>
                    <a:p>
                      <a:pPr algn="l"/>
                      <a:r>
                        <a:rPr sz="1400" b="1">
                          <a:solidFill>
                            <a:srgbClr val="FFFFFF"/>
                          </a:solidFill>
                        </a:rPr>
                        <a:t>Dùng để</a:t>
                      </a:r>
                    </a:p>
                  </a:txBody>
                  <a:tcPr marL="91440" marR="91440" marT="27432" marB="27432" anchor="ctr">
                    <a:solidFill>
                      <a:srgbClr val="17402C"/>
                    </a:solidFill>
                  </a:tcPr>
                </a:tc>
                <a:tc>
                  <a:txBody>
                    <a:bodyPr wrap="square"/>
                    <a:lstStyle/>
                    <a:p>
                      <a:pPr algn="ctr"/>
                      <a:r>
                        <a:rPr sz="1400" b="1">
                          <a:solidFill>
                            <a:srgbClr val="FFFFFF"/>
                          </a:solidFill>
                        </a:rPr>
                        <a:t>Chân trên Wokwi</a:t>
                      </a:r>
                    </a:p>
                  </a:txBody>
                  <a:tcPr marL="91440" marR="91440" marT="27432" marB="27432" anchor="ctr">
                    <a:solidFill>
                      <a:srgbClr val="17402C"/>
                    </a:solidFill>
                  </a:tcPr>
                </a:tc>
                <a:tc>
                  <a:txBody>
                    <a:bodyPr wrap="square"/>
                    <a:lstStyle/>
                    <a:p>
                      <a:pPr algn="ctr"/>
                      <a:r>
                        <a:rPr sz="1400" b="1">
                          <a:solidFill>
                            <a:srgbClr val="FFFFFF"/>
                          </a:solidFill>
                        </a:rPr>
                        <a:t>Chân board thật</a:t>
                      </a:r>
                    </a:p>
                  </a:txBody>
                  <a:tcPr marL="91440" marR="91440" marT="27432" marB="27432" anchor="ctr">
                    <a:solidFill>
                      <a:srgbClr val="17402C"/>
                    </a:solidFill>
                  </a:tcPr>
                </a:tc>
              </a:tr>
              <a:tr h="420624">
                <a:tc>
                  <a:txBody>
                    <a:bodyPr wrap="square"/>
                    <a:lstStyle/>
                    <a:p>
                      <a:pPr algn="ctr"/>
                      <a:r>
                        <a:rPr sz="1300" b="0">
                          <a:solidFill>
                            <a:srgbClr val="1C2B22"/>
                          </a:solidFill>
                        </a:rPr>
                        <a:t>1</a:t>
                      </a:r>
                    </a:p>
                  </a:txBody>
                  <a:tcPr marL="91440" marR="91440" marT="27432" marB="27432" anchor="ctr">
                    <a:solidFill>
                      <a:srgbClr val="EEF4EF"/>
                    </a:solidFill>
                  </a:tcPr>
                </a:tc>
                <a:tc>
                  <a:txBody>
                    <a:bodyPr wrap="square"/>
                    <a:lstStyle/>
                    <a:p>
                      <a:pPr algn="l"/>
                      <a:r>
                        <a:rPr sz="1300" b="1">
                          <a:solidFill>
                            <a:srgbClr val="1C2B22"/>
                          </a:solidFill>
                        </a:rPr>
                        <a:t>Vi điều khiển ESP32</a:t>
                      </a:r>
                    </a:p>
                  </a:txBody>
                  <a:tcPr marL="91440" marR="91440" marT="27432" marB="27432" anchor="ctr">
                    <a:solidFill>
                      <a:srgbClr val="EEF4EF"/>
                    </a:solidFill>
                  </a:tcPr>
                </a:tc>
                <a:tc>
                  <a:txBody>
                    <a:bodyPr wrap="square"/>
                    <a:lstStyle/>
                    <a:p>
                      <a:pPr algn="l"/>
                      <a:r>
                        <a:rPr sz="1300" b="0">
                          <a:solidFill>
                            <a:srgbClr val="1C2B22"/>
                          </a:solidFill>
                        </a:rPr>
                        <a:t>Bộ não: đọc cảm biến, bật/tắt relay, Wi-Fi + MQTT</a:t>
                      </a:r>
                    </a:p>
                  </a:txBody>
                  <a:tcPr marL="91440" marR="91440" marT="27432" marB="27432" anchor="ctr">
                    <a:solidFill>
                      <a:srgbClr val="EEF4EF"/>
                    </a:solidFill>
                  </a:tcPr>
                </a:tc>
                <a:tc>
                  <a:txBody>
                    <a:bodyPr wrap="square"/>
                    <a:lstStyle/>
                    <a:p>
                      <a:pPr algn="ctr"/>
                      <a:r>
                        <a:rPr sz="1300" b="0">
                          <a:solidFill>
                            <a:srgbClr val="2E7D4F"/>
                          </a:solidFill>
                        </a:rPr>
                        <a:t>ESP32 DevKit V1</a:t>
                      </a:r>
                    </a:p>
                  </a:txBody>
                  <a:tcPr marL="91440" marR="91440" marT="27432" marB="27432" anchor="ctr">
                    <a:solidFill>
                      <a:srgbClr val="EEF4EF"/>
                    </a:solidFill>
                  </a:tcPr>
                </a:tc>
                <a:tc>
                  <a:txBody>
                    <a:bodyPr wrap="square"/>
                    <a:lstStyle/>
                    <a:p>
                      <a:pPr algn="ctr"/>
                      <a:r>
                        <a:rPr sz="1300" b="0">
                          <a:solidFill>
                            <a:srgbClr val="B5367A"/>
                          </a:solidFill>
                        </a:rPr>
                        <a:t>ESP32-S3 DevKitC-1</a:t>
                      </a:r>
                    </a:p>
                  </a:txBody>
                  <a:tcPr marL="91440" marR="91440" marT="27432" marB="27432" anchor="ctr">
                    <a:solidFill>
                      <a:srgbClr val="EEF4EF"/>
                    </a:solidFill>
                  </a:tcPr>
                </a:tc>
              </a:tr>
              <a:tr h="420624">
                <a:tc>
                  <a:txBody>
                    <a:bodyPr wrap="square"/>
                    <a:lstStyle/>
                    <a:p>
                      <a:pPr algn="ctr"/>
                      <a:r>
                        <a:rPr sz="1300" b="0">
                          <a:solidFill>
                            <a:srgbClr val="1C2B22"/>
                          </a:solidFill>
                        </a:rPr>
                        <a:t>2</a:t>
                      </a:r>
                    </a:p>
                  </a:txBody>
                  <a:tcPr marL="91440" marR="91440" marT="27432" marB="27432" anchor="ctr">
                    <a:solidFill>
                      <a:srgbClr val="FFFFFF"/>
                    </a:solidFill>
                  </a:tcPr>
                </a:tc>
                <a:tc>
                  <a:txBody>
                    <a:bodyPr wrap="square"/>
                    <a:lstStyle/>
                    <a:p>
                      <a:pPr algn="l"/>
                      <a:r>
                        <a:rPr sz="1300" b="1">
                          <a:solidFill>
                            <a:srgbClr val="1C2B22"/>
                          </a:solidFill>
                        </a:rPr>
                        <a:t>Cảm biến DHT22</a:t>
                      </a:r>
                    </a:p>
                  </a:txBody>
                  <a:tcPr marL="91440" marR="91440" marT="27432" marB="27432" anchor="ctr">
                    <a:solidFill>
                      <a:srgbClr val="FFFFFF"/>
                    </a:solidFill>
                  </a:tcPr>
                </a:tc>
                <a:tc>
                  <a:txBody>
                    <a:bodyPr wrap="square"/>
                    <a:lstStyle/>
                    <a:p>
                      <a:pPr algn="l"/>
                      <a:r>
                        <a:rPr sz="1300" b="0">
                          <a:solidFill>
                            <a:srgbClr val="1C2B22"/>
                          </a:solidFill>
                        </a:rPr>
                        <a:t>Đo nhiệt độ và độ ẩm không khí</a:t>
                      </a:r>
                    </a:p>
                  </a:txBody>
                  <a:tcPr marL="91440" marR="91440" marT="27432" marB="27432" anchor="ctr">
                    <a:solidFill>
                      <a:srgbClr val="FFFFFF"/>
                    </a:solidFill>
                  </a:tcPr>
                </a:tc>
                <a:tc>
                  <a:txBody>
                    <a:bodyPr wrap="square"/>
                    <a:lstStyle/>
                    <a:p>
                      <a:pPr algn="ctr"/>
                      <a:r>
                        <a:rPr sz="1300" b="0">
                          <a:solidFill>
                            <a:srgbClr val="2E7D4F"/>
                          </a:solidFill>
                        </a:rPr>
                        <a:t>GPIO15</a:t>
                      </a:r>
                    </a:p>
                  </a:txBody>
                  <a:tcPr marL="91440" marR="91440" marT="27432" marB="27432" anchor="ctr">
                    <a:solidFill>
                      <a:srgbClr val="FFFFFF"/>
                    </a:solidFill>
                  </a:tcPr>
                </a:tc>
                <a:tc>
                  <a:txBody>
                    <a:bodyPr wrap="square"/>
                    <a:lstStyle/>
                    <a:p>
                      <a:pPr algn="ctr"/>
                      <a:r>
                        <a:rPr sz="1300" b="0">
                          <a:solidFill>
                            <a:srgbClr val="B5367A"/>
                          </a:solidFill>
                        </a:rPr>
                        <a:t>GPIO4</a:t>
                      </a:r>
                    </a:p>
                  </a:txBody>
                  <a:tcPr marL="91440" marR="91440" marT="27432" marB="27432" anchor="ctr">
                    <a:solidFill>
                      <a:srgbClr val="FFFFFF"/>
                    </a:solidFill>
                  </a:tcPr>
                </a:tc>
              </a:tr>
              <a:tr h="420624">
                <a:tc>
                  <a:txBody>
                    <a:bodyPr wrap="square"/>
                    <a:lstStyle/>
                    <a:p>
                      <a:pPr algn="ctr"/>
                      <a:r>
                        <a:rPr sz="1300" b="0">
                          <a:solidFill>
                            <a:srgbClr val="1C2B22"/>
                          </a:solidFill>
                        </a:rPr>
                        <a:t>3</a:t>
                      </a:r>
                    </a:p>
                  </a:txBody>
                  <a:tcPr marL="91440" marR="91440" marT="27432" marB="27432" anchor="ctr">
                    <a:solidFill>
                      <a:srgbClr val="EEF4EF"/>
                    </a:solidFill>
                  </a:tcPr>
                </a:tc>
                <a:tc>
                  <a:txBody>
                    <a:bodyPr wrap="square"/>
                    <a:lstStyle/>
                    <a:p>
                      <a:pPr algn="l"/>
                      <a:r>
                        <a:rPr sz="1300" b="1">
                          <a:solidFill>
                            <a:srgbClr val="1C2B22"/>
                          </a:solidFill>
                        </a:rPr>
                        <a:t>Quang trở LDR</a:t>
                      </a:r>
                    </a:p>
                  </a:txBody>
                  <a:tcPr marL="91440" marR="91440" marT="27432" marB="27432" anchor="ctr">
                    <a:solidFill>
                      <a:srgbClr val="EEF4EF"/>
                    </a:solidFill>
                  </a:tcPr>
                </a:tc>
                <a:tc>
                  <a:txBody>
                    <a:bodyPr wrap="square"/>
                    <a:lstStyle/>
                    <a:p>
                      <a:pPr algn="l"/>
                      <a:r>
                        <a:rPr sz="1300" b="0">
                          <a:solidFill>
                            <a:srgbClr val="1C2B22"/>
                          </a:solidFill>
                        </a:rPr>
                        <a:t>Biết trời sáng hay tối</a:t>
                      </a:r>
                    </a:p>
                  </a:txBody>
                  <a:tcPr marL="91440" marR="91440" marT="27432" marB="27432" anchor="ctr">
                    <a:solidFill>
                      <a:srgbClr val="EEF4EF"/>
                    </a:solidFill>
                  </a:tcPr>
                </a:tc>
                <a:tc>
                  <a:txBody>
                    <a:bodyPr wrap="square"/>
                    <a:lstStyle/>
                    <a:p>
                      <a:pPr algn="ctr"/>
                      <a:r>
                        <a:rPr sz="1300" b="0">
                          <a:solidFill>
                            <a:srgbClr val="2E7D4F"/>
                          </a:solidFill>
                        </a:rPr>
                        <a:t>GPIO34</a:t>
                      </a:r>
                    </a:p>
                  </a:txBody>
                  <a:tcPr marL="91440" marR="91440" marT="27432" marB="27432" anchor="ctr">
                    <a:solidFill>
                      <a:srgbClr val="EEF4EF"/>
                    </a:solidFill>
                  </a:tcPr>
                </a:tc>
                <a:tc>
                  <a:txBody>
                    <a:bodyPr wrap="square"/>
                    <a:lstStyle/>
                    <a:p>
                      <a:pPr algn="ctr"/>
                      <a:r>
                        <a:rPr sz="1300" b="0">
                          <a:solidFill>
                            <a:srgbClr val="B5367A"/>
                          </a:solidFill>
                        </a:rPr>
                        <a:t>GPIO1</a:t>
                      </a:r>
                    </a:p>
                  </a:txBody>
                  <a:tcPr marL="91440" marR="91440" marT="27432" marB="27432" anchor="ctr">
                    <a:solidFill>
                      <a:srgbClr val="EEF4EF"/>
                    </a:solidFill>
                  </a:tcPr>
                </a:tc>
              </a:tr>
              <a:tr h="420624">
                <a:tc>
                  <a:txBody>
                    <a:bodyPr wrap="square"/>
                    <a:lstStyle/>
                    <a:p>
                      <a:pPr algn="ctr"/>
                      <a:r>
                        <a:rPr sz="1300" b="0">
                          <a:solidFill>
                            <a:srgbClr val="1C2B22"/>
                          </a:solidFill>
                        </a:rPr>
                        <a:t>4</a:t>
                      </a:r>
                    </a:p>
                  </a:txBody>
                  <a:tcPr marL="91440" marR="91440" marT="27432" marB="27432" anchor="ctr">
                    <a:solidFill>
                      <a:srgbClr val="FFFFFF"/>
                    </a:solidFill>
                  </a:tcPr>
                </a:tc>
                <a:tc>
                  <a:txBody>
                    <a:bodyPr wrap="square"/>
                    <a:lstStyle/>
                    <a:p>
                      <a:pPr algn="l"/>
                      <a:r>
                        <a:rPr sz="1300" b="1">
                          <a:solidFill>
                            <a:srgbClr val="1C2B22"/>
                          </a:solidFill>
                        </a:rPr>
                        <a:t>Cảm biến mực nước</a:t>
                      </a:r>
                    </a:p>
                  </a:txBody>
                  <a:tcPr marL="91440" marR="91440" marT="27432" marB="27432" anchor="ctr">
                    <a:solidFill>
                      <a:srgbClr val="FFFFFF"/>
                    </a:solidFill>
                  </a:tcPr>
                </a:tc>
                <a:tc>
                  <a:txBody>
                    <a:bodyPr wrap="square"/>
                    <a:lstStyle/>
                    <a:p>
                      <a:pPr algn="l"/>
                      <a:r>
                        <a:rPr sz="1300" b="0">
                          <a:solidFill>
                            <a:srgbClr val="1C2B22"/>
                          </a:solidFill>
                        </a:rPr>
                        <a:t>Biết bình nước còn hay sắp cạn (Wokwi dùng biến trở)</a:t>
                      </a:r>
                    </a:p>
                  </a:txBody>
                  <a:tcPr marL="91440" marR="91440" marT="27432" marB="27432" anchor="ctr">
                    <a:solidFill>
                      <a:srgbClr val="FFFFFF"/>
                    </a:solidFill>
                  </a:tcPr>
                </a:tc>
                <a:tc>
                  <a:txBody>
                    <a:bodyPr wrap="square"/>
                    <a:lstStyle/>
                    <a:p>
                      <a:pPr algn="ctr"/>
                      <a:r>
                        <a:rPr sz="1300" b="0">
                          <a:solidFill>
                            <a:srgbClr val="2E7D4F"/>
                          </a:solidFill>
                        </a:rPr>
                        <a:t>GPIO35</a:t>
                      </a:r>
                    </a:p>
                  </a:txBody>
                  <a:tcPr marL="91440" marR="91440" marT="27432" marB="27432" anchor="ctr">
                    <a:solidFill>
                      <a:srgbClr val="FFFFFF"/>
                    </a:solidFill>
                  </a:tcPr>
                </a:tc>
                <a:tc>
                  <a:txBody>
                    <a:bodyPr wrap="square"/>
                    <a:lstStyle/>
                    <a:p>
                      <a:pPr algn="ctr"/>
                      <a:r>
                        <a:rPr sz="1300" b="0">
                          <a:solidFill>
                            <a:srgbClr val="B5367A"/>
                          </a:solidFill>
                        </a:rPr>
                        <a:t>GPIO2</a:t>
                      </a:r>
                    </a:p>
                  </a:txBody>
                  <a:tcPr marL="91440" marR="91440" marT="27432" marB="27432" anchor="ctr">
                    <a:solidFill>
                      <a:srgbClr val="FFFFFF"/>
                    </a:solidFill>
                  </a:tcPr>
                </a:tc>
              </a:tr>
              <a:tr h="420624">
                <a:tc>
                  <a:txBody>
                    <a:bodyPr wrap="square"/>
                    <a:lstStyle/>
                    <a:p>
                      <a:pPr algn="ctr"/>
                      <a:r>
                        <a:rPr sz="1300" b="0">
                          <a:solidFill>
                            <a:srgbClr val="1C2B22"/>
                          </a:solidFill>
                        </a:rPr>
                        <a:t>5</a:t>
                      </a:r>
                    </a:p>
                  </a:txBody>
                  <a:tcPr marL="91440" marR="91440" marT="27432" marB="27432" anchor="ctr">
                    <a:solidFill>
                      <a:srgbClr val="EEF4EF"/>
                    </a:solidFill>
                  </a:tcPr>
                </a:tc>
                <a:tc>
                  <a:txBody>
                    <a:bodyPr wrap="square"/>
                    <a:lstStyle/>
                    <a:p>
                      <a:pPr algn="l"/>
                      <a:r>
                        <a:rPr sz="1300" b="1">
                          <a:solidFill>
                            <a:srgbClr val="1C2B22"/>
                          </a:solidFill>
                        </a:rPr>
                        <a:t>Relay + bơm phun sương</a:t>
                      </a:r>
                    </a:p>
                  </a:txBody>
                  <a:tcPr marL="91440" marR="91440" marT="27432" marB="27432" anchor="ctr">
                    <a:solidFill>
                      <a:srgbClr val="EEF4EF"/>
                    </a:solidFill>
                  </a:tcPr>
                </a:tc>
                <a:tc>
                  <a:txBody>
                    <a:bodyPr wrap="square"/>
                    <a:lstStyle/>
                    <a:p>
                      <a:pPr algn="l"/>
                      <a:r>
                        <a:rPr sz="1300" b="0">
                          <a:solidFill>
                            <a:srgbClr val="1C2B22"/>
                          </a:solidFill>
                        </a:rPr>
                        <a:t>Phun sương tăng độ ẩm, làm mát</a:t>
                      </a:r>
                    </a:p>
                  </a:txBody>
                  <a:tcPr marL="91440" marR="91440" marT="27432" marB="27432" anchor="ctr">
                    <a:solidFill>
                      <a:srgbClr val="EEF4EF"/>
                    </a:solidFill>
                  </a:tcPr>
                </a:tc>
                <a:tc>
                  <a:txBody>
                    <a:bodyPr wrap="square"/>
                    <a:lstStyle/>
                    <a:p>
                      <a:pPr algn="ctr"/>
                      <a:r>
                        <a:rPr sz="1300" b="0">
                          <a:solidFill>
                            <a:srgbClr val="2E7D4F"/>
                          </a:solidFill>
                        </a:rPr>
                        <a:t>GPIO25</a:t>
                      </a:r>
                    </a:p>
                  </a:txBody>
                  <a:tcPr marL="91440" marR="91440" marT="27432" marB="27432" anchor="ctr">
                    <a:solidFill>
                      <a:srgbClr val="EEF4EF"/>
                    </a:solidFill>
                  </a:tcPr>
                </a:tc>
                <a:tc>
                  <a:txBody>
                    <a:bodyPr wrap="square"/>
                    <a:lstStyle/>
                    <a:p>
                      <a:pPr algn="ctr"/>
                      <a:r>
                        <a:rPr sz="1300" b="0">
                          <a:solidFill>
                            <a:srgbClr val="B5367A"/>
                          </a:solidFill>
                        </a:rPr>
                        <a:t>GPIO7</a:t>
                      </a:r>
                    </a:p>
                  </a:txBody>
                  <a:tcPr marL="91440" marR="91440" marT="27432" marB="27432" anchor="ctr">
                    <a:solidFill>
                      <a:srgbClr val="EEF4EF"/>
                    </a:solidFill>
                  </a:tcPr>
                </a:tc>
              </a:tr>
              <a:tr h="420624">
                <a:tc>
                  <a:txBody>
                    <a:bodyPr wrap="square"/>
                    <a:lstStyle/>
                    <a:p>
                      <a:pPr algn="ctr"/>
                      <a:r>
                        <a:rPr sz="1300" b="0">
                          <a:solidFill>
                            <a:srgbClr val="1C2B22"/>
                          </a:solidFill>
                        </a:rPr>
                        <a:t>6</a:t>
                      </a:r>
                    </a:p>
                  </a:txBody>
                  <a:tcPr marL="91440" marR="91440" marT="27432" marB="27432" anchor="ctr">
                    <a:solidFill>
                      <a:srgbClr val="FFFFFF"/>
                    </a:solidFill>
                  </a:tcPr>
                </a:tc>
                <a:tc>
                  <a:txBody>
                    <a:bodyPr wrap="square"/>
                    <a:lstStyle/>
                    <a:p>
                      <a:pPr algn="l"/>
                      <a:r>
                        <a:rPr sz="1300" b="1">
                          <a:solidFill>
                            <a:srgbClr val="1C2B22"/>
                          </a:solidFill>
                        </a:rPr>
                        <a:t>Relay + quạt</a:t>
                      </a:r>
                    </a:p>
                  </a:txBody>
                  <a:tcPr marL="91440" marR="91440" marT="27432" marB="27432" anchor="ctr">
                    <a:solidFill>
                      <a:srgbClr val="FFFFFF"/>
                    </a:solidFill>
                  </a:tcPr>
                </a:tc>
                <a:tc>
                  <a:txBody>
                    <a:bodyPr wrap="square"/>
                    <a:lstStyle/>
                    <a:p>
                      <a:pPr algn="l"/>
                      <a:r>
                        <a:rPr sz="1300" b="0">
                          <a:solidFill>
                            <a:srgbClr val="1C2B22"/>
                          </a:solidFill>
                        </a:rPr>
                        <a:t>Thông gió, làm khô lá</a:t>
                      </a:r>
                    </a:p>
                  </a:txBody>
                  <a:tcPr marL="91440" marR="91440" marT="27432" marB="27432" anchor="ctr">
                    <a:solidFill>
                      <a:srgbClr val="FFFFFF"/>
                    </a:solidFill>
                  </a:tcPr>
                </a:tc>
                <a:tc>
                  <a:txBody>
                    <a:bodyPr wrap="square"/>
                    <a:lstStyle/>
                    <a:p>
                      <a:pPr algn="ctr"/>
                      <a:r>
                        <a:rPr sz="1300" b="0">
                          <a:solidFill>
                            <a:srgbClr val="2E7D4F"/>
                          </a:solidFill>
                        </a:rPr>
                        <a:t>GPIO26</a:t>
                      </a:r>
                    </a:p>
                  </a:txBody>
                  <a:tcPr marL="91440" marR="91440" marT="27432" marB="27432" anchor="ctr">
                    <a:solidFill>
                      <a:srgbClr val="FFFFFF"/>
                    </a:solidFill>
                  </a:tcPr>
                </a:tc>
                <a:tc>
                  <a:txBody>
                    <a:bodyPr wrap="square"/>
                    <a:lstStyle/>
                    <a:p>
                      <a:pPr algn="ctr"/>
                      <a:r>
                        <a:rPr sz="1300" b="0">
                          <a:solidFill>
                            <a:srgbClr val="B5367A"/>
                          </a:solidFill>
                        </a:rPr>
                        <a:t>GPIO6</a:t>
                      </a:r>
                    </a:p>
                  </a:txBody>
                  <a:tcPr marL="91440" marR="91440" marT="27432" marB="27432" anchor="ctr">
                    <a:solidFill>
                      <a:srgbClr val="FFFFFF"/>
                    </a:solidFill>
                  </a:tcPr>
                </a:tc>
              </a:tr>
              <a:tr h="420624">
                <a:tc>
                  <a:txBody>
                    <a:bodyPr wrap="square"/>
                    <a:lstStyle/>
                    <a:p>
                      <a:pPr algn="ctr"/>
                      <a:r>
                        <a:rPr sz="1300" b="0">
                          <a:solidFill>
                            <a:srgbClr val="1C2B22"/>
                          </a:solidFill>
                        </a:rPr>
                        <a:t>7</a:t>
                      </a:r>
                    </a:p>
                  </a:txBody>
                  <a:tcPr marL="91440" marR="91440" marT="27432" marB="27432" anchor="ctr">
                    <a:solidFill>
                      <a:srgbClr val="EEF4EF"/>
                    </a:solidFill>
                  </a:tcPr>
                </a:tc>
                <a:tc>
                  <a:txBody>
                    <a:bodyPr wrap="square"/>
                    <a:lstStyle/>
                    <a:p>
                      <a:pPr algn="l"/>
                      <a:r>
                        <a:rPr sz="1300" b="1">
                          <a:solidFill>
                            <a:srgbClr val="1C2B22"/>
                          </a:solidFill>
                        </a:rPr>
                        <a:t>Relay + đèn LED trồng cây</a:t>
                      </a:r>
                    </a:p>
                  </a:txBody>
                  <a:tcPr marL="91440" marR="91440" marT="27432" marB="27432" anchor="ctr">
                    <a:solidFill>
                      <a:srgbClr val="EEF4EF"/>
                    </a:solidFill>
                  </a:tcPr>
                </a:tc>
                <a:tc>
                  <a:txBody>
                    <a:bodyPr wrap="square"/>
                    <a:lstStyle/>
                    <a:p>
                      <a:pPr algn="l"/>
                      <a:r>
                        <a:rPr sz="1300" b="0">
                          <a:solidFill>
                            <a:srgbClr val="1C2B22"/>
                          </a:solidFill>
                        </a:rPr>
                        <a:t>Bù sáng khi trời tối</a:t>
                      </a:r>
                    </a:p>
                  </a:txBody>
                  <a:tcPr marL="91440" marR="91440" marT="27432" marB="27432" anchor="ctr">
                    <a:solidFill>
                      <a:srgbClr val="EEF4EF"/>
                    </a:solidFill>
                  </a:tcPr>
                </a:tc>
                <a:tc>
                  <a:txBody>
                    <a:bodyPr wrap="square"/>
                    <a:lstStyle/>
                    <a:p>
                      <a:pPr algn="ctr"/>
                      <a:r>
                        <a:rPr sz="1300" b="0">
                          <a:solidFill>
                            <a:srgbClr val="2E7D4F"/>
                          </a:solidFill>
                        </a:rPr>
                        <a:t>GPIO27</a:t>
                      </a:r>
                    </a:p>
                  </a:txBody>
                  <a:tcPr marL="91440" marR="91440" marT="27432" marB="27432" anchor="ctr">
                    <a:solidFill>
                      <a:srgbClr val="EEF4EF"/>
                    </a:solidFill>
                  </a:tcPr>
                </a:tc>
                <a:tc>
                  <a:txBody>
                    <a:bodyPr wrap="square"/>
                    <a:lstStyle/>
                    <a:p>
                      <a:pPr algn="ctr"/>
                      <a:r>
                        <a:rPr sz="1300" b="0">
                          <a:solidFill>
                            <a:srgbClr val="B5367A"/>
                          </a:solidFill>
                        </a:rPr>
                        <a:t>GPIO5</a:t>
                      </a:r>
                    </a:p>
                  </a:txBody>
                  <a:tcPr marL="91440" marR="91440" marT="27432" marB="27432" anchor="ctr">
                    <a:solidFill>
                      <a:srgbClr val="EEF4EF"/>
                    </a:solidFill>
                  </a:tcPr>
                </a:tc>
              </a:tr>
              <a:tr h="420624">
                <a:tc>
                  <a:txBody>
                    <a:bodyPr wrap="square"/>
                    <a:lstStyle/>
                    <a:p>
                      <a:pPr algn="ctr"/>
                      <a:r>
                        <a:rPr sz="1300" b="0">
                          <a:solidFill>
                            <a:srgbClr val="1C2B22"/>
                          </a:solidFill>
                        </a:rPr>
                        <a:t>8</a:t>
                      </a:r>
                    </a:p>
                  </a:txBody>
                  <a:tcPr marL="91440" marR="91440" marT="27432" marB="27432" anchor="ctr">
                    <a:solidFill>
                      <a:srgbClr val="FFFFFF"/>
                    </a:solidFill>
                  </a:tcPr>
                </a:tc>
                <a:tc>
                  <a:txBody>
                    <a:bodyPr wrap="square"/>
                    <a:lstStyle/>
                    <a:p>
                      <a:pPr algn="l"/>
                      <a:r>
                        <a:rPr sz="1300" b="1">
                          <a:solidFill>
                            <a:srgbClr val="1C2B22"/>
                          </a:solidFill>
                        </a:rPr>
                        <a:t>Màn hình ST7789 240×240</a:t>
                      </a:r>
                    </a:p>
                  </a:txBody>
                  <a:tcPr marL="91440" marR="91440" marT="27432" marB="27432" anchor="ctr">
                    <a:solidFill>
                      <a:srgbClr val="FFFFFF"/>
                    </a:solidFill>
                  </a:tcPr>
                </a:tc>
                <a:tc>
                  <a:txBody>
                    <a:bodyPr wrap="square"/>
                    <a:lstStyle/>
                    <a:p>
                      <a:pPr algn="l"/>
                      <a:r>
                        <a:rPr sz="1300" b="0">
                          <a:solidFill>
                            <a:srgbClr val="1C2B22"/>
                          </a:solidFill>
                        </a:rPr>
                        <a:t>Hiện số đo tại chỗ (chỉ có ở board thật)</a:t>
                      </a:r>
                    </a:p>
                  </a:txBody>
                  <a:tcPr marL="91440" marR="91440" marT="27432" marB="27432" anchor="ctr">
                    <a:solidFill>
                      <a:srgbClr val="FFFFFF"/>
                    </a:solidFill>
                  </a:tcPr>
                </a:tc>
                <a:tc>
                  <a:txBody>
                    <a:bodyPr wrap="square"/>
                    <a:lstStyle/>
                    <a:p>
                      <a:pPr algn="ctr"/>
                      <a:r>
                        <a:rPr sz="1300" b="0">
                          <a:solidFill>
                            <a:srgbClr val="2E7D4F"/>
                          </a:solidFill>
                        </a:rPr>
                        <a:t>—</a:t>
                      </a:r>
                    </a:p>
                  </a:txBody>
                  <a:tcPr marL="91440" marR="91440" marT="27432" marB="27432" anchor="ctr">
                    <a:solidFill>
                      <a:srgbClr val="FFFFFF"/>
                    </a:solidFill>
                  </a:tcPr>
                </a:tc>
                <a:tc>
                  <a:txBody>
                    <a:bodyPr wrap="square"/>
                    <a:lstStyle/>
                    <a:p>
                      <a:pPr algn="ctr"/>
                      <a:r>
                        <a:rPr sz="1300" b="0">
                          <a:solidFill>
                            <a:srgbClr val="B5367A"/>
                          </a:solidFill>
                        </a:rPr>
                        <a:t>SPI GPIO8–12</a:t>
                      </a:r>
                    </a:p>
                  </a:txBody>
                  <a:tcPr marL="91440" marR="91440" marT="27432" marB="27432" anchor="ctr">
                    <a:solidFill>
                      <a:srgbClr val="FFFFFF"/>
                    </a:solidFill>
                  </a:tcPr>
                </a:tc>
              </a:tr>
              <a:tr h="420624">
                <a:tc>
                  <a:txBody>
                    <a:bodyPr wrap="square"/>
                    <a:lstStyle/>
                    <a:p>
                      <a:pPr algn="ctr"/>
                      <a:r>
                        <a:rPr sz="1300" b="0">
                          <a:solidFill>
                            <a:srgbClr val="1C2B22"/>
                          </a:solidFill>
                        </a:rPr>
                        <a:t>9</a:t>
                      </a:r>
                    </a:p>
                  </a:txBody>
                  <a:tcPr marL="91440" marR="91440" marT="27432" marB="27432" anchor="ctr">
                    <a:solidFill>
                      <a:srgbClr val="EEF4EF"/>
                    </a:solidFill>
                  </a:tcPr>
                </a:tc>
                <a:tc>
                  <a:txBody>
                    <a:bodyPr wrap="square"/>
                    <a:lstStyle/>
                    <a:p>
                      <a:pPr algn="l"/>
                      <a:r>
                        <a:rPr sz="1300" b="1">
                          <a:solidFill>
                            <a:srgbClr val="1C2B22"/>
                          </a:solidFill>
                        </a:rPr>
                        <a:t>Máy tính chạy Node-RED</a:t>
                      </a:r>
                    </a:p>
                  </a:txBody>
                  <a:tcPr marL="91440" marR="91440" marT="27432" marB="27432" anchor="ctr">
                    <a:solidFill>
                      <a:srgbClr val="EEF4EF"/>
                    </a:solidFill>
                  </a:tcPr>
                </a:tc>
                <a:tc>
                  <a:txBody>
                    <a:bodyPr wrap="square"/>
                    <a:lstStyle/>
                    <a:p>
                      <a:pPr algn="l"/>
                      <a:r>
                        <a:rPr sz="1300" b="0">
                          <a:solidFill>
                            <a:srgbClr val="1C2B22"/>
                          </a:solidFill>
                        </a:rPr>
                        <a:t>Server + dashboard, kết nối broker.emqx.io</a:t>
                      </a:r>
                    </a:p>
                  </a:txBody>
                  <a:tcPr marL="91440" marR="91440" marT="27432" marB="27432" anchor="ctr">
                    <a:solidFill>
                      <a:srgbClr val="EEF4EF"/>
                    </a:solidFill>
                  </a:tcPr>
                </a:tc>
                <a:tc>
                  <a:txBody>
                    <a:bodyPr wrap="square"/>
                    <a:lstStyle/>
                    <a:p>
                      <a:pPr algn="ctr"/>
                      <a:r>
                        <a:rPr sz="1300" b="0">
                          <a:solidFill>
                            <a:srgbClr val="2E7D4F"/>
                          </a:solidFill>
                        </a:rPr>
                        <a:t>—</a:t>
                      </a:r>
                    </a:p>
                  </a:txBody>
                  <a:tcPr marL="91440" marR="91440" marT="27432" marB="27432" anchor="ctr">
                    <a:solidFill>
                      <a:srgbClr val="EEF4EF"/>
                    </a:solidFill>
                  </a:tcPr>
                </a:tc>
                <a:tc>
                  <a:txBody>
                    <a:bodyPr wrap="square"/>
                    <a:lstStyle/>
                    <a:p>
                      <a:pPr algn="ctr"/>
                      <a:r>
                        <a:rPr sz="1300" b="0">
                          <a:solidFill>
                            <a:srgbClr val="B5367A"/>
                          </a:solidFill>
                        </a:rPr>
                        <a:t>—</a:t>
                      </a:r>
                    </a:p>
                  </a:txBody>
                  <a:tcPr marL="91440" marR="91440" marT="27432" marB="27432" anchor="ctr">
                    <a:solidFill>
                      <a:srgbClr val="EEF4EF"/>
                    </a:solidFill>
                  </a:tcPr>
                </a:tc>
              </a:tr>
            </a:tbl>
          </a:graphicData>
        </a:graphic>
      </p:graphicFrame>
    </p:spTree>
  </p:cSld>
  <p:clrMapOvr>
    <a:masterClrMapping/>
  </p:clrMapOvr>
</p:sld>
</file>

<file path=ppt/theme/theme1.xml><?xml version="1.0" encoding="utf-8"?>
<a:theme xmlns:a="http://schemas.openxmlformats.org/drawingml/2006/main" name="Orchid Garden">
  <a:themeElements>
    <a:clrScheme name="Orchid Garden">
      <a:dk1>
        <a:srgbClr val="1C2B22"/>
      </a:dk1>
      <a:lt1>
        <a:srgbClr val="FFFFFF"/>
      </a:lt1>
      <a:dk2>
        <a:srgbClr val="17402C"/>
      </a:dk2>
      <a:lt2>
        <a:srgbClr val="EEF4EF"/>
      </a:lt2>
      <a:accent1>
        <a:srgbClr val="2E7D4F"/>
      </a:accent1>
      <a:accent2>
        <a:srgbClr val="B5367A"/>
      </a:accent2>
      <a:accent3>
        <a:srgbClr val="D98E04"/>
      </a:accent3>
      <a:accent4>
        <a:srgbClr val="C0392B"/>
      </a:accent4>
      <a:accent5>
        <a:srgbClr val="5B7F6B"/>
      </a:accent5>
      <a:accent6>
        <a:srgbClr val="8FBF9F"/>
      </a:accent6>
      <a:hlink>
        <a:srgbClr val="2E7D4F"/>
      </a:hlink>
      <a:folHlink>
        <a:srgbClr val="5B7F6B"/>
      </a:folHlink>
    </a:clrScheme>
    <a:fontScheme name="Orchid Garde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1775</Words>
  <Application>Microsoft Macintosh PowerPoint</Application>
  <PresentationFormat>Widescreen</PresentationFormat>
  <Paragraphs>192</Paragraphs>
  <Slides>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Arial</vt:lpstr>
      <vt:lpstr>Calibri</vt:lpstr>
      <vt:lpstr>Cambria</vt:lpstr>
      <vt:lpstr>Courier New</vt:lpstr>
      <vt:lpstr>Orchid Garden</vt:lpstr>
      <vt:lpstr>Vườn lan thông minh IoT</vt:lpstr>
      <vt:lpstr>Bài toán và giải pháp</vt:lpstr>
      <vt:lpstr>Phần 1: Thiết bị ESP32 tại vườn</vt:lpstr>
      <vt:lpstr>Phần 1: Chương trình trên ESP32</vt:lpstr>
      <vt:lpstr>Phần 2: MQTT – tin đi lên và tin đi xuống</vt:lpstr>
      <vt:lpstr>Phần 2: Bốn dịch vụ chạy trên MQTT</vt:lpstr>
      <vt:lpstr>Phần 3: Ứng dụng web – Theo dõi và lưu dữ liệu</vt:lpstr>
      <vt:lpstr>Phần 3: Ứng dụng web – Điều khiển và tự động</vt:lpstr>
      <vt:lpstr>Kết luận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Kiến trúc hệ thống vườn lan IoT</dc:title>
  <dc:subject>PptxGenJS Presentation</dc:subject>
  <dc:creator>Nhóm Orchid</dc:creator>
  <cp:lastModifiedBy>Ý Lê</cp:lastModifiedBy>
  <cp:revision>3</cp:revision>
  <dcterms:created xsi:type="dcterms:W3CDTF">2026-10-24T00:46:04Z</dcterms:created>
  <dcterms:modified xsi:type="dcterms:W3CDTF">2026-10-24T02:53:50Z</dcterms:modified>
</cp:coreProperties>
</file>