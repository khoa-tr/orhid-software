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ở đầu" id="{3cd9e6d9-16a6-ab1a-1147-787018316816}">
          <p14:sldIdLst>
            <p14:sldId id="256"/>
          </p14:sldIdLst>
        </p14:section>
        <p14:section name="Part 1: Device" id="{2b6a0fea-7de5-b9be-f7a0-10fc7bed0d53}">
          <p14:sldIdLst>
            <p14:sldId id="257"/>
          </p14:sldIdLst>
        </p14:section>
        <p14:section name="Part 2: MQTT" id="{04aeb1cf-4349-52a7-4001-ffba4a49d052}">
          <p14:sldIdLst>
            <p14:sldId id="258"/>
          </p14:sldIdLst>
        </p14:section>
        <p14:section name="Part 3: Web Server App" id="{ef7db2f8-d136-02e6-ed52-768f4e654e0b}">
          <p14:sldIdLst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Giới thiệu 3 phần của hệ thống: thiết bị ESP32 tại vườn, tầng MQTT trung gian và ứng dụng Node-RED điều hành.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Khung trái: 3 cảm biến và 3 relay, kèm chân GPIO trong diagram.json. Khung phải: Collect task đọc và lọc dữ liệu, Control task chạy FSM phun sương với khóa an toàn nước cạn và lệnh tay có TTL.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dịch vụ trên MQTT. Topic và payload đã chốt từ tuần 8. Mỗi lệnh đều có request_id để ghép ACK; firmware luôn là lớp an toàn cuối cùng.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Bên trái: cách dashboard hiển thị dữ liệu và trạng thái kết nối. Bên phải: toàn bộ sự kiện ghi vào orchid-history.jsonl, dùng làm bằng chứng nghiệm thu.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Bên trái: chế độ AUTO/MANUAL, các khóa nút và 3 vai trò. Bên phải: 2 luật tự động chính và cảnh báo Telegram.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74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9184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CFE3D6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i="1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Vườn lan thông minh IoT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91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6"/>
                </a:solidFill>
              </a:rPr>
              <a:t>Kiến trúc hệ thống: thiết bị biên, dịch vụ MQTT và ứng dụng web điều hành</a:t>
            </a:r>
            <a:endParaRPr lang="en-US" sz="2000" dirty="0"/>
          </a:p>
        </p:txBody>
      </p:sp>
      <p:sp>
        <p:nvSpPr>
          <p:cNvPr id="4" name="cover-part1-circle"/>
          <p:cNvSpPr/>
          <p:nvPr/>
        </p:nvSpPr>
        <p:spPr>
          <a:xfrm>
            <a:off x="731520" y="45720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cover-part1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454" y="4732934"/>
            <a:ext cx="409651" cy="409651"/>
          </a:xfrm>
          <a:prstGeom prst="rect">
            <a:avLst/>
          </a:prstGeom>
        </p:spPr>
      </p:pic>
      <p:sp>
        <p:nvSpPr>
          <p:cNvPr id="6" name="cover-part1-text"/>
          <p:cNvSpPr txBox="1"/>
          <p:nvPr/>
        </p:nvSpPr>
        <p:spPr>
          <a:xfrm>
            <a:off x="1645920" y="46177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3D6"/>
                </a:solidFill>
              </a:rPr>
              <a:t>Part 1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Device (ESP32)</a:t>
            </a:r>
            <a:endParaRPr lang="en-US" sz="1400" dirty="0"/>
          </a:p>
        </p:txBody>
      </p:sp>
      <p:sp>
        <p:nvSpPr>
          <p:cNvPr id="7" name="cover-part2-circle"/>
          <p:cNvSpPr/>
          <p:nvPr/>
        </p:nvSpPr>
        <p:spPr>
          <a:xfrm>
            <a:off x="4297680" y="457200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cover-part2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8614" y="4732934"/>
            <a:ext cx="409651" cy="409651"/>
          </a:xfrm>
          <a:prstGeom prst="rect">
            <a:avLst/>
          </a:prstGeom>
        </p:spPr>
      </p:pic>
      <p:sp>
        <p:nvSpPr>
          <p:cNvPr id="9" name="cover-part2-text"/>
          <p:cNvSpPr txBox="1"/>
          <p:nvPr/>
        </p:nvSpPr>
        <p:spPr>
          <a:xfrm>
            <a:off x="5212080" y="46177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3D6"/>
                </a:solidFill>
              </a:rPr>
              <a:t>Part 2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MQTT Services</a:t>
            </a:r>
            <a:endParaRPr lang="en-US" sz="1400" dirty="0"/>
          </a:p>
        </p:txBody>
      </p:sp>
      <p:sp>
        <p:nvSpPr>
          <p:cNvPr id="10" name="cover-part3-circle"/>
          <p:cNvSpPr/>
          <p:nvPr/>
        </p:nvSpPr>
        <p:spPr>
          <a:xfrm>
            <a:off x="7863840" y="457200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cover-part3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4774" y="4732934"/>
            <a:ext cx="409651" cy="409651"/>
          </a:xfrm>
          <a:prstGeom prst="rect">
            <a:avLst/>
          </a:prstGeom>
        </p:spPr>
      </p:pic>
      <p:sp>
        <p:nvSpPr>
          <p:cNvPr id="12" name="cover-part3-text"/>
          <p:cNvSpPr txBox="1"/>
          <p:nvPr/>
        </p:nvSpPr>
        <p:spPr>
          <a:xfrm>
            <a:off x="8778240" y="46177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3D6"/>
                </a:solidFill>
              </a:rPr>
              <a:t>Part 3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Web Server App</a:t>
            </a:r>
            <a:endParaRPr lang="en-US" sz="1400" dirty="0"/>
          </a:p>
        </p:txBody>
      </p:sp>
      <p:pic>
        <p:nvPicPr>
          <p:cNvPr id="13" name="cover-leaf" descr="preencoded.png">    </p:cNvPr>
          <p:cNvPicPr>
            <a:picLocks noChangeAspect="1"/>
          </p:cNvPicPr>
          <p:nvPr/>
        </p:nvPicPr>
        <p:blipFill>
          <a:blip r:embed="rId4">
            <a:alphaModFix amt="60000"/>
          </a:blip>
          <a:stretch>
            <a:fillRect/>
          </a:stretch>
        </p:blipFill>
        <p:spPr>
          <a:xfrm>
            <a:off x="9509760" y="548640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1: Device (ESP32)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Thiết bị trạm đo và điều khiển vi khí hậu vườn lan tại biên (Edge Device)</a:t>
            </a:r>
            <a:endParaRPr lang="en-US" sz="1600" dirty="0"/>
          </a:p>
        </p:txBody>
      </p:sp>
      <p:sp>
        <p:nvSpPr>
          <p:cNvPr id="4" name="p1-hw-card"/>
          <p:cNvSpPr/>
          <p:nvPr/>
        </p:nvSpPr>
        <p:spPr>
          <a:xfrm>
            <a:off x="548640" y="1600200"/>
            <a:ext cx="5120640" cy="4754880"/>
          </a:xfrm>
          <a:prstGeom prst="roundRect">
            <a:avLst>
              <a:gd name="adj" fmla="val 23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1-hw-title"/>
          <p:cNvSpPr txBox="1"/>
          <p:nvPr/>
        </p:nvSpPr>
        <p:spPr>
          <a:xfrm>
            <a:off x="82296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Sensors &amp; Actuators</a:t>
            </a:r>
            <a:endParaRPr lang="en-US" sz="2000" dirty="0"/>
          </a:p>
        </p:txBody>
      </p:sp>
      <p:sp>
        <p:nvSpPr>
          <p:cNvPr id="6" name="p1-sensor-label"/>
          <p:cNvSpPr txBox="1"/>
          <p:nvPr/>
        </p:nvSpPr>
        <p:spPr>
          <a:xfrm>
            <a:off x="822960" y="2240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CẢM BIẾN</a:t>
            </a:r>
            <a:endParaRPr lang="en-US" sz="1100" dirty="0"/>
          </a:p>
        </p:txBody>
      </p:sp>
      <p:sp>
        <p:nvSpPr>
          <p:cNvPr id="7" name="p1-actuator-label"/>
          <p:cNvSpPr txBox="1"/>
          <p:nvPr/>
        </p:nvSpPr>
        <p:spPr>
          <a:xfrm>
            <a:off x="822960" y="4206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CƠ CẤU CHẤP HÀNH (3 RELAY)</a:t>
            </a:r>
            <a:endParaRPr lang="en-US" sz="1100" dirty="0"/>
          </a:p>
        </p:txBody>
      </p:sp>
      <p:sp>
        <p:nvSpPr>
          <p:cNvPr id="8" name="p1-hw0-circle"/>
          <p:cNvSpPr/>
          <p:nvPr/>
        </p:nvSpPr>
        <p:spPr>
          <a:xfrm>
            <a:off x="822960" y="25603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p1-hw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6" y="2650846"/>
            <a:ext cx="230429" cy="230429"/>
          </a:xfrm>
          <a:prstGeom prst="rect">
            <a:avLst/>
          </a:prstGeom>
        </p:spPr>
      </p:pic>
      <p:sp>
        <p:nvSpPr>
          <p:cNvPr id="10" name="p1-hw0-text"/>
          <p:cNvSpPr txBox="1"/>
          <p:nvPr/>
        </p:nvSpPr>
        <p:spPr>
          <a:xfrm>
            <a:off x="1371600" y="252374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DHT22  </a:t>
            </a:r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GPIO15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Nhiệt độ và độ ẩm không khí</a:t>
            </a:r>
            <a:endParaRPr lang="en-US" sz="1400" dirty="0"/>
          </a:p>
        </p:txBody>
      </p:sp>
      <p:sp>
        <p:nvSpPr>
          <p:cNvPr id="11" name="p1-hw1-circle"/>
          <p:cNvSpPr/>
          <p:nvPr/>
        </p:nvSpPr>
        <p:spPr>
          <a:xfrm>
            <a:off x="822960" y="31089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p1-hw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6" y="3199486"/>
            <a:ext cx="230429" cy="230429"/>
          </a:xfrm>
          <a:prstGeom prst="rect">
            <a:avLst/>
          </a:prstGeom>
        </p:spPr>
      </p:pic>
      <p:sp>
        <p:nvSpPr>
          <p:cNvPr id="13" name="p1-hw1-text"/>
          <p:cNvSpPr txBox="1"/>
          <p:nvPr/>
        </p:nvSpPr>
        <p:spPr>
          <a:xfrm>
            <a:off x="1371600" y="307238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LDR  </a:t>
            </a:r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GPIO34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Độ rọi ánh sáng (ADC)</a:t>
            </a:r>
            <a:endParaRPr lang="en-US" sz="1400" dirty="0"/>
          </a:p>
        </p:txBody>
      </p:sp>
      <p:sp>
        <p:nvSpPr>
          <p:cNvPr id="14" name="p1-hw2-circle"/>
          <p:cNvSpPr/>
          <p:nvPr/>
        </p:nvSpPr>
        <p:spPr>
          <a:xfrm>
            <a:off x="822960" y="36576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p1-hw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6" y="3748126"/>
            <a:ext cx="230429" cy="230429"/>
          </a:xfrm>
          <a:prstGeom prst="rect">
            <a:avLst/>
          </a:prstGeom>
        </p:spPr>
      </p:pic>
      <p:sp>
        <p:nvSpPr>
          <p:cNvPr id="16" name="p1-hw2-text"/>
          <p:cNvSpPr txBox="1"/>
          <p:nvPr/>
        </p:nvSpPr>
        <p:spPr>
          <a:xfrm>
            <a:off x="1371600" y="362102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Mực nước  </a:t>
            </a:r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GPIO35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Mực nước bình phun sương (ADC)</a:t>
            </a:r>
            <a:endParaRPr lang="en-US" sz="1400" dirty="0"/>
          </a:p>
        </p:txBody>
      </p:sp>
      <p:sp>
        <p:nvSpPr>
          <p:cNvPr id="17" name="p1-hw3-circle"/>
          <p:cNvSpPr/>
          <p:nvPr/>
        </p:nvSpPr>
        <p:spPr>
          <a:xfrm>
            <a:off x="822960" y="452628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8" name="p1-hw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486" y="4616806"/>
            <a:ext cx="230429" cy="230429"/>
          </a:xfrm>
          <a:prstGeom prst="rect">
            <a:avLst/>
          </a:prstGeom>
        </p:spPr>
      </p:pic>
      <p:sp>
        <p:nvSpPr>
          <p:cNvPr id="19" name="p1-hw3-text"/>
          <p:cNvSpPr txBox="1"/>
          <p:nvPr/>
        </p:nvSpPr>
        <p:spPr>
          <a:xfrm>
            <a:off x="1371600" y="448970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Relay phun sương  </a:t>
            </a:r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GPIO25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Bơm tạo sương, giữ ẩm và làm mát</a:t>
            </a:r>
            <a:endParaRPr lang="en-US" sz="1400" dirty="0"/>
          </a:p>
        </p:txBody>
      </p:sp>
      <p:sp>
        <p:nvSpPr>
          <p:cNvPr id="20" name="p1-hw4-circle"/>
          <p:cNvSpPr/>
          <p:nvPr/>
        </p:nvSpPr>
        <p:spPr>
          <a:xfrm>
            <a:off x="822960" y="507492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p1-hw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3486" y="5165446"/>
            <a:ext cx="230429" cy="230429"/>
          </a:xfrm>
          <a:prstGeom prst="rect">
            <a:avLst/>
          </a:prstGeom>
        </p:spPr>
      </p:pic>
      <p:sp>
        <p:nvSpPr>
          <p:cNvPr id="22" name="p1-hw4-text"/>
          <p:cNvSpPr txBox="1"/>
          <p:nvPr/>
        </p:nvSpPr>
        <p:spPr>
          <a:xfrm>
            <a:off x="1371600" y="503834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Relay quạt  </a:t>
            </a:r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GPIO26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Thông gió, làm ráo nước đọng trên lá</a:t>
            </a:r>
            <a:endParaRPr lang="en-US" sz="1400" dirty="0"/>
          </a:p>
        </p:txBody>
      </p:sp>
      <p:sp>
        <p:nvSpPr>
          <p:cNvPr id="23" name="p1-hw5-circle"/>
          <p:cNvSpPr/>
          <p:nvPr/>
        </p:nvSpPr>
        <p:spPr>
          <a:xfrm>
            <a:off x="822960" y="562356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4" name="p1-hw5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486" y="5714086"/>
            <a:ext cx="230429" cy="230429"/>
          </a:xfrm>
          <a:prstGeom prst="rect">
            <a:avLst/>
          </a:prstGeom>
        </p:spPr>
      </p:pic>
      <p:sp>
        <p:nvSpPr>
          <p:cNvPr id="25" name="p1-hw5-text"/>
          <p:cNvSpPr txBox="1"/>
          <p:nvPr/>
        </p:nvSpPr>
        <p:spPr>
          <a:xfrm>
            <a:off x="1371600" y="558698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Relay đèn  </a:t>
            </a:r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GPIO27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Đèn LED bù sáng sinh trưởng</a:t>
            </a:r>
            <a:endParaRPr lang="en-US" sz="1400" dirty="0"/>
          </a:p>
        </p:txBody>
      </p:sp>
      <p:sp>
        <p:nvSpPr>
          <p:cNvPr id="26" name="p1-fw-title"/>
          <p:cNvSpPr txBox="1"/>
          <p:nvPr/>
        </p:nvSpPr>
        <p:spPr>
          <a:xfrm>
            <a:off x="6035040" y="164592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Firmware: 2 tác vụ cốt lõi</a:t>
            </a:r>
            <a:endParaRPr lang="en-US" sz="2000" dirty="0"/>
          </a:p>
        </p:txBody>
      </p:sp>
      <p:sp>
        <p:nvSpPr>
          <p:cNvPr id="27" name="p1-collect-card"/>
          <p:cNvSpPr/>
          <p:nvPr/>
        </p:nvSpPr>
        <p:spPr>
          <a:xfrm>
            <a:off x="6035040" y="2148840"/>
            <a:ext cx="269748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p1-collect-circle"/>
          <p:cNvSpPr/>
          <p:nvPr/>
        </p:nvSpPr>
        <p:spPr>
          <a:xfrm>
            <a:off x="6263640" y="23317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p1-collect-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2432304"/>
            <a:ext cx="256032" cy="256032"/>
          </a:xfrm>
          <a:prstGeom prst="rect">
            <a:avLst/>
          </a:prstGeom>
        </p:spPr>
      </p:pic>
      <p:sp>
        <p:nvSpPr>
          <p:cNvPr id="30" name="p1-collect-title"/>
          <p:cNvSpPr txBox="1"/>
          <p:nvPr/>
        </p:nvSpPr>
        <p:spPr>
          <a:xfrm>
            <a:off x="6812280" y="23957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Collect Task</a:t>
            </a:r>
            <a:endParaRPr lang="en-US" sz="1600" dirty="0"/>
          </a:p>
        </p:txBody>
      </p:sp>
      <p:sp>
        <p:nvSpPr>
          <p:cNvPr id="31" name="p1-collect-body"/>
          <p:cNvSpPr txBox="1"/>
          <p:nvPr/>
        </p:nvSpPr>
        <p:spPr>
          <a:xfrm>
            <a:off x="6263640" y="292608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Đọc mỗi 2,5 s, non-blocking (không delay())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Lọc 2 lớp: loại xung đột biến + trung bình trượt 5 mẫu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DHT lỗi 3 lần liên tiếp → SENSOR_FAULT</a:t>
            </a:r>
            <a:endParaRPr lang="en-US" sz="1300" dirty="0"/>
          </a:p>
        </p:txBody>
      </p:sp>
      <p:sp>
        <p:nvSpPr>
          <p:cNvPr id="32" name="p1-control-card"/>
          <p:cNvSpPr/>
          <p:nvPr/>
        </p:nvSpPr>
        <p:spPr>
          <a:xfrm>
            <a:off x="8915400" y="2148840"/>
            <a:ext cx="269748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p1-control-circle"/>
          <p:cNvSpPr/>
          <p:nvPr/>
        </p:nvSpPr>
        <p:spPr>
          <a:xfrm>
            <a:off x="9144000" y="23317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4" name="p1-control-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44584" y="2432304"/>
            <a:ext cx="256032" cy="256032"/>
          </a:xfrm>
          <a:prstGeom prst="rect">
            <a:avLst/>
          </a:prstGeom>
        </p:spPr>
      </p:pic>
      <p:sp>
        <p:nvSpPr>
          <p:cNvPr id="35" name="p1-control-title"/>
          <p:cNvSpPr txBox="1"/>
          <p:nvPr/>
        </p:nvSpPr>
        <p:spPr>
          <a:xfrm>
            <a:off x="9692640" y="23957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Control Task</a:t>
            </a:r>
            <a:endParaRPr lang="en-US" sz="1600" dirty="0"/>
          </a:p>
        </p:txBody>
      </p:sp>
      <p:sp>
        <p:nvSpPr>
          <p:cNvPr id="36" name="p1-control-body"/>
          <p:cNvSpPr txBox="1"/>
          <p:nvPr/>
        </p:nvSpPr>
        <p:spPr>
          <a:xfrm>
            <a:off x="9144000" y="292608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Máy trạng thái (FSM) cho bơm phun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Nước cạn (ADC &lt; 1200): ngắt bơm, từ chối mọi lệnh bật phun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Lệnh tay có TTL, hết giờ tự về AUTO</a:t>
            </a:r>
            <a:endParaRPr lang="en-US" sz="1300" dirty="0"/>
          </a:p>
        </p:txBody>
      </p:sp>
      <p:sp>
        <p:nvSpPr>
          <p:cNvPr id="37" name="p1-fsm-label"/>
          <p:cNvSpPr txBox="1"/>
          <p:nvPr/>
        </p:nvSpPr>
        <p:spPr>
          <a:xfrm>
            <a:off x="6035040" y="4663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FSM bơm phun sương</a:t>
            </a:r>
            <a:endParaRPr lang="en-US" sz="1300" dirty="0"/>
          </a:p>
        </p:txBody>
      </p:sp>
      <p:sp>
        <p:nvSpPr>
          <p:cNvPr id="38" name="p1-fsm-IDLE"/>
          <p:cNvSpPr/>
          <p:nvPr/>
        </p:nvSpPr>
        <p:spPr>
          <a:xfrm>
            <a:off x="6035040" y="5029200"/>
            <a:ext cx="146304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9" name="p1-fsm-IDLE-text"/>
          <p:cNvSpPr txBox="1"/>
          <p:nvPr/>
        </p:nvSpPr>
        <p:spPr>
          <a:xfrm>
            <a:off x="6035040" y="5029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IDLE</a:t>
            </a:r>
            <a:endParaRPr lang="en-US" sz="1300" dirty="0"/>
          </a:p>
        </p:txBody>
      </p:sp>
      <p:sp>
        <p:nvSpPr>
          <p:cNvPr id="40" name="p1-fsm-arrow0"/>
          <p:cNvSpPr/>
          <p:nvPr/>
        </p:nvSpPr>
        <p:spPr>
          <a:xfrm>
            <a:off x="7543800" y="5138928"/>
            <a:ext cx="365760" cy="237744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1" name="p1-fsm-RUNNING"/>
          <p:cNvSpPr/>
          <p:nvPr/>
        </p:nvSpPr>
        <p:spPr>
          <a:xfrm>
            <a:off x="7955280" y="5029200"/>
            <a:ext cx="146304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2" name="p1-fsm-RUNNING-text"/>
          <p:cNvSpPr txBox="1"/>
          <p:nvPr/>
        </p:nvSpPr>
        <p:spPr>
          <a:xfrm>
            <a:off x="7955280" y="5029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RUNNING</a:t>
            </a:r>
            <a:endParaRPr lang="en-US" sz="1300" dirty="0"/>
          </a:p>
        </p:txBody>
      </p:sp>
      <p:sp>
        <p:nvSpPr>
          <p:cNvPr id="43" name="p1-fsm-arrow1"/>
          <p:cNvSpPr/>
          <p:nvPr/>
        </p:nvSpPr>
        <p:spPr>
          <a:xfrm>
            <a:off x="9464040" y="5138928"/>
            <a:ext cx="365760" cy="237744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4" name="p1-fsm-COOLDOWN"/>
          <p:cNvSpPr/>
          <p:nvPr/>
        </p:nvSpPr>
        <p:spPr>
          <a:xfrm>
            <a:off x="9875520" y="5029200"/>
            <a:ext cx="1463040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5" name="p1-fsm-COOLDOWN-text"/>
          <p:cNvSpPr txBox="1"/>
          <p:nvPr/>
        </p:nvSpPr>
        <p:spPr>
          <a:xfrm>
            <a:off x="9875520" y="5029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COOLDOWN</a:t>
            </a:r>
            <a:endParaRPr lang="en-US" sz="1300" dirty="0"/>
          </a:p>
        </p:txBody>
      </p:sp>
      <p:sp>
        <p:nvSpPr>
          <p:cNvPr id="46" name="p1-fsm-back"/>
          <p:cNvSpPr txBox="1"/>
          <p:nvPr/>
        </p:nvSpPr>
        <p:spPr>
          <a:xfrm>
            <a:off x="9921240" y="555955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hết giờ nghỉ → IDLE</a:t>
            </a:r>
            <a:endParaRPr lang="en-US" sz="1100" dirty="0"/>
          </a:p>
        </p:txBody>
      </p:sp>
      <p:sp>
        <p:nvSpPr>
          <p:cNvPr id="47" name="p1-fsm-fault"/>
          <p:cNvSpPr/>
          <p:nvPr/>
        </p:nvSpPr>
        <p:spPr>
          <a:xfrm>
            <a:off x="6035040" y="5897880"/>
            <a:ext cx="5577840" cy="457200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12700">
            <a:solidFill>
              <a:srgbClr val="FBE3E0"/>
            </a:solidFill>
            <a:prstDash val="solid"/>
          </a:ln>
        </p:spPr>
      </p:sp>
      <p:sp>
        <p:nvSpPr>
          <p:cNvPr id="48" name="p1-fsm-fault-text"/>
          <p:cNvSpPr txBox="1"/>
          <p:nvPr/>
        </p:nvSpPr>
        <p:spPr>
          <a:xfrm>
            <a:off x="6217920" y="58978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WATER_LOCKOUT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hoặc </a:t>
            </a:r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SENSOR_FAULT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: vào từ mọi trạng thái, bơm tắt ngay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2: MQTT Services on Server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Tầng truyền thông trung gian qua broker broker.emqx.io:1883 · tiền tố topic garden/orchid/orchid-01/</a:t>
            </a:r>
            <a:endParaRPr lang="en-US" sz="1600" dirty="0"/>
          </a:p>
        </p:txBody>
      </p:sp>
      <p:sp>
        <p:nvSpPr>
          <p:cNvPr id="4" name="p2-svc1"/>
          <p:cNvSpPr/>
          <p:nvPr/>
        </p:nvSpPr>
        <p:spPr>
          <a:xfrm>
            <a:off x="548640" y="1645920"/>
            <a:ext cx="544068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2-svc1-circle"/>
          <p:cNvSpPr/>
          <p:nvPr/>
        </p:nvSpPr>
        <p:spPr>
          <a:xfrm>
            <a:off x="777240" y="184708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p2-svc1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957730"/>
            <a:ext cx="281635" cy="281635"/>
          </a:xfrm>
          <a:prstGeom prst="rect">
            <a:avLst/>
          </a:prstGeom>
        </p:spPr>
      </p:pic>
      <p:sp>
        <p:nvSpPr>
          <p:cNvPr id="7" name="p2-svc1-head"/>
          <p:cNvSpPr txBox="1"/>
          <p:nvPr/>
        </p:nvSpPr>
        <p:spPr>
          <a:xfrm>
            <a:off x="1417320" y="181051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1) Keep-Alive &amp; Availability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Giám sát trạm ESP32 còn sống hay không; báo ngay khi mất nguồn, mất mạng</a:t>
            </a:r>
            <a:endParaRPr lang="en-US" sz="1400" dirty="0"/>
          </a:p>
        </p:txBody>
      </p:sp>
      <p:sp>
        <p:nvSpPr>
          <p:cNvPr id="8" name="p2-svc1-steps"/>
          <p:cNvSpPr txBox="1"/>
          <p:nvPr/>
        </p:nvSpPr>
        <p:spPr>
          <a:xfrm>
            <a:off x="822960" y="26060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availability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ESP32 publish "online" (retained)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LWT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Broker tự phát "offline" khi TCP đứt đột ngột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Hiện ONLINE / STALE (&gt; 15 s không có tin) / OFFLINE</a:t>
            </a:r>
            <a:endParaRPr lang="en-US" sz="1400" dirty="0"/>
          </a:p>
        </p:txBody>
      </p:sp>
      <p:sp>
        <p:nvSpPr>
          <p:cNvPr id="9" name="p2-svc2"/>
          <p:cNvSpPr/>
          <p:nvPr/>
        </p:nvSpPr>
        <p:spPr>
          <a:xfrm>
            <a:off x="6172200" y="1645920"/>
            <a:ext cx="544068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p2-svc2-circle"/>
          <p:cNvSpPr/>
          <p:nvPr/>
        </p:nvSpPr>
        <p:spPr>
          <a:xfrm>
            <a:off x="6400800" y="184708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p2-svc2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442" y="1957730"/>
            <a:ext cx="281635" cy="281635"/>
          </a:xfrm>
          <a:prstGeom prst="rect">
            <a:avLst/>
          </a:prstGeom>
        </p:spPr>
      </p:pic>
      <p:sp>
        <p:nvSpPr>
          <p:cNvPr id="12" name="p2-svc2-head"/>
          <p:cNvSpPr txBox="1"/>
          <p:nvPr/>
        </p:nvSpPr>
        <p:spPr>
          <a:xfrm>
            <a:off x="7040880" y="181051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2) Collect (Sensors Data)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Nhận dữ liệu cảm biến định kỳ và trạng thái thực của relay</a:t>
            </a:r>
            <a:endParaRPr lang="en-US" sz="1400" dirty="0"/>
          </a:p>
        </p:txBody>
      </p:sp>
      <p:sp>
        <p:nvSpPr>
          <p:cNvPr id="13" name="p2-svc2-steps"/>
          <p:cNvSpPr txBox="1"/>
          <p:nvPr/>
        </p:nvSpPr>
        <p:spPr>
          <a:xfrm>
            <a:off x="6446520" y="26060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telemetry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Mỗi 2,5 s: temperature_c, humidity_pct, light_adc, water_adc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Trạng thái relay, FSM, ngưỡng (retained)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Subscribe, bóc tách JSON, cập nhật dashboard</a:t>
            </a:r>
            <a:endParaRPr lang="en-US" sz="1400" dirty="0"/>
          </a:p>
        </p:txBody>
      </p:sp>
      <p:sp>
        <p:nvSpPr>
          <p:cNvPr id="14" name="p2-svc3"/>
          <p:cNvSpPr/>
          <p:nvPr/>
        </p:nvSpPr>
        <p:spPr>
          <a:xfrm>
            <a:off x="548640" y="4069080"/>
            <a:ext cx="544068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p2-svc3-circle"/>
          <p:cNvSpPr/>
          <p:nvPr/>
        </p:nvSpPr>
        <p:spPr>
          <a:xfrm>
            <a:off x="777240" y="4270248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p2-svc3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882" y="4380890"/>
            <a:ext cx="281635" cy="281635"/>
          </a:xfrm>
          <a:prstGeom prst="rect">
            <a:avLst/>
          </a:prstGeom>
        </p:spPr>
      </p:pic>
      <p:sp>
        <p:nvSpPr>
          <p:cNvPr id="17" name="p2-svc3-head"/>
          <p:cNvSpPr txBox="1"/>
          <p:nvPr/>
        </p:nvSpPr>
        <p:spPr>
          <a:xfrm>
            <a:off x="1417320" y="423367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3) Control &amp; Safety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Gửi lệnh điều khiển hai chiều và nhận xác nhận (ACK)</a:t>
            </a:r>
            <a:endParaRPr lang="en-US" sz="1400" dirty="0"/>
          </a:p>
        </p:txBody>
      </p:sp>
      <p:sp>
        <p:nvSpPr>
          <p:cNvPr id="18" name="p2-svc3-steps"/>
          <p:cNvSpPr txBox="1"/>
          <p:nvPr/>
        </p:nvSpPr>
        <p:spPr>
          <a:xfrm>
            <a:off x="822960" y="50292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cmd/mist|fan|light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request_id, mode (AUTO/MANUAL), state, ttl_s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APPLIED hoặc REJECTED: WATER_LOCKOUT, MIST_COOLDOWN, SENSOR_FAULT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Ghép theo request_id; quá 6 s báo NO_ACK</a:t>
            </a:r>
            <a:endParaRPr lang="en-US" sz="1400" dirty="0"/>
          </a:p>
        </p:txBody>
      </p:sp>
      <p:sp>
        <p:nvSpPr>
          <p:cNvPr id="19" name="p2-svc4"/>
          <p:cNvSpPr/>
          <p:nvPr/>
        </p:nvSpPr>
        <p:spPr>
          <a:xfrm>
            <a:off x="6172200" y="4069080"/>
            <a:ext cx="544068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p2-svc4-circle"/>
          <p:cNvSpPr/>
          <p:nvPr/>
        </p:nvSpPr>
        <p:spPr>
          <a:xfrm>
            <a:off x="6400800" y="4270248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p2-svc4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1442" y="4380890"/>
            <a:ext cx="281635" cy="281635"/>
          </a:xfrm>
          <a:prstGeom prst="rect">
            <a:avLst/>
          </a:prstGeom>
        </p:spPr>
      </p:pic>
      <p:sp>
        <p:nvSpPr>
          <p:cNvPr id="22" name="p2-svc4-head"/>
          <p:cNvSpPr txBox="1"/>
          <p:nvPr/>
        </p:nvSpPr>
        <p:spPr>
          <a:xfrm>
            <a:off x="7040880" y="423367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4) Dynamic Config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Đổi ngưỡng nhiệt độ, độ ẩm, ánh sáng, mực nước từ xa, không cần nạp lại code</a:t>
            </a:r>
            <a:endParaRPr lang="en-US" sz="1400" dirty="0"/>
          </a:p>
        </p:txBody>
      </p:sp>
      <p:sp>
        <p:nvSpPr>
          <p:cNvPr id="23" name="p2-svc4-steps"/>
          <p:cNvSpPr txBox="1"/>
          <p:nvPr/>
        </p:nvSpPr>
        <p:spPr>
          <a:xfrm>
            <a:off x="6446520" y="50292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Server gửi ngưỡng mới; ACK APPLIED CONFIG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ConfigLimits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Firmware chặn ngưỡng ngoài vùng an toàn (cạn nước không thấp hơn 1200)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3: Web Server App – Giám sát và dữ liệu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Node-RED middleware + Dashboard 2.0: điều hành trung tâm, giám sát thời gian thực</a:t>
            </a:r>
            <a:endParaRPr lang="en-US" sz="1600" dirty="0"/>
          </a:p>
        </p:txBody>
      </p:sp>
      <p:sp>
        <p:nvSpPr>
          <p:cNvPr id="4" name="p3a-rep-circle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p3a-rep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282" y="1756562"/>
            <a:ext cx="281635" cy="281635"/>
          </a:xfrm>
          <a:prstGeom prst="rect">
            <a:avLst/>
          </a:prstGeom>
        </p:spPr>
      </p:pic>
      <p:sp>
        <p:nvSpPr>
          <p:cNvPr id="6" name="p3a-rep-title"/>
          <p:cNvSpPr txBox="1"/>
          <p:nvPr/>
        </p:nvSpPr>
        <p:spPr>
          <a:xfrm>
            <a:off x="118872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Data Representation</a:t>
            </a:r>
            <a:endParaRPr lang="en-US" sz="2000" dirty="0"/>
          </a:p>
        </p:txBody>
      </p:sp>
      <p:sp>
        <p:nvSpPr>
          <p:cNvPr id="7" name="p3a-rep-body"/>
          <p:cNvSpPr txBox="1"/>
          <p:nvPr/>
        </p:nvSpPr>
        <p:spPr>
          <a:xfrm>
            <a:off x="548640" y="233172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Dashboard 2.0 dùng được trên PC và điện thoại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Ô số trực tiếp: nhiệt độ (°C), độ ẩm (%), ADC ánh sáng, ADC nước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2 biểu đồ lịch sử 1 giờ: nhiệt độ/độ ẩm và ánh sáng/nước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DHT hỏng hiện "DHT fault", không hiện số 0 giả</a:t>
            </a:r>
            <a:endParaRPr lang="en-US" sz="1500" dirty="0"/>
          </a:p>
        </p:txBody>
      </p:sp>
      <p:sp>
        <p:nvSpPr>
          <p:cNvPr id="8" name="p3a-conn-label"/>
          <p:cNvSpPr txBox="1"/>
          <p:nvPr/>
        </p:nvSpPr>
        <p:spPr>
          <a:xfrm>
            <a:off x="548640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Trạng thái kết nối</a:t>
            </a:r>
            <a:endParaRPr lang="en-US" sz="1300" dirty="0"/>
          </a:p>
        </p:txBody>
      </p:sp>
      <p:sp>
        <p:nvSpPr>
          <p:cNvPr id="9" name="p3a-conn-ONLINE"/>
          <p:cNvSpPr/>
          <p:nvPr/>
        </p:nvSpPr>
        <p:spPr>
          <a:xfrm>
            <a:off x="548640" y="4526280"/>
            <a:ext cx="164592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p3a-conn-ONLINE-text"/>
          <p:cNvSpPr txBox="1"/>
          <p:nvPr/>
        </p:nvSpPr>
        <p:spPr>
          <a:xfrm>
            <a:off x="548640" y="45262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ONLINE</a:t>
            </a:r>
            <a:endParaRPr lang="en-US" sz="1400" dirty="0"/>
          </a:p>
        </p:txBody>
      </p:sp>
      <p:sp>
        <p:nvSpPr>
          <p:cNvPr id="11" name="p3a-conn-ONLINE-desc"/>
          <p:cNvSpPr txBox="1"/>
          <p:nvPr/>
        </p:nvSpPr>
        <p:spPr>
          <a:xfrm>
            <a:off x="548640" y="505663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có telemetry mới</a:t>
            </a:r>
            <a:endParaRPr lang="en-US" sz="1100" dirty="0"/>
          </a:p>
        </p:txBody>
      </p:sp>
      <p:sp>
        <p:nvSpPr>
          <p:cNvPr id="12" name="p3a-conn-STALE"/>
          <p:cNvSpPr/>
          <p:nvPr/>
        </p:nvSpPr>
        <p:spPr>
          <a:xfrm>
            <a:off x="2377440" y="4526280"/>
            <a:ext cx="1645920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p3a-conn-STALE-text"/>
          <p:cNvSpPr txBox="1"/>
          <p:nvPr/>
        </p:nvSpPr>
        <p:spPr>
          <a:xfrm>
            <a:off x="2377440" y="45262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STALE</a:t>
            </a:r>
            <a:endParaRPr lang="en-US" sz="1400" dirty="0"/>
          </a:p>
        </p:txBody>
      </p:sp>
      <p:sp>
        <p:nvSpPr>
          <p:cNvPr id="14" name="p3a-conn-STALE-desc"/>
          <p:cNvSpPr txBox="1"/>
          <p:nvPr/>
        </p:nvSpPr>
        <p:spPr>
          <a:xfrm>
            <a:off x="2377440" y="505663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&gt; 15 s không có tin</a:t>
            </a:r>
            <a:endParaRPr lang="en-US" sz="1100" dirty="0"/>
          </a:p>
        </p:txBody>
      </p:sp>
      <p:sp>
        <p:nvSpPr>
          <p:cNvPr id="15" name="p3a-conn-OFFLINE"/>
          <p:cNvSpPr/>
          <p:nvPr/>
        </p:nvSpPr>
        <p:spPr>
          <a:xfrm>
            <a:off x="4206240" y="4526280"/>
            <a:ext cx="164592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p3a-conn-OFFLINE-text"/>
          <p:cNvSpPr txBox="1"/>
          <p:nvPr/>
        </p:nvSpPr>
        <p:spPr>
          <a:xfrm>
            <a:off x="4206240" y="45262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OFFLINE</a:t>
            </a:r>
            <a:endParaRPr lang="en-US" sz="1400" dirty="0"/>
          </a:p>
        </p:txBody>
      </p:sp>
      <p:sp>
        <p:nvSpPr>
          <p:cNvPr id="17" name="p3a-conn-OFFLINE-desc"/>
          <p:cNvSpPr txBox="1"/>
          <p:nvPr/>
        </p:nvSpPr>
        <p:spPr>
          <a:xfrm>
            <a:off x="4206240" y="505663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LWT từ broker</a:t>
            </a:r>
            <a:endParaRPr lang="en-US" sz="1100" dirty="0"/>
          </a:p>
        </p:txBody>
      </p:sp>
      <p:sp>
        <p:nvSpPr>
          <p:cNvPr id="18" name="p3a-mgmt-card"/>
          <p:cNvSpPr/>
          <p:nvPr/>
        </p:nvSpPr>
        <p:spPr>
          <a:xfrm>
            <a:off x="6400800" y="1645920"/>
            <a:ext cx="5212080" cy="393192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3a-mgmt-circle"/>
          <p:cNvSpPr/>
          <p:nvPr/>
        </p:nvSpPr>
        <p:spPr>
          <a:xfrm>
            <a:off x="6675120" y="18745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p3a-mgmt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5762" y="1985162"/>
            <a:ext cx="281635" cy="281635"/>
          </a:xfrm>
          <a:prstGeom prst="rect">
            <a:avLst/>
          </a:prstGeom>
        </p:spPr>
      </p:pic>
      <p:sp>
        <p:nvSpPr>
          <p:cNvPr id="21" name="p3a-mgmt-title"/>
          <p:cNvSpPr txBox="1"/>
          <p:nvPr/>
        </p:nvSpPr>
        <p:spPr>
          <a:xfrm>
            <a:off x="7315200" y="19202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Data Management</a:t>
            </a:r>
            <a:endParaRPr lang="en-US" sz="2000" dirty="0"/>
          </a:p>
        </p:txBody>
      </p:sp>
      <p:sp>
        <p:nvSpPr>
          <p:cNvPr id="22" name="p3a-mgmt-lead"/>
          <p:cNvSpPr txBox="1"/>
          <p:nvPr/>
        </p:nvSpPr>
        <p:spPr>
          <a:xfrm>
            <a:off x="6675120" y="25603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Không dùng database nặng: ghi sự kiện nối tiếp (event stream) vào một file JSON Lines</a:t>
            </a:r>
            <a:endParaRPr lang="en-US" sz="1400" dirty="0"/>
          </a:p>
        </p:txBody>
      </p:sp>
      <p:sp>
        <p:nvSpPr>
          <p:cNvPr id="23" name="p3a-file"/>
          <p:cNvSpPr/>
          <p:nvPr/>
        </p:nvSpPr>
        <p:spPr>
          <a:xfrm>
            <a:off x="6675120" y="3291840"/>
            <a:ext cx="466344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p3a-file-text"/>
          <p:cNvSpPr txBox="1"/>
          <p:nvPr/>
        </p:nvSpPr>
        <p:spPr>
          <a:xfrm>
            <a:off x="6812280" y="32918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orchid-history.jsonl</a:t>
            </a:r>
            <a:endParaRPr lang="en-US" sz="1400" dirty="0"/>
          </a:p>
        </p:txBody>
      </p:sp>
      <p:sp>
        <p:nvSpPr>
          <p:cNvPr id="25" name="p3a-mgmt-body"/>
          <p:cNvSpPr txBox="1"/>
          <p:nvPr/>
        </p:nvSpPr>
        <p:spPr>
          <a:xfrm>
            <a:off x="6675120" y="393192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Mỗi dòng một sự kiện: thời gian, request_id, người bấm, kết quả ACK, độ trễ (ms)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Sự kiện an toàn: lỗi cảm biến, cạn nước, mất kết nối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Là nguồn dữ liệu đối chiếu khi nghiệm thu M4 (log lệnh, độ trễ)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3: Web Server App – Điều khiển và tự động hóa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Giao diện điều khiển có khóa an toàn, phân quyền, luật tự động và cảnh báo</a:t>
            </a:r>
            <a:endParaRPr lang="en-US" sz="1600" dirty="0"/>
          </a:p>
        </p:txBody>
      </p:sp>
      <p:sp>
        <p:nvSpPr>
          <p:cNvPr id="4" name="p3b-ctrl-circle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p3b-ctrl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282" y="1756562"/>
            <a:ext cx="281635" cy="281635"/>
          </a:xfrm>
          <a:prstGeom prst="rect">
            <a:avLst/>
          </a:prstGeom>
        </p:spPr>
      </p:pic>
      <p:sp>
        <p:nvSpPr>
          <p:cNvPr id="6" name="p3b-ctrl-title"/>
          <p:cNvSpPr txBox="1"/>
          <p:nvPr/>
        </p:nvSpPr>
        <p:spPr>
          <a:xfrm>
            <a:off x="118872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Control GUI &amp; Security</a:t>
            </a:r>
            <a:endParaRPr lang="en-US" sz="2000" dirty="0"/>
          </a:p>
        </p:txBody>
      </p:sp>
      <p:sp>
        <p:nvSpPr>
          <p:cNvPr id="7" name="p3b-ctrl-body"/>
          <p:cNvSpPr txBox="1"/>
          <p:nvPr/>
        </p:nvSpPr>
        <p:spPr>
          <a:xfrm>
            <a:off x="548640" y="2286000"/>
            <a:ext cx="5486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AUTO (theo luật) / MANUAL (lệnh tay có hạn 1–60 phút)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Khóa mọi nút khi đang AUTO hoặc thiết bị không ONLINE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Khóa riêng Mist ON khi WATER_LOCKOUT, COOLDOWN hoặc SENSOR_FAULT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Khóa nút đang chờ ACK, mỗi relay chỉ một lệnh chờ</a:t>
            </a:r>
            <a:endParaRPr lang="en-US" sz="1500" dirty="0"/>
          </a:p>
        </p:txBody>
      </p:sp>
      <p:sp>
        <p:nvSpPr>
          <p:cNvPr id="8" name="p3b-roles-label"/>
          <p:cNvSpPr txBox="1"/>
          <p:nvPr/>
        </p:nvSpPr>
        <p:spPr>
          <a:xfrm>
            <a:off x="548640" y="4526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Phân quyền tài khoản</a:t>
            </a:r>
            <a:endParaRPr lang="en-US" sz="1300" dirty="0"/>
          </a:p>
        </p:txBody>
      </p:sp>
      <p:sp>
        <p:nvSpPr>
          <p:cNvPr id="9" name="p3b-role-admin"/>
          <p:cNvSpPr/>
          <p:nvPr/>
        </p:nvSpPr>
        <p:spPr>
          <a:xfrm>
            <a:off x="548640" y="4892040"/>
            <a:ext cx="16916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p3b-role-admin-text"/>
          <p:cNvSpPr txBox="1"/>
          <p:nvPr/>
        </p:nvSpPr>
        <p:spPr>
          <a:xfrm>
            <a:off x="685800" y="4983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admin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toàn quyền, sửa flow</a:t>
            </a:r>
            <a:endParaRPr lang="en-US" sz="1400" dirty="0"/>
          </a:p>
        </p:txBody>
      </p:sp>
      <p:sp>
        <p:nvSpPr>
          <p:cNvPr id="11" name="p3b-role-operator"/>
          <p:cNvSpPr/>
          <p:nvPr/>
        </p:nvSpPr>
        <p:spPr>
          <a:xfrm>
            <a:off x="2377440" y="4892040"/>
            <a:ext cx="16916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p3b-role-operator-text"/>
          <p:cNvSpPr txBox="1"/>
          <p:nvPr/>
        </p:nvSpPr>
        <p:spPr>
          <a:xfrm>
            <a:off x="2514600" y="4983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operator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vận hành, gửi lệnh</a:t>
            </a:r>
            <a:endParaRPr lang="en-US" sz="1400" dirty="0"/>
          </a:p>
        </p:txBody>
      </p:sp>
      <p:sp>
        <p:nvSpPr>
          <p:cNvPr id="13" name="p3b-role-viewer"/>
          <p:cNvSpPr/>
          <p:nvPr/>
        </p:nvSpPr>
        <p:spPr>
          <a:xfrm>
            <a:off x="4206240" y="4892040"/>
            <a:ext cx="16916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3b-role-viewer-text"/>
          <p:cNvSpPr txBox="1"/>
          <p:nvPr/>
        </p:nvSpPr>
        <p:spPr>
          <a:xfrm>
            <a:off x="4343400" y="4983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viewer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chỉ xem, bị chặn lệnh</a:t>
            </a:r>
            <a:endParaRPr lang="en-US" sz="1400" dirty="0"/>
          </a:p>
        </p:txBody>
      </p:sp>
      <p:sp>
        <p:nvSpPr>
          <p:cNvPr id="15" name="p3b-rule-circle"/>
          <p:cNvSpPr/>
          <p:nvPr/>
        </p:nvSpPr>
        <p:spPr>
          <a:xfrm>
            <a:off x="6400800" y="16459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p3b-rule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442" y="1756562"/>
            <a:ext cx="281635" cy="281635"/>
          </a:xfrm>
          <a:prstGeom prst="rect">
            <a:avLst/>
          </a:prstGeom>
        </p:spPr>
      </p:pic>
      <p:sp>
        <p:nvSpPr>
          <p:cNvPr id="17" name="p3b-rule-title"/>
          <p:cNvSpPr txBox="1"/>
          <p:nvPr/>
        </p:nvSpPr>
        <p:spPr>
          <a:xfrm>
            <a:off x="704088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Data Analysis &amp; Business Rules</a:t>
            </a:r>
            <a:endParaRPr lang="en-US" sz="2000" dirty="0"/>
          </a:p>
        </p:txBody>
      </p:sp>
      <p:sp>
        <p:nvSpPr>
          <p:cNvPr id="18" name="p3b-rule1"/>
          <p:cNvSpPr/>
          <p:nvPr/>
        </p:nvSpPr>
        <p:spPr>
          <a:xfrm>
            <a:off x="6400800" y="2331720"/>
            <a:ext cx="52120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3b-rule1-circle"/>
          <p:cNvSpPr/>
          <p:nvPr/>
        </p:nvSpPr>
        <p:spPr>
          <a:xfrm>
            <a:off x="6583680" y="26060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0" name="p3b-rule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4381" y="2726741"/>
            <a:ext cx="307238" cy="307238"/>
          </a:xfrm>
          <a:prstGeom prst="rect">
            <a:avLst/>
          </a:prstGeom>
        </p:spPr>
      </p:pic>
      <p:sp>
        <p:nvSpPr>
          <p:cNvPr id="21" name="p3b-rule1-text"/>
          <p:cNvSpPr txBox="1"/>
          <p:nvPr/>
        </p:nvSpPr>
        <p:spPr>
          <a:xfrm>
            <a:off x="7315200" y="2450592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Rule 1 – Đèn theo chu kỳ sinh học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Bật trong 06:00–21:00 khi trời tối (light_adc &gt; 2200), tắt khi đủ sáng; không bật ban đêm, tối đa 240 phút/ngày</a:t>
            </a:r>
            <a:endParaRPr lang="en-US" sz="1400" dirty="0"/>
          </a:p>
        </p:txBody>
      </p:sp>
      <p:sp>
        <p:nvSpPr>
          <p:cNvPr id="22" name="p3b-rule2"/>
          <p:cNvSpPr/>
          <p:nvPr/>
        </p:nvSpPr>
        <p:spPr>
          <a:xfrm>
            <a:off x="6400800" y="3657600"/>
            <a:ext cx="52120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p3b-rule2-circle"/>
          <p:cNvSpPr/>
          <p:nvPr/>
        </p:nvSpPr>
        <p:spPr>
          <a:xfrm>
            <a:off x="6583680" y="3931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p3b-rule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4381" y="4052621"/>
            <a:ext cx="307238" cy="307238"/>
          </a:xfrm>
          <a:prstGeom prst="rect">
            <a:avLst/>
          </a:prstGeom>
        </p:spPr>
      </p:pic>
      <p:sp>
        <p:nvSpPr>
          <p:cNvPr id="25" name="p3b-rule2-text"/>
          <p:cNvSpPr txBox="1"/>
          <p:nvPr/>
        </p:nvSpPr>
        <p:spPr>
          <a:xfrm>
            <a:off x="7315200" y="3776472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Rule 2 – Quạt sau phun sương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Bơm vừa ngắt thì quạt chạy 60 s để hong ráo nước đọng trên lá, giảm nguy cơ thối nõn</a:t>
            </a:r>
            <a:endParaRPr lang="en-US" sz="1400" dirty="0"/>
          </a:p>
        </p:txBody>
      </p:sp>
      <p:sp>
        <p:nvSpPr>
          <p:cNvPr id="26" name="p3b-rule3"/>
          <p:cNvSpPr/>
          <p:nvPr/>
        </p:nvSpPr>
        <p:spPr>
          <a:xfrm>
            <a:off x="6400800" y="4983480"/>
            <a:ext cx="52120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p3b-rule3-circle"/>
          <p:cNvSpPr/>
          <p:nvPr/>
        </p:nvSpPr>
        <p:spPr>
          <a:xfrm>
            <a:off x="6583680" y="52578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8" name="p3b-rule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4381" y="5378501"/>
            <a:ext cx="307238" cy="307238"/>
          </a:xfrm>
          <a:prstGeom prst="rect">
            <a:avLst/>
          </a:prstGeom>
        </p:spPr>
      </p:pic>
      <p:sp>
        <p:nvSpPr>
          <p:cNvPr id="29" name="p3b-rule3-text"/>
          <p:cNvSpPr txBox="1"/>
          <p:nvPr/>
        </p:nvSpPr>
        <p:spPr>
          <a:xfrm>
            <a:off x="7315200" y="5102352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Cảnh báo Telegram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Gửi vào nhóm chat khi cạn nước hoặc mất kết nối quá 5 phút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rchid Garden">
  <a:themeElements>
    <a:clrScheme name="Orchid Garden">
      <a:dk1>
        <a:srgbClr val="1C2B22"/>
      </a:dk1>
      <a:lt1>
        <a:srgbClr val="FFFFFF"/>
      </a:lt1>
      <a:dk2>
        <a:srgbClr val="17402C"/>
      </a:dk2>
      <a:lt2>
        <a:srgbClr val="EEF4EF"/>
      </a:lt2>
      <a:accent1>
        <a:srgbClr val="2E7D4F"/>
      </a:accent1>
      <a:accent2>
        <a:srgbClr val="B5367A"/>
      </a:accent2>
      <a:accent3>
        <a:srgbClr val="D98E04"/>
      </a:accent3>
      <a:accent4>
        <a:srgbClr val="C0392B"/>
      </a:accent4>
      <a:accent5>
        <a:srgbClr val="5B7F6B"/>
      </a:accent5>
      <a:accent6>
        <a:srgbClr val="8FBF9F"/>
      </a:accent6>
      <a:hlink>
        <a:srgbClr val="2E7D4F"/>
      </a:hlink>
      <a:folHlink>
        <a:srgbClr val="5B7F6B"/>
      </a:folHlink>
    </a:clrScheme>
    <a:fontScheme name="Orchid Garde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Kiến trúc hệ thống vườn lan IoT</dc:title>
  <dc:subject>PptxGenJS Presentation</dc:subject>
  <dc:creator>Nhóm Orchid</dc:creator>
  <cp:lastModifiedBy>Nhóm Orchid</cp:lastModifiedBy>
  <cp:revision>1</cp:revision>
  <dcterms:created xsi:type="dcterms:W3CDTF">2026-10-23T16:04:48Z</dcterms:created>
  <dcterms:modified xsi:type="dcterms:W3CDTF">2026-10-23T16:04:48Z</dcterms:modified>
</cp:coreProperties>
</file>